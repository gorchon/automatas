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6"/>
  </p:notesMasterIdLst>
  <p:sldIdLst>
    <p:sldId id="256" r:id="rId2"/>
    <p:sldId id="257" r:id="rId3"/>
    <p:sldId id="258" r:id="rId4"/>
    <p:sldId id="259" r:id="rId5"/>
    <p:sldId id="262" r:id="rId6"/>
    <p:sldId id="263" r:id="rId7"/>
    <p:sldId id="264" r:id="rId8"/>
    <p:sldId id="265" r:id="rId9"/>
    <p:sldId id="266" r:id="rId10"/>
    <p:sldId id="267" r:id="rId11"/>
    <p:sldId id="268" r:id="rId12"/>
    <p:sldId id="269" r:id="rId13"/>
    <p:sldId id="270" r:id="rId14"/>
    <p:sldId id="271" r:id="rId15"/>
  </p:sldIdLst>
  <p:sldSz cx="9144000" cy="6858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51F9E2-E73A-6E4F-A8A9-014ED68804AD}" v="18" dt="2026-04-13T19:07:45.0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723"/>
    <p:restoredTop sz="96327"/>
  </p:normalViewPr>
  <p:slideViewPr>
    <p:cSldViewPr snapToGrid="0">
      <p:cViewPr varScale="1">
        <p:scale>
          <a:sx n="113" d="100"/>
          <a:sy n="113" d="100"/>
        </p:scale>
        <p:origin x="168" y="7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X"/>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5CAE35-33A0-A54A-BF03-D45769A20D16}" type="datetimeFigureOut">
              <a:rPr lang="en-MX" smtClean="0"/>
              <a:t>10/04/26</a:t>
            </a:fld>
            <a:endParaRPr lang="en-MX"/>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MX"/>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X"/>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15A4F4-AEB2-FC42-A953-BD7FDA0CDE83}" type="slidenum">
              <a:rPr lang="en-MX" smtClean="0"/>
              <a:t>‹#›</a:t>
            </a:fld>
            <a:endParaRPr lang="en-MX"/>
          </a:p>
        </p:txBody>
      </p:sp>
    </p:spTree>
    <p:extLst>
      <p:ext uri="{BB962C8B-B14F-4D97-AF65-F5344CB8AC3E}">
        <p14:creationId xmlns:p14="http://schemas.microsoft.com/office/powerpoint/2010/main" val="42800592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D3F68FD-2A71-094A-BB1C-7E5018EAC4C4}" type="datetime1">
              <a:rPr lang="en-US" smtClean="0"/>
              <a:t>4/10/26</a:t>
            </a:fld>
            <a:endParaRPr lang="en-MX"/>
          </a:p>
        </p:txBody>
      </p:sp>
      <p:sp>
        <p:nvSpPr>
          <p:cNvPr id="5" name="Footer Placeholder 4"/>
          <p:cNvSpPr>
            <a:spLocks noGrp="1"/>
          </p:cNvSpPr>
          <p:nvPr>
            <p:ph type="ftr" sz="quarter" idx="11"/>
          </p:nvPr>
        </p:nvSpPr>
        <p:spPr/>
        <p:txBody>
          <a:bodyPr/>
          <a:lstStyle/>
          <a:p>
            <a:endParaRPr lang="en-MX"/>
          </a:p>
        </p:txBody>
      </p:sp>
      <p:sp>
        <p:nvSpPr>
          <p:cNvPr id="6" name="Slide Number Placeholder 5"/>
          <p:cNvSpPr>
            <a:spLocks noGrp="1"/>
          </p:cNvSpPr>
          <p:nvPr>
            <p:ph type="sldNum" sz="quarter" idx="12"/>
          </p:nvPr>
        </p:nvSpPr>
        <p:spPr/>
        <p:txBody>
          <a:bodyPr/>
          <a:lstStyle/>
          <a:p>
            <a:fld id="{87BA9580-FE5B-E14E-B782-A387CF7F7228}" type="slidenum">
              <a:rPr lang="en-MX" smtClean="0"/>
              <a:t>‹#›</a:t>
            </a:fld>
            <a:endParaRPr lang="en-MX"/>
          </a:p>
        </p:txBody>
      </p:sp>
    </p:spTree>
    <p:extLst>
      <p:ext uri="{BB962C8B-B14F-4D97-AF65-F5344CB8AC3E}">
        <p14:creationId xmlns:p14="http://schemas.microsoft.com/office/powerpoint/2010/main" val="23159018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F5B0F1-2748-4B49-B075-5B2137EA72DE}" type="datetime1">
              <a:rPr lang="en-US" smtClean="0"/>
              <a:t>4/10/26</a:t>
            </a:fld>
            <a:endParaRPr lang="en-MX"/>
          </a:p>
        </p:txBody>
      </p:sp>
      <p:sp>
        <p:nvSpPr>
          <p:cNvPr id="5" name="Footer Placeholder 4"/>
          <p:cNvSpPr>
            <a:spLocks noGrp="1"/>
          </p:cNvSpPr>
          <p:nvPr>
            <p:ph type="ftr" sz="quarter" idx="11"/>
          </p:nvPr>
        </p:nvSpPr>
        <p:spPr/>
        <p:txBody>
          <a:bodyPr/>
          <a:lstStyle/>
          <a:p>
            <a:endParaRPr lang="en-MX"/>
          </a:p>
        </p:txBody>
      </p:sp>
      <p:sp>
        <p:nvSpPr>
          <p:cNvPr id="6" name="Slide Number Placeholder 5"/>
          <p:cNvSpPr>
            <a:spLocks noGrp="1"/>
          </p:cNvSpPr>
          <p:nvPr>
            <p:ph type="sldNum" sz="quarter" idx="12"/>
          </p:nvPr>
        </p:nvSpPr>
        <p:spPr/>
        <p:txBody>
          <a:bodyPr/>
          <a:lstStyle/>
          <a:p>
            <a:fld id="{87BA9580-FE5B-E14E-B782-A387CF7F7228}" type="slidenum">
              <a:rPr lang="en-MX" smtClean="0"/>
              <a:t>‹#›</a:t>
            </a:fld>
            <a:endParaRPr lang="en-MX"/>
          </a:p>
        </p:txBody>
      </p:sp>
    </p:spTree>
    <p:extLst>
      <p:ext uri="{BB962C8B-B14F-4D97-AF65-F5344CB8AC3E}">
        <p14:creationId xmlns:p14="http://schemas.microsoft.com/office/powerpoint/2010/main" val="4249906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81380CB-3650-1144-9A2E-2B215CEC5A0E}" type="datetime1">
              <a:rPr lang="en-US" smtClean="0"/>
              <a:t>4/10/26</a:t>
            </a:fld>
            <a:endParaRPr lang="en-MX"/>
          </a:p>
        </p:txBody>
      </p:sp>
      <p:sp>
        <p:nvSpPr>
          <p:cNvPr id="5" name="Footer Placeholder 4"/>
          <p:cNvSpPr>
            <a:spLocks noGrp="1"/>
          </p:cNvSpPr>
          <p:nvPr>
            <p:ph type="ftr" sz="quarter" idx="11"/>
          </p:nvPr>
        </p:nvSpPr>
        <p:spPr/>
        <p:txBody>
          <a:bodyPr/>
          <a:lstStyle/>
          <a:p>
            <a:endParaRPr lang="en-MX"/>
          </a:p>
        </p:txBody>
      </p:sp>
      <p:sp>
        <p:nvSpPr>
          <p:cNvPr id="6" name="Slide Number Placeholder 5"/>
          <p:cNvSpPr>
            <a:spLocks noGrp="1"/>
          </p:cNvSpPr>
          <p:nvPr>
            <p:ph type="sldNum" sz="quarter" idx="12"/>
          </p:nvPr>
        </p:nvSpPr>
        <p:spPr/>
        <p:txBody>
          <a:bodyPr/>
          <a:lstStyle/>
          <a:p>
            <a:fld id="{87BA9580-FE5B-E14E-B782-A387CF7F7228}" type="slidenum">
              <a:rPr lang="en-MX" smtClean="0"/>
              <a:t>‹#›</a:t>
            </a:fld>
            <a:endParaRPr lang="en-MX"/>
          </a:p>
        </p:txBody>
      </p:sp>
    </p:spTree>
    <p:extLst>
      <p:ext uri="{BB962C8B-B14F-4D97-AF65-F5344CB8AC3E}">
        <p14:creationId xmlns:p14="http://schemas.microsoft.com/office/powerpoint/2010/main" val="2497846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8F47340-EF0E-7E41-995A-342762F716EC}" type="datetime1">
              <a:rPr lang="en-US" smtClean="0"/>
              <a:t>4/10/26</a:t>
            </a:fld>
            <a:endParaRPr lang="en-MX"/>
          </a:p>
        </p:txBody>
      </p:sp>
      <p:sp>
        <p:nvSpPr>
          <p:cNvPr id="6" name="Footer Placeholder 5"/>
          <p:cNvSpPr>
            <a:spLocks noGrp="1"/>
          </p:cNvSpPr>
          <p:nvPr>
            <p:ph type="ftr" sz="quarter" idx="11"/>
          </p:nvPr>
        </p:nvSpPr>
        <p:spPr/>
        <p:txBody>
          <a:bodyPr/>
          <a:lstStyle/>
          <a:p>
            <a:endParaRPr lang="en-MX"/>
          </a:p>
        </p:txBody>
      </p:sp>
      <p:sp>
        <p:nvSpPr>
          <p:cNvPr id="7" name="Slide Number Placeholder 6"/>
          <p:cNvSpPr>
            <a:spLocks noGrp="1"/>
          </p:cNvSpPr>
          <p:nvPr>
            <p:ph type="sldNum" sz="quarter" idx="12"/>
          </p:nvPr>
        </p:nvSpPr>
        <p:spPr/>
        <p:txBody>
          <a:bodyPr/>
          <a:lstStyle/>
          <a:p>
            <a:fld id="{87BA9580-FE5B-E14E-B782-A387CF7F7228}" type="slidenum">
              <a:rPr lang="en-MX" smtClean="0"/>
              <a:t>‹#›</a:t>
            </a:fld>
            <a:endParaRPr lang="en-MX"/>
          </a:p>
        </p:txBody>
      </p:sp>
    </p:spTree>
    <p:extLst>
      <p:ext uri="{BB962C8B-B14F-4D97-AF65-F5344CB8AC3E}">
        <p14:creationId xmlns:p14="http://schemas.microsoft.com/office/powerpoint/2010/main" val="2215873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177B255-0730-E740-BDD6-CFD534394561}" type="datetime1">
              <a:rPr lang="en-US" smtClean="0"/>
              <a:t>4/10/26</a:t>
            </a:fld>
            <a:endParaRPr lang="en-MX"/>
          </a:p>
        </p:txBody>
      </p:sp>
      <p:sp>
        <p:nvSpPr>
          <p:cNvPr id="8" name="Footer Placeholder 7"/>
          <p:cNvSpPr>
            <a:spLocks noGrp="1"/>
          </p:cNvSpPr>
          <p:nvPr>
            <p:ph type="ftr" sz="quarter" idx="11"/>
          </p:nvPr>
        </p:nvSpPr>
        <p:spPr/>
        <p:txBody>
          <a:bodyPr/>
          <a:lstStyle/>
          <a:p>
            <a:endParaRPr lang="en-MX"/>
          </a:p>
        </p:txBody>
      </p:sp>
      <p:sp>
        <p:nvSpPr>
          <p:cNvPr id="9" name="Slide Number Placeholder 8"/>
          <p:cNvSpPr>
            <a:spLocks noGrp="1"/>
          </p:cNvSpPr>
          <p:nvPr>
            <p:ph type="sldNum" sz="quarter" idx="12"/>
          </p:nvPr>
        </p:nvSpPr>
        <p:spPr/>
        <p:txBody>
          <a:bodyPr/>
          <a:lstStyle/>
          <a:p>
            <a:fld id="{87BA9580-FE5B-E14E-B782-A387CF7F7228}" type="slidenum">
              <a:rPr lang="en-MX" smtClean="0"/>
              <a:t>‹#›</a:t>
            </a:fld>
            <a:endParaRPr lang="en-MX"/>
          </a:p>
        </p:txBody>
      </p:sp>
    </p:spTree>
    <p:extLst>
      <p:ext uri="{BB962C8B-B14F-4D97-AF65-F5344CB8AC3E}">
        <p14:creationId xmlns:p14="http://schemas.microsoft.com/office/powerpoint/2010/main" val="194662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607F539-5BE8-9E45-874D-EA92A27B8946}" type="datetime1">
              <a:rPr lang="en-US" smtClean="0"/>
              <a:t>4/10/26</a:t>
            </a:fld>
            <a:endParaRPr lang="en-MX"/>
          </a:p>
        </p:txBody>
      </p:sp>
      <p:sp>
        <p:nvSpPr>
          <p:cNvPr id="4" name="Footer Placeholder 3"/>
          <p:cNvSpPr>
            <a:spLocks noGrp="1"/>
          </p:cNvSpPr>
          <p:nvPr>
            <p:ph type="ftr" sz="quarter" idx="11"/>
          </p:nvPr>
        </p:nvSpPr>
        <p:spPr/>
        <p:txBody>
          <a:bodyPr/>
          <a:lstStyle/>
          <a:p>
            <a:endParaRPr lang="en-MX"/>
          </a:p>
        </p:txBody>
      </p:sp>
      <p:sp>
        <p:nvSpPr>
          <p:cNvPr id="5" name="Slide Number Placeholder 4"/>
          <p:cNvSpPr>
            <a:spLocks noGrp="1"/>
          </p:cNvSpPr>
          <p:nvPr>
            <p:ph type="sldNum" sz="quarter" idx="12"/>
          </p:nvPr>
        </p:nvSpPr>
        <p:spPr/>
        <p:txBody>
          <a:bodyPr/>
          <a:lstStyle/>
          <a:p>
            <a:fld id="{87BA9580-FE5B-E14E-B782-A387CF7F7228}" type="slidenum">
              <a:rPr lang="en-MX" smtClean="0"/>
              <a:t>‹#›</a:t>
            </a:fld>
            <a:endParaRPr lang="en-MX"/>
          </a:p>
        </p:txBody>
      </p:sp>
    </p:spTree>
    <p:extLst>
      <p:ext uri="{BB962C8B-B14F-4D97-AF65-F5344CB8AC3E}">
        <p14:creationId xmlns:p14="http://schemas.microsoft.com/office/powerpoint/2010/main" val="57055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C633AE-277A-D640-8705-388FC70CBD11}" type="datetime1">
              <a:rPr lang="en-US" smtClean="0"/>
              <a:t>4/10/26</a:t>
            </a:fld>
            <a:endParaRPr lang="en-MX"/>
          </a:p>
        </p:txBody>
      </p:sp>
      <p:sp>
        <p:nvSpPr>
          <p:cNvPr id="3" name="Footer Placeholder 2"/>
          <p:cNvSpPr>
            <a:spLocks noGrp="1"/>
          </p:cNvSpPr>
          <p:nvPr>
            <p:ph type="ftr" sz="quarter" idx="11"/>
          </p:nvPr>
        </p:nvSpPr>
        <p:spPr/>
        <p:txBody>
          <a:bodyPr/>
          <a:lstStyle/>
          <a:p>
            <a:endParaRPr lang="en-MX"/>
          </a:p>
        </p:txBody>
      </p:sp>
      <p:sp>
        <p:nvSpPr>
          <p:cNvPr id="4" name="Slide Number Placeholder 3"/>
          <p:cNvSpPr>
            <a:spLocks noGrp="1"/>
          </p:cNvSpPr>
          <p:nvPr>
            <p:ph type="sldNum" sz="quarter" idx="12"/>
          </p:nvPr>
        </p:nvSpPr>
        <p:spPr/>
        <p:txBody>
          <a:bodyPr/>
          <a:lstStyle/>
          <a:p>
            <a:fld id="{87BA9580-FE5B-E14E-B782-A387CF7F7228}" type="slidenum">
              <a:rPr lang="en-MX" smtClean="0"/>
              <a:t>‹#›</a:t>
            </a:fld>
            <a:endParaRPr lang="en-MX"/>
          </a:p>
        </p:txBody>
      </p:sp>
    </p:spTree>
    <p:extLst>
      <p:ext uri="{BB962C8B-B14F-4D97-AF65-F5344CB8AC3E}">
        <p14:creationId xmlns:p14="http://schemas.microsoft.com/office/powerpoint/2010/main" val="2512913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5662F51-75D5-1748-9C36-2E08F0540319}" type="datetime1">
              <a:rPr lang="en-US" smtClean="0"/>
              <a:t>4/10/26</a:t>
            </a:fld>
            <a:endParaRPr lang="en-MX"/>
          </a:p>
        </p:txBody>
      </p:sp>
      <p:sp>
        <p:nvSpPr>
          <p:cNvPr id="6" name="Footer Placeholder 5"/>
          <p:cNvSpPr>
            <a:spLocks noGrp="1"/>
          </p:cNvSpPr>
          <p:nvPr>
            <p:ph type="ftr" sz="quarter" idx="11"/>
          </p:nvPr>
        </p:nvSpPr>
        <p:spPr/>
        <p:txBody>
          <a:bodyPr/>
          <a:lstStyle/>
          <a:p>
            <a:endParaRPr lang="en-MX"/>
          </a:p>
        </p:txBody>
      </p:sp>
      <p:sp>
        <p:nvSpPr>
          <p:cNvPr id="7" name="Slide Number Placeholder 6"/>
          <p:cNvSpPr>
            <a:spLocks noGrp="1"/>
          </p:cNvSpPr>
          <p:nvPr>
            <p:ph type="sldNum" sz="quarter" idx="12"/>
          </p:nvPr>
        </p:nvSpPr>
        <p:spPr/>
        <p:txBody>
          <a:bodyPr/>
          <a:lstStyle/>
          <a:p>
            <a:fld id="{87BA9580-FE5B-E14E-B782-A387CF7F7228}" type="slidenum">
              <a:rPr lang="en-MX" smtClean="0"/>
              <a:t>‹#›</a:t>
            </a:fld>
            <a:endParaRPr lang="en-MX"/>
          </a:p>
        </p:txBody>
      </p:sp>
    </p:spTree>
    <p:extLst>
      <p:ext uri="{BB962C8B-B14F-4D97-AF65-F5344CB8AC3E}">
        <p14:creationId xmlns:p14="http://schemas.microsoft.com/office/powerpoint/2010/main" val="9468823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30BF9D5-A3CD-454A-9F3F-B15E5807E338}" type="datetime1">
              <a:rPr lang="en-US" smtClean="0"/>
              <a:t>4/10/26</a:t>
            </a:fld>
            <a:endParaRPr lang="en-MX"/>
          </a:p>
        </p:txBody>
      </p:sp>
      <p:sp>
        <p:nvSpPr>
          <p:cNvPr id="6" name="Footer Placeholder 5"/>
          <p:cNvSpPr>
            <a:spLocks noGrp="1"/>
          </p:cNvSpPr>
          <p:nvPr>
            <p:ph type="ftr" sz="quarter" idx="11"/>
          </p:nvPr>
        </p:nvSpPr>
        <p:spPr/>
        <p:txBody>
          <a:bodyPr/>
          <a:lstStyle/>
          <a:p>
            <a:endParaRPr lang="en-MX"/>
          </a:p>
        </p:txBody>
      </p:sp>
      <p:sp>
        <p:nvSpPr>
          <p:cNvPr id="7" name="Slide Number Placeholder 6"/>
          <p:cNvSpPr>
            <a:spLocks noGrp="1"/>
          </p:cNvSpPr>
          <p:nvPr>
            <p:ph type="sldNum" sz="quarter" idx="12"/>
          </p:nvPr>
        </p:nvSpPr>
        <p:spPr/>
        <p:txBody>
          <a:bodyPr/>
          <a:lstStyle/>
          <a:p>
            <a:fld id="{87BA9580-FE5B-E14E-B782-A387CF7F7228}" type="slidenum">
              <a:rPr lang="en-MX" smtClean="0"/>
              <a:t>‹#›</a:t>
            </a:fld>
            <a:endParaRPr lang="en-MX"/>
          </a:p>
        </p:txBody>
      </p:sp>
    </p:spTree>
    <p:extLst>
      <p:ext uri="{BB962C8B-B14F-4D97-AF65-F5344CB8AC3E}">
        <p14:creationId xmlns:p14="http://schemas.microsoft.com/office/powerpoint/2010/main" val="1945381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56F59D-7BEF-874E-A18A-5772D7EFF9D2}" type="datetime1">
              <a:rPr lang="en-US" smtClean="0"/>
              <a:t>4/10/26</a:t>
            </a:fld>
            <a:endParaRPr lang="en-MX"/>
          </a:p>
        </p:txBody>
      </p:sp>
      <p:sp>
        <p:nvSpPr>
          <p:cNvPr id="5" name="Footer Placeholder 4"/>
          <p:cNvSpPr>
            <a:spLocks noGrp="1"/>
          </p:cNvSpPr>
          <p:nvPr>
            <p:ph type="ftr" sz="quarter" idx="11"/>
          </p:nvPr>
        </p:nvSpPr>
        <p:spPr/>
        <p:txBody>
          <a:bodyPr/>
          <a:lstStyle/>
          <a:p>
            <a:endParaRPr lang="en-MX"/>
          </a:p>
        </p:txBody>
      </p:sp>
      <p:sp>
        <p:nvSpPr>
          <p:cNvPr id="6" name="Slide Number Placeholder 5"/>
          <p:cNvSpPr>
            <a:spLocks noGrp="1"/>
          </p:cNvSpPr>
          <p:nvPr>
            <p:ph type="sldNum" sz="quarter" idx="12"/>
          </p:nvPr>
        </p:nvSpPr>
        <p:spPr/>
        <p:txBody>
          <a:bodyPr/>
          <a:lstStyle/>
          <a:p>
            <a:fld id="{87BA9580-FE5B-E14E-B782-A387CF7F7228}" type="slidenum">
              <a:rPr lang="en-MX" smtClean="0"/>
              <a:t>‹#›</a:t>
            </a:fld>
            <a:endParaRPr lang="en-MX"/>
          </a:p>
        </p:txBody>
      </p:sp>
    </p:spTree>
    <p:extLst>
      <p:ext uri="{BB962C8B-B14F-4D97-AF65-F5344CB8AC3E}">
        <p14:creationId xmlns:p14="http://schemas.microsoft.com/office/powerpoint/2010/main" val="1025338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7F907B-CAE7-924C-B883-56AF2C5577DC}" type="datetime1">
              <a:rPr lang="en-US" smtClean="0"/>
              <a:t>4/10/26</a:t>
            </a:fld>
            <a:endParaRPr lang="en-MX"/>
          </a:p>
        </p:txBody>
      </p:sp>
      <p:sp>
        <p:nvSpPr>
          <p:cNvPr id="5" name="Footer Placeholder 4"/>
          <p:cNvSpPr>
            <a:spLocks noGrp="1"/>
          </p:cNvSpPr>
          <p:nvPr>
            <p:ph type="ftr" sz="quarter" idx="11"/>
          </p:nvPr>
        </p:nvSpPr>
        <p:spPr/>
        <p:txBody>
          <a:bodyPr/>
          <a:lstStyle/>
          <a:p>
            <a:endParaRPr lang="en-MX"/>
          </a:p>
        </p:txBody>
      </p:sp>
      <p:sp>
        <p:nvSpPr>
          <p:cNvPr id="6" name="Slide Number Placeholder 5"/>
          <p:cNvSpPr>
            <a:spLocks noGrp="1"/>
          </p:cNvSpPr>
          <p:nvPr>
            <p:ph type="sldNum" sz="quarter" idx="12"/>
          </p:nvPr>
        </p:nvSpPr>
        <p:spPr/>
        <p:txBody>
          <a:bodyPr/>
          <a:lstStyle/>
          <a:p>
            <a:fld id="{87BA9580-FE5B-E14E-B782-A387CF7F7228}" type="slidenum">
              <a:rPr lang="en-MX" smtClean="0"/>
              <a:t>‹#›</a:t>
            </a:fld>
            <a:endParaRPr lang="en-MX"/>
          </a:p>
        </p:txBody>
      </p:sp>
    </p:spTree>
    <p:extLst>
      <p:ext uri="{BB962C8B-B14F-4D97-AF65-F5344CB8AC3E}">
        <p14:creationId xmlns:p14="http://schemas.microsoft.com/office/powerpoint/2010/main" val="41064339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C7527E-E89D-9749-8AEC-F2DB3A0BFCD0}" type="datetime1">
              <a:rPr lang="en-US" smtClean="0"/>
              <a:t>4/10/26</a:t>
            </a:fld>
            <a:endParaRPr lang="en-MX"/>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MX"/>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BA9580-FE5B-E14E-B782-A387CF7F7228}" type="slidenum">
              <a:rPr lang="en-MX" smtClean="0"/>
              <a:t>‹#›</a:t>
            </a:fld>
            <a:endParaRPr lang="en-MX"/>
          </a:p>
        </p:txBody>
      </p:sp>
    </p:spTree>
    <p:extLst>
      <p:ext uri="{BB962C8B-B14F-4D97-AF65-F5344CB8AC3E}">
        <p14:creationId xmlns:p14="http://schemas.microsoft.com/office/powerpoint/2010/main" val="4418587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opensource.org/history"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ieeeauthorcenter.ieee.org/wp-content/uploads/IEEE-Reference-Guide.pdf" TargetMode="External"/><Relationship Id="rId2" Type="http://schemas.openxmlformats.org/officeDocument/2006/relationships/hyperlink" Target="http://libraryguides.vu.edu.au/ieeereferencing/home"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B99308C-C145-2403-0320-635DDA498004}"/>
              </a:ext>
            </a:extLst>
          </p:cNvPr>
          <p:cNvSpPr>
            <a:spLocks noGrp="1"/>
          </p:cNvSpPr>
          <p:nvPr>
            <p:ph type="sldNum" sz="quarter" idx="12"/>
          </p:nvPr>
        </p:nvSpPr>
        <p:spPr/>
        <p:txBody>
          <a:bodyPr/>
          <a:lstStyle/>
          <a:p>
            <a:fld id="{87BA9580-FE5B-E14E-B782-A387CF7F7228}" type="slidenum">
              <a:rPr lang="en-MX" smtClean="0"/>
              <a:t>1</a:t>
            </a:fld>
            <a:endParaRPr lang="en-MX"/>
          </a:p>
        </p:txBody>
      </p:sp>
      <p:sp>
        <p:nvSpPr>
          <p:cNvPr id="3" name="Title 1">
            <a:extLst>
              <a:ext uri="{FF2B5EF4-FFF2-40B4-BE49-F238E27FC236}">
                <a16:creationId xmlns:a16="http://schemas.microsoft.com/office/drawing/2014/main" id="{C89BF600-EFC9-CF55-36A7-5C2C8A02EC9F}"/>
              </a:ext>
            </a:extLst>
          </p:cNvPr>
          <p:cNvSpPr txBox="1">
            <a:spLocks/>
          </p:cNvSpPr>
          <p:nvPr/>
        </p:nvSpPr>
        <p:spPr>
          <a:xfrm>
            <a:off x="0" y="1063290"/>
            <a:ext cx="9144000" cy="406808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MX" sz="4000" b="1" dirty="0">
                <a:solidFill>
                  <a:schemeClr val="accent1">
                    <a:lumMod val="75000"/>
                  </a:schemeClr>
                </a:solidFill>
                <a:effectLst>
                  <a:outerShdw blurRad="101600" dist="76200" dir="2700000" algn="tl" rotWithShape="0">
                    <a:prstClr val="black">
                      <a:alpha val="40000"/>
                    </a:prstClr>
                  </a:outerShdw>
                </a:effectLst>
              </a:rPr>
              <a:t>TC3002B Computer Science Adavanced Applications Development</a:t>
            </a:r>
            <a:br>
              <a:rPr lang="en-MX" sz="4000" b="1" dirty="0">
                <a:effectLst>
                  <a:outerShdw blurRad="101600" dist="76200" dir="2700000" algn="tl" rotWithShape="0">
                    <a:prstClr val="black">
                      <a:alpha val="40000"/>
                    </a:prstClr>
                  </a:outerShdw>
                </a:effectLst>
              </a:rPr>
            </a:br>
            <a:r>
              <a:rPr lang="en-MX" sz="4000" b="1" dirty="0">
                <a:solidFill>
                  <a:schemeClr val="accent1">
                    <a:lumMod val="75000"/>
                  </a:schemeClr>
                </a:solidFill>
                <a:effectLst>
                  <a:outerShdw blurRad="101600" dist="76200" dir="2700000" algn="tl" rotWithShape="0">
                    <a:prstClr val="black">
                      <a:alpha val="40000"/>
                    </a:prstClr>
                  </a:outerShdw>
                </a:effectLst>
              </a:rPr>
              <a:t>Module #3: Compilers</a:t>
            </a:r>
            <a:br>
              <a:rPr lang="en-MX" b="1" dirty="0">
                <a:effectLst>
                  <a:outerShdw blurRad="101600" dist="76200" dir="2700000" algn="tl" rotWithShape="0">
                    <a:prstClr val="black">
                      <a:alpha val="40000"/>
                    </a:prstClr>
                  </a:outerShdw>
                </a:effectLst>
              </a:rPr>
            </a:br>
            <a:r>
              <a:rPr lang="en-MX" sz="5400" b="1" dirty="0">
                <a:effectLst>
                  <a:outerShdw blurRad="101600" dist="76200" dir="2700000" algn="tl" rotWithShape="0">
                    <a:prstClr val="black">
                      <a:alpha val="40000"/>
                    </a:prstClr>
                  </a:outerShdw>
                </a:effectLst>
              </a:rPr>
              <a:t>Step I</a:t>
            </a:r>
            <a:br>
              <a:rPr lang="en-MX" sz="5400" b="1" dirty="0">
                <a:effectLst>
                  <a:outerShdw blurRad="101600" dist="76200" dir="2700000" algn="tl" rotWithShape="0">
                    <a:prstClr val="black">
                      <a:alpha val="40000"/>
                    </a:prstClr>
                  </a:outerShdw>
                </a:effectLst>
              </a:rPr>
            </a:br>
            <a:r>
              <a:rPr lang="en-MX" sz="5400" b="1" dirty="0">
                <a:effectLst>
                  <a:outerShdw blurRad="101600" dist="76200" dir="2700000" algn="tl" rotWithShape="0">
                    <a:prstClr val="black">
                      <a:alpha val="40000"/>
                    </a:prstClr>
                  </a:outerShdw>
                </a:effectLst>
              </a:rPr>
              <a:t>Lexical Analysis Phase</a:t>
            </a:r>
          </a:p>
          <a:p>
            <a:r>
              <a:rPr lang="en-MX" sz="4800" b="1" dirty="0">
                <a:effectLst>
                  <a:outerShdw blurRad="101600" dist="76200" dir="2700000" algn="tl" rotWithShape="0">
                    <a:prstClr val="black">
                      <a:alpha val="40000"/>
                    </a:prstClr>
                  </a:outerShdw>
                </a:effectLst>
              </a:rPr>
              <a:t>(Triton GPU Kernel)</a:t>
            </a:r>
          </a:p>
        </p:txBody>
      </p:sp>
    </p:spTree>
    <p:extLst>
      <p:ext uri="{BB962C8B-B14F-4D97-AF65-F5344CB8AC3E}">
        <p14:creationId xmlns:p14="http://schemas.microsoft.com/office/powerpoint/2010/main" val="2378047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E2912-CBE4-69CB-F488-7D0F739567DC}"/>
              </a:ext>
            </a:extLst>
          </p:cNvPr>
          <p:cNvSpPr>
            <a:spLocks noGrp="1"/>
          </p:cNvSpPr>
          <p:nvPr>
            <p:ph type="title"/>
          </p:nvPr>
        </p:nvSpPr>
        <p:spPr>
          <a:xfrm>
            <a:off x="628650" y="204258"/>
            <a:ext cx="7886700" cy="315911"/>
          </a:xfrm>
        </p:spPr>
        <p:txBody>
          <a:bodyPr>
            <a:normAutofit fontScale="90000"/>
          </a:bodyPr>
          <a:lstStyle/>
          <a:p>
            <a:pPr algn="ctr"/>
            <a:r>
              <a:rPr lang="en-US" sz="1800" b="1" u="sng" dirty="0">
                <a:solidFill>
                  <a:srgbClr val="0000FF"/>
                </a:solidFill>
                <a:effectLst/>
                <a:latin typeface="Times New Roman" panose="02020603050405020304" pitchFamily="18" charset="0"/>
                <a:ea typeface="Times New Roman" panose="02020603050405020304" pitchFamily="18" charset="0"/>
              </a:rPr>
              <a:t>Compiler’s Project - Lexical Analysis Phase</a:t>
            </a:r>
            <a:endParaRPr lang="en-MX" dirty="0"/>
          </a:p>
        </p:txBody>
      </p:sp>
      <p:sp>
        <p:nvSpPr>
          <p:cNvPr id="3" name="Content Placeholder 2">
            <a:extLst>
              <a:ext uri="{FF2B5EF4-FFF2-40B4-BE49-F238E27FC236}">
                <a16:creationId xmlns:a16="http://schemas.microsoft.com/office/drawing/2014/main" id="{DB04895F-1F3A-C736-DEFE-E486B0D0B4C0}"/>
              </a:ext>
            </a:extLst>
          </p:cNvPr>
          <p:cNvSpPr>
            <a:spLocks noGrp="1"/>
          </p:cNvSpPr>
          <p:nvPr>
            <p:ph idx="1"/>
          </p:nvPr>
        </p:nvSpPr>
        <p:spPr>
          <a:xfrm>
            <a:off x="628650" y="736601"/>
            <a:ext cx="7886700" cy="2326196"/>
          </a:xfrm>
        </p:spPr>
        <p:txBody>
          <a:bodyPr>
            <a:normAutofit/>
          </a:bodyPr>
          <a:lstStyle/>
          <a:p>
            <a:pPr marL="342900" lvl="0" indent="-342900" algn="just">
              <a:buFont typeface="+mj-lt"/>
              <a:buAutoNum type="romanUcPeriod"/>
            </a:pPr>
            <a:r>
              <a:rPr lang="en-US" sz="2400" b="1" u="sng" dirty="0">
                <a:solidFill>
                  <a:srgbClr val="000000"/>
                </a:solidFill>
                <a:effectLst/>
                <a:latin typeface="Times"/>
                <a:ea typeface="Times New Roman" panose="02020603050405020304" pitchFamily="18" charset="0"/>
                <a:cs typeface="Times New Roman" panose="02020603050405020304" pitchFamily="18" charset="0"/>
              </a:rPr>
              <a:t>Introduction</a:t>
            </a:r>
            <a:endParaRPr lang="en-MX" sz="2400" dirty="0">
              <a:effectLst/>
              <a:latin typeface="Times"/>
              <a:ea typeface="Times New Roman" panose="02020603050405020304" pitchFamily="18" charset="0"/>
              <a:cs typeface="Times New Roman" panose="02020603050405020304" pitchFamily="18" charset="0"/>
            </a:endParaRPr>
          </a:p>
          <a:p>
            <a:pPr marL="0" indent="0" algn="just">
              <a:buNone/>
            </a:pPr>
            <a:r>
              <a:rPr lang="en-US" sz="1400" dirty="0">
                <a:effectLst/>
                <a:latin typeface="Times New Roman" panose="02020603050405020304" pitchFamily="18" charset="0"/>
                <a:ea typeface="Times New Roman" panose="02020603050405020304" pitchFamily="18" charset="0"/>
              </a:rPr>
              <a:t>     The evaluation of this challenge’s phase is constituted by two parts. The first part is the evaluation of the functioning software, whose weight is 50% of the total evaluation. The other 50% will be formed by the quality correctness of the written report. The evaluation metrics for each part are shown in the following sections. For the evaluation of the functionality of the software, there will be an individual one-to-one session with each student, in which an </a:t>
            </a:r>
            <a:r>
              <a:rPr lang="en-US" sz="1400" b="1" u="sng" dirty="0">
                <a:effectLst/>
                <a:latin typeface="Times New Roman" panose="02020603050405020304" pitchFamily="18" charset="0"/>
                <a:ea typeface="Times New Roman" panose="02020603050405020304" pitchFamily="18" charset="0"/>
              </a:rPr>
              <a:t>oral exam</a:t>
            </a:r>
            <a:r>
              <a:rPr lang="en-US" sz="1400" dirty="0">
                <a:effectLst/>
                <a:latin typeface="Times New Roman" panose="02020603050405020304" pitchFamily="18" charset="0"/>
                <a:ea typeface="Times New Roman" panose="02020603050405020304" pitchFamily="18" charset="0"/>
              </a:rPr>
              <a:t> will be applied to the student, and it will be applied as a </a:t>
            </a:r>
            <a:r>
              <a:rPr lang="en-US" sz="1400" b="1" u="sng" dirty="0">
                <a:effectLst/>
                <a:latin typeface="Times New Roman" panose="02020603050405020304" pitchFamily="18" charset="0"/>
                <a:ea typeface="Times New Roman" panose="02020603050405020304" pitchFamily="18" charset="0"/>
              </a:rPr>
              <a:t>multiplier</a:t>
            </a:r>
            <a:r>
              <a:rPr lang="en-US" sz="1400" dirty="0">
                <a:effectLst/>
                <a:latin typeface="Times New Roman" panose="02020603050405020304" pitchFamily="18" charset="0"/>
                <a:ea typeface="Times New Roman" panose="02020603050405020304" pitchFamily="18" charset="0"/>
              </a:rPr>
              <a:t> of the total evaluation grade.</a:t>
            </a:r>
          </a:p>
          <a:p>
            <a:pPr marL="0" indent="0" algn="just">
              <a:buNone/>
            </a:pPr>
            <a:endParaRPr lang="en-US" sz="200" dirty="0">
              <a:effectLst/>
              <a:latin typeface="Times New Roman" panose="02020603050405020304" pitchFamily="18" charset="0"/>
              <a:ea typeface="Times New Roman" panose="02020603050405020304" pitchFamily="18" charset="0"/>
            </a:endParaRPr>
          </a:p>
          <a:p>
            <a:pPr marL="0" indent="0" algn="just">
              <a:buNone/>
            </a:pPr>
            <a:r>
              <a:rPr lang="en-US" sz="1400" dirty="0">
                <a:latin typeface="Times New Roman" panose="02020603050405020304" pitchFamily="18" charset="0"/>
                <a:ea typeface="Times New Roman" panose="02020603050405020304" pitchFamily="18" charset="0"/>
              </a:rPr>
              <a:t>     </a:t>
            </a:r>
            <a:r>
              <a:rPr lang="en-US" sz="1400" dirty="0">
                <a:effectLst/>
                <a:latin typeface="Times New Roman" panose="02020603050405020304" pitchFamily="18" charset="0"/>
                <a:ea typeface="Times New Roman" panose="02020603050405020304" pitchFamily="18" charset="0"/>
              </a:rPr>
              <a:t>Table #1 provides a summary of how the evaluation is formed for the project. Specific evaluation metrics for each part of the evaluation are provided in the following pages of this document.</a:t>
            </a:r>
            <a:endParaRPr lang="en-MX" sz="1400" dirty="0">
              <a:effectLst/>
              <a:latin typeface="Times New Roman" panose="02020603050405020304" pitchFamily="18" charset="0"/>
              <a:ea typeface="Times New Roman" panose="02020603050405020304" pitchFamily="18" charset="0"/>
            </a:endParaRPr>
          </a:p>
          <a:p>
            <a:endParaRPr lang="en-MX" sz="2000" dirty="0"/>
          </a:p>
        </p:txBody>
      </p:sp>
      <p:sp>
        <p:nvSpPr>
          <p:cNvPr id="4" name="Content Placeholder 2">
            <a:extLst>
              <a:ext uri="{FF2B5EF4-FFF2-40B4-BE49-F238E27FC236}">
                <a16:creationId xmlns:a16="http://schemas.microsoft.com/office/drawing/2014/main" id="{7E7BB5E7-6E07-C6EF-5CA3-DD3D1543EBC7}"/>
              </a:ext>
            </a:extLst>
          </p:cNvPr>
          <p:cNvSpPr txBox="1">
            <a:spLocks/>
          </p:cNvSpPr>
          <p:nvPr/>
        </p:nvSpPr>
        <p:spPr>
          <a:xfrm>
            <a:off x="640370" y="5020244"/>
            <a:ext cx="7886700" cy="12191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400" dirty="0">
                <a:effectLst/>
                <a:latin typeface="Times New Roman" panose="02020603050405020304" pitchFamily="18" charset="0"/>
                <a:ea typeface="Times New Roman" panose="02020603050405020304" pitchFamily="18" charset="0"/>
              </a:rPr>
              <a:t>     The compiler’s lexical requirements for the challenge’s goal are described on Section II. The project’s outcomes, i.e., the scanner outputs, the report’s deliverables, and the implementation restrictions for the scanner software are presented on Section III. Section IV describes the Software evaluation </a:t>
            </a:r>
            <a:r>
              <a:rPr lang="en-US" sz="1400" dirty="0">
                <a:latin typeface="Times New Roman" panose="02020603050405020304" pitchFamily="18" charset="0"/>
                <a:ea typeface="Times New Roman" panose="02020603050405020304" pitchFamily="18" charset="0"/>
              </a:rPr>
              <a:t>metrics. </a:t>
            </a:r>
            <a:r>
              <a:rPr lang="en-US" sz="1400" dirty="0">
                <a:effectLst/>
                <a:latin typeface="Times New Roman" panose="02020603050405020304" pitchFamily="18" charset="0"/>
                <a:ea typeface="Times New Roman" panose="02020603050405020304" pitchFamily="18" charset="0"/>
              </a:rPr>
              <a:t>Section V describes the Oral Exam part of the evaluation as well as its components. Finally, Section VI presents the contents’s structure and evaluation metrics for the written report.</a:t>
            </a:r>
            <a:endParaRPr lang="en-MX" sz="2000" dirty="0"/>
          </a:p>
        </p:txBody>
      </p:sp>
      <p:graphicFrame>
        <p:nvGraphicFramePr>
          <p:cNvPr id="5" name="Table 4">
            <a:extLst>
              <a:ext uri="{FF2B5EF4-FFF2-40B4-BE49-F238E27FC236}">
                <a16:creationId xmlns:a16="http://schemas.microsoft.com/office/drawing/2014/main" id="{25BDE044-1CA2-7229-B870-6A6432C64429}"/>
              </a:ext>
            </a:extLst>
          </p:cNvPr>
          <p:cNvGraphicFramePr>
            <a:graphicFrameLocks noGrp="1"/>
          </p:cNvGraphicFramePr>
          <p:nvPr>
            <p:extLst>
              <p:ext uri="{D42A27DB-BD31-4B8C-83A1-F6EECF244321}">
                <p14:modId xmlns:p14="http://schemas.microsoft.com/office/powerpoint/2010/main" val="2076565540"/>
              </p:ext>
            </p:extLst>
          </p:nvPr>
        </p:nvGraphicFramePr>
        <p:xfrm>
          <a:off x="3176375" y="3429000"/>
          <a:ext cx="3281575" cy="1136015"/>
        </p:xfrm>
        <a:graphic>
          <a:graphicData uri="http://schemas.openxmlformats.org/drawingml/2006/table">
            <a:tbl>
              <a:tblPr firstRow="1" firstCol="1" bandRow="1" bandCol="1">
                <a:tableStyleId>{5C22544A-7EE6-4342-B048-85BDC9FD1C3A}</a:tableStyleId>
              </a:tblPr>
              <a:tblGrid>
                <a:gridCol w="1374239">
                  <a:extLst>
                    <a:ext uri="{9D8B030D-6E8A-4147-A177-3AD203B41FA5}">
                      <a16:colId xmlns:a16="http://schemas.microsoft.com/office/drawing/2014/main" val="3836657549"/>
                    </a:ext>
                  </a:extLst>
                </a:gridCol>
                <a:gridCol w="1907336">
                  <a:extLst>
                    <a:ext uri="{9D8B030D-6E8A-4147-A177-3AD203B41FA5}">
                      <a16:colId xmlns:a16="http://schemas.microsoft.com/office/drawing/2014/main" val="2774743860"/>
                    </a:ext>
                  </a:extLst>
                </a:gridCol>
              </a:tblGrid>
              <a:tr h="0">
                <a:tc>
                  <a:txBody>
                    <a:bodyPr/>
                    <a:lstStyle/>
                    <a:p>
                      <a:pPr algn="ctr"/>
                      <a:r>
                        <a:rPr lang="en-US" sz="1400" dirty="0">
                          <a:solidFill>
                            <a:schemeClr val="bg1"/>
                          </a:solidFill>
                          <a:effectLst/>
                          <a:latin typeface="Times New Roman" panose="02020603050405020304" pitchFamily="18" charset="0"/>
                          <a:cs typeface="Times New Roman" panose="02020603050405020304" pitchFamily="18" charset="0"/>
                        </a:rPr>
                        <a:t>Evaluation</a:t>
                      </a:r>
                      <a:endParaRPr lang="en-MX"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chemeClr val="tx1"/>
                    </a:solidFill>
                  </a:tcPr>
                </a:tc>
                <a:tc>
                  <a:txBody>
                    <a:bodyPr/>
                    <a:lstStyle/>
                    <a:p>
                      <a:pPr algn="ctr"/>
                      <a:r>
                        <a:rPr lang="en-US" sz="1400" b="1" dirty="0">
                          <a:solidFill>
                            <a:schemeClr val="bg1"/>
                          </a:solidFill>
                          <a:effectLst/>
                          <a:latin typeface="Times New Roman" panose="02020603050405020304" pitchFamily="18" charset="0"/>
                          <a:cs typeface="Times New Roman" panose="02020603050405020304" pitchFamily="18" charset="0"/>
                        </a:rPr>
                        <a:t>Weight</a:t>
                      </a:r>
                      <a:endParaRPr lang="en-MX" sz="14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chemeClr val="tx1"/>
                    </a:solidFill>
                  </a:tcPr>
                </a:tc>
                <a:extLst>
                  <a:ext uri="{0D108BD9-81ED-4DB2-BD59-A6C34878D82A}">
                    <a16:rowId xmlns:a16="http://schemas.microsoft.com/office/drawing/2014/main" val="1960978859"/>
                  </a:ext>
                </a:extLst>
              </a:tr>
              <a:tr h="0">
                <a:tc>
                  <a:txBody>
                    <a:bodyPr/>
                    <a:lstStyle/>
                    <a:p>
                      <a:pPr algn="r"/>
                      <a:r>
                        <a:rPr lang="en-US" sz="1400" dirty="0">
                          <a:effectLst/>
                          <a:latin typeface="Times New Roman" panose="02020603050405020304" pitchFamily="18" charset="0"/>
                          <a:cs typeface="Times New Roman" panose="02020603050405020304" pitchFamily="18" charset="0"/>
                        </a:rPr>
                        <a:t>Software</a:t>
                      </a:r>
                      <a:endParaRPr lang="en-MX"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US" sz="1400" dirty="0">
                          <a:effectLst/>
                          <a:latin typeface="Times New Roman" panose="02020603050405020304" pitchFamily="18" charset="0"/>
                          <a:cs typeface="Times New Roman" panose="02020603050405020304" pitchFamily="18" charset="0"/>
                        </a:rPr>
                        <a:t>50%</a:t>
                      </a:r>
                      <a:endParaRPr lang="en-MX"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47355108"/>
                  </a:ext>
                </a:extLst>
              </a:tr>
              <a:tr h="282575">
                <a:tc>
                  <a:txBody>
                    <a:bodyPr/>
                    <a:lstStyle/>
                    <a:p>
                      <a:pPr algn="r"/>
                      <a:r>
                        <a:rPr lang="en-US" sz="1400" dirty="0">
                          <a:effectLst/>
                          <a:latin typeface="Times New Roman" panose="02020603050405020304" pitchFamily="18" charset="0"/>
                          <a:cs typeface="Times New Roman" panose="02020603050405020304" pitchFamily="18" charset="0"/>
                        </a:rPr>
                        <a:t>Written Report</a:t>
                      </a:r>
                      <a:endParaRPr lang="en-MX"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US" sz="1400" dirty="0">
                          <a:effectLst/>
                          <a:latin typeface="Times New Roman" panose="02020603050405020304" pitchFamily="18" charset="0"/>
                          <a:cs typeface="Times New Roman" panose="02020603050405020304" pitchFamily="18" charset="0"/>
                        </a:rPr>
                        <a:t>50%</a:t>
                      </a:r>
                      <a:endParaRPr lang="en-MX"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87922401"/>
                  </a:ext>
                </a:extLst>
              </a:tr>
              <a:tr h="0">
                <a:tc>
                  <a:txBody>
                    <a:bodyPr/>
                    <a:lstStyle/>
                    <a:p>
                      <a:pPr algn="r"/>
                      <a:r>
                        <a:rPr lang="en-US" sz="1400" dirty="0">
                          <a:effectLst/>
                          <a:latin typeface="Times New Roman" panose="02020603050405020304" pitchFamily="18" charset="0"/>
                          <a:cs typeface="Times New Roman" panose="02020603050405020304" pitchFamily="18" charset="0"/>
                        </a:rPr>
                        <a:t>Oral Exam</a:t>
                      </a:r>
                      <a:endParaRPr lang="en-MX"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US" sz="1400" dirty="0">
                          <a:effectLst/>
                          <a:latin typeface="Times New Roman" panose="02020603050405020304" pitchFamily="18" charset="0"/>
                          <a:cs typeface="Times New Roman" panose="02020603050405020304" pitchFamily="18" charset="0"/>
                        </a:rPr>
                        <a:t>x 100%</a:t>
                      </a:r>
                      <a:endParaRPr lang="en-MX"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22573817"/>
                  </a:ext>
                </a:extLst>
              </a:tr>
              <a:tr h="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Table #1: Evaluation Summary</a:t>
                      </a:r>
                      <a:endParaRPr lang="en-MX" sz="14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oFill/>
                  </a:tcPr>
                </a:tc>
                <a:tc hMerge="1">
                  <a:txBody>
                    <a:bodyPr/>
                    <a:lstStyle/>
                    <a:p>
                      <a:pPr algn="ctr"/>
                      <a:endParaRPr lang="en-MX" sz="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276872722"/>
                  </a:ext>
                </a:extLst>
              </a:tr>
            </a:tbl>
          </a:graphicData>
        </a:graphic>
      </p:graphicFrame>
      <p:sp>
        <p:nvSpPr>
          <p:cNvPr id="6" name="Slide Number Placeholder 5">
            <a:extLst>
              <a:ext uri="{FF2B5EF4-FFF2-40B4-BE49-F238E27FC236}">
                <a16:creationId xmlns:a16="http://schemas.microsoft.com/office/drawing/2014/main" id="{4CFD2CBA-0506-00E5-A0EA-063FA6191AC0}"/>
              </a:ext>
            </a:extLst>
          </p:cNvPr>
          <p:cNvSpPr>
            <a:spLocks noGrp="1"/>
          </p:cNvSpPr>
          <p:nvPr>
            <p:ph type="sldNum" sz="quarter" idx="12"/>
          </p:nvPr>
        </p:nvSpPr>
        <p:spPr/>
        <p:txBody>
          <a:bodyPr/>
          <a:lstStyle/>
          <a:p>
            <a:fld id="{87BA9580-FE5B-E14E-B782-A387CF7F7228}" type="slidenum">
              <a:rPr lang="en-MX" smtClean="0"/>
              <a:t>2</a:t>
            </a:fld>
            <a:endParaRPr lang="en-MX"/>
          </a:p>
        </p:txBody>
      </p:sp>
    </p:spTree>
    <p:extLst>
      <p:ext uri="{BB962C8B-B14F-4D97-AF65-F5344CB8AC3E}">
        <p14:creationId xmlns:p14="http://schemas.microsoft.com/office/powerpoint/2010/main" val="1851865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E2912-CBE4-69CB-F488-7D0F739567DC}"/>
              </a:ext>
            </a:extLst>
          </p:cNvPr>
          <p:cNvSpPr>
            <a:spLocks noGrp="1"/>
          </p:cNvSpPr>
          <p:nvPr>
            <p:ph type="title"/>
          </p:nvPr>
        </p:nvSpPr>
        <p:spPr>
          <a:xfrm>
            <a:off x="628650" y="204258"/>
            <a:ext cx="7886700" cy="315911"/>
          </a:xfrm>
        </p:spPr>
        <p:txBody>
          <a:bodyPr>
            <a:normAutofit fontScale="90000"/>
          </a:bodyPr>
          <a:lstStyle/>
          <a:p>
            <a:pPr algn="ctr"/>
            <a:r>
              <a:rPr lang="en-US" sz="1800" b="1" u="sng" kern="0" dirty="0">
                <a:solidFill>
                  <a:srgbClr val="FF0000"/>
                </a:solidFill>
                <a:latin typeface="Times New Roman" panose="02020603050405020304" pitchFamily="18" charset="0"/>
              </a:rPr>
              <a:t>CHALLENGE</a:t>
            </a:r>
            <a:r>
              <a:rPr lang="en-US" sz="1800" b="1" u="sng" kern="0" dirty="0">
                <a:solidFill>
                  <a:srgbClr val="FF0000"/>
                </a:solidFill>
                <a:effectLst/>
                <a:latin typeface="Times New Roman" panose="02020603050405020304" pitchFamily="18" charset="0"/>
              </a:rPr>
              <a:t>’S ACADEMIC INTEGRITY (CHEATING)</a:t>
            </a:r>
            <a:endParaRPr lang="en-MX" sz="1800" b="1" kern="0" dirty="0">
              <a:effectLst/>
              <a:latin typeface="Times New Roman" panose="02020603050405020304" pitchFamily="18" charset="0"/>
            </a:endParaRPr>
          </a:p>
        </p:txBody>
      </p:sp>
      <p:sp>
        <p:nvSpPr>
          <p:cNvPr id="3" name="Content Placeholder 2">
            <a:extLst>
              <a:ext uri="{FF2B5EF4-FFF2-40B4-BE49-F238E27FC236}">
                <a16:creationId xmlns:a16="http://schemas.microsoft.com/office/drawing/2014/main" id="{DB04895F-1F3A-C736-DEFE-E486B0D0B4C0}"/>
              </a:ext>
            </a:extLst>
          </p:cNvPr>
          <p:cNvSpPr>
            <a:spLocks noGrp="1"/>
          </p:cNvSpPr>
          <p:nvPr>
            <p:ph idx="1"/>
          </p:nvPr>
        </p:nvSpPr>
        <p:spPr>
          <a:xfrm>
            <a:off x="628650" y="736599"/>
            <a:ext cx="7886700" cy="4395023"/>
          </a:xfrm>
        </p:spPr>
        <p:txBody>
          <a:bodyPr>
            <a:noAutofit/>
          </a:bodyPr>
          <a:lstStyle/>
          <a:p>
            <a:pPr marL="0" indent="0" algn="just">
              <a:buNone/>
            </a:pPr>
            <a:r>
              <a:rPr lang="en-US" sz="1400" dirty="0">
                <a:effectLst/>
                <a:latin typeface="Times New Roman" panose="02020603050405020304" pitchFamily="18" charset="0"/>
                <a:ea typeface="Times New Roman" panose="02020603050405020304" pitchFamily="18" charset="0"/>
              </a:rPr>
              <a:t>All work involved in the construction of the challenge </a:t>
            </a:r>
            <a:r>
              <a:rPr lang="en-US" sz="1400" b="1" dirty="0">
                <a:solidFill>
                  <a:srgbClr val="FF0000"/>
                </a:solidFill>
                <a:effectLst/>
                <a:latin typeface="Times New Roman" panose="02020603050405020304" pitchFamily="18" charset="0"/>
                <a:ea typeface="Times New Roman" panose="02020603050405020304" pitchFamily="18" charset="0"/>
              </a:rPr>
              <a:t>MUST</a:t>
            </a:r>
            <a:r>
              <a:rPr lang="en-US" sz="1400" dirty="0">
                <a:effectLst/>
                <a:latin typeface="Times New Roman" panose="02020603050405020304" pitchFamily="18" charset="0"/>
                <a:ea typeface="Times New Roman" panose="02020603050405020304" pitchFamily="18" charset="0"/>
              </a:rPr>
              <a:t> be </a:t>
            </a:r>
            <a:r>
              <a:rPr lang="en-US" sz="1400" b="1" dirty="0">
                <a:solidFill>
                  <a:srgbClr val="FF0000"/>
                </a:solidFill>
                <a:effectLst/>
                <a:latin typeface="Times New Roman" panose="02020603050405020304" pitchFamily="18" charset="0"/>
                <a:ea typeface="Times New Roman" panose="02020603050405020304" pitchFamily="18" charset="0"/>
              </a:rPr>
              <a:t>ENTIRELY</a:t>
            </a:r>
            <a:r>
              <a:rPr lang="en-US" sz="1400" dirty="0">
                <a:effectLst/>
                <a:latin typeface="Times New Roman" panose="02020603050405020304" pitchFamily="18" charset="0"/>
                <a:ea typeface="Times New Roman" panose="02020603050405020304" pitchFamily="18" charset="0"/>
              </a:rPr>
              <a:t> </a:t>
            </a:r>
            <a:r>
              <a:rPr lang="en-US" sz="1400" b="1" dirty="0">
                <a:solidFill>
                  <a:srgbClr val="0432FF"/>
                </a:solidFill>
                <a:effectLst/>
                <a:latin typeface="Times New Roman" panose="02020603050405020304" pitchFamily="18" charset="0"/>
                <a:ea typeface="Times New Roman" panose="02020603050405020304" pitchFamily="18" charset="0"/>
              </a:rPr>
              <a:t>understood</a:t>
            </a:r>
            <a:r>
              <a:rPr lang="en-US" sz="1400" dirty="0">
                <a:effectLst/>
                <a:latin typeface="Times New Roman" panose="02020603050405020304" pitchFamily="18" charset="0"/>
                <a:ea typeface="Times New Roman" panose="02020603050405020304" pitchFamily="18" charset="0"/>
              </a:rPr>
              <a:t> by the </a:t>
            </a:r>
            <a:r>
              <a:rPr lang="en-US" sz="1400" b="1" i="1" u="sng" dirty="0">
                <a:effectLst>
                  <a:outerShdw blurRad="127000" dist="76200" dir="2700000" algn="tl" rotWithShape="0">
                    <a:prstClr val="black">
                      <a:alpha val="40000"/>
                    </a:prstClr>
                  </a:outerShdw>
                </a:effectLst>
                <a:latin typeface="Times New Roman" panose="02020603050405020304" pitchFamily="18" charset="0"/>
                <a:ea typeface="Times New Roman" panose="02020603050405020304" pitchFamily="18" charset="0"/>
              </a:rPr>
              <a:t>individual student</a:t>
            </a:r>
            <a:r>
              <a:rPr lang="en-US" sz="1400" dirty="0">
                <a:effectLst/>
                <a:latin typeface="Times New Roman" panose="02020603050405020304" pitchFamily="18" charset="0"/>
                <a:ea typeface="Times New Roman" panose="02020603050405020304" pitchFamily="18" charset="0"/>
              </a:rPr>
              <a:t>. The project </a:t>
            </a:r>
            <a:r>
              <a:rPr lang="en-US" sz="1400" b="1" dirty="0">
                <a:solidFill>
                  <a:srgbClr val="FF0000"/>
                </a:solidFill>
                <a:effectLst/>
                <a:latin typeface="Times New Roman" panose="02020603050405020304" pitchFamily="18" charset="0"/>
                <a:ea typeface="Times New Roman" panose="02020603050405020304" pitchFamily="18" charset="0"/>
              </a:rPr>
              <a:t>MUST</a:t>
            </a:r>
            <a:r>
              <a:rPr lang="en-US" sz="1400" dirty="0">
                <a:effectLst/>
                <a:latin typeface="Times New Roman" panose="02020603050405020304" pitchFamily="18" charset="0"/>
                <a:ea typeface="Times New Roman" panose="02020603050405020304" pitchFamily="18" charset="0"/>
              </a:rPr>
              <a:t> represent the student’s </a:t>
            </a:r>
            <a:r>
              <a:rPr lang="en-US" sz="1400" b="1" dirty="0">
                <a:solidFill>
                  <a:srgbClr val="0432FF"/>
                </a:solidFill>
                <a:effectLst/>
                <a:latin typeface="Times New Roman" panose="02020603050405020304" pitchFamily="18" charset="0"/>
                <a:ea typeface="Times New Roman" panose="02020603050405020304" pitchFamily="18" charset="0"/>
              </a:rPr>
              <a:t>INTELLECTUAL WORK</a:t>
            </a:r>
            <a:r>
              <a:rPr lang="en-US" sz="1400" dirty="0">
                <a:effectLst/>
                <a:latin typeface="Times New Roman" panose="02020603050405020304" pitchFamily="18" charset="0"/>
                <a:ea typeface="Times New Roman" panose="02020603050405020304" pitchFamily="18" charset="0"/>
              </a:rPr>
              <a:t>.</a:t>
            </a:r>
            <a:endParaRPr lang="en-MX" sz="1400" dirty="0">
              <a:effectLst/>
              <a:latin typeface="Times New Roman" panose="02020603050405020304" pitchFamily="18" charset="0"/>
              <a:ea typeface="Times New Roman" panose="02020603050405020304" pitchFamily="18" charset="0"/>
            </a:endParaRPr>
          </a:p>
          <a:p>
            <a:pPr marL="0" indent="0">
              <a:buNone/>
            </a:pPr>
            <a:r>
              <a:rPr lang="en-US" sz="1400" b="1" u="sng" dirty="0">
                <a:solidFill>
                  <a:srgbClr val="0432FF"/>
                </a:solidFill>
                <a:effectLst/>
                <a:latin typeface="Times New Roman" panose="02020603050405020304" pitchFamily="18" charset="0"/>
                <a:ea typeface="Times New Roman" panose="02020603050405020304" pitchFamily="18" charset="0"/>
              </a:rPr>
              <a:t>SOFTWARE REUSE</a:t>
            </a:r>
            <a:r>
              <a:rPr lang="en-US" sz="1400" dirty="0">
                <a:effectLst/>
                <a:latin typeface="Times New Roman" panose="02020603050405020304" pitchFamily="18" charset="0"/>
                <a:ea typeface="Times New Roman" panose="02020603050405020304" pitchFamily="18" charset="0"/>
              </a:rPr>
              <a:t>: It is a Software Engineering strategy in which the development process is strongly based on existing software components, libraries, applications or/and algorithms[1]. </a:t>
            </a:r>
            <a:endParaRPr lang="en-MX" sz="1400" dirty="0">
              <a:effectLst/>
              <a:latin typeface="Times New Roman" panose="02020603050405020304" pitchFamily="18" charset="0"/>
              <a:ea typeface="Times New Roman" panose="02020603050405020304" pitchFamily="18" charset="0"/>
            </a:endParaRPr>
          </a:p>
          <a:p>
            <a:pPr lvl="1" algn="just">
              <a:buFont typeface="System Font Regular"/>
              <a:buChar char="➜"/>
            </a:pPr>
            <a:r>
              <a:rPr lang="en-US" sz="1400" dirty="0">
                <a:effectLst/>
                <a:latin typeface="Times New Roman" panose="02020603050405020304" pitchFamily="18" charset="0"/>
                <a:ea typeface="Times New Roman" panose="02020603050405020304" pitchFamily="18" charset="0"/>
              </a:rPr>
              <a:t>The student is </a:t>
            </a:r>
            <a:r>
              <a:rPr lang="en-US" sz="1400" b="1" i="1" u="sng" dirty="0">
                <a:solidFill>
                  <a:srgbClr val="FF0000"/>
                </a:solidFill>
                <a:effectLst/>
                <a:latin typeface="Times New Roman" panose="02020603050405020304" pitchFamily="18" charset="0"/>
                <a:ea typeface="Times New Roman" panose="02020603050405020304" pitchFamily="18" charset="0"/>
              </a:rPr>
              <a:t>ONLY</a:t>
            </a:r>
            <a:r>
              <a:rPr lang="en-US" sz="1400" dirty="0">
                <a:effectLst/>
                <a:latin typeface="Times New Roman" panose="02020603050405020304" pitchFamily="18" charset="0"/>
                <a:ea typeface="Times New Roman" panose="02020603050405020304" pitchFamily="18" charset="0"/>
              </a:rPr>
              <a:t> allowed to reuse software that </a:t>
            </a:r>
            <a:r>
              <a:rPr lang="en-US" sz="1400" b="1" u="sng" dirty="0">
                <a:solidFill>
                  <a:srgbClr val="FF0000"/>
                </a:solidFill>
                <a:effectLst/>
                <a:latin typeface="Times New Roman" panose="02020603050405020304" pitchFamily="18" charset="0"/>
                <a:ea typeface="Times New Roman" panose="02020603050405020304" pitchFamily="18" charset="0"/>
              </a:rPr>
              <a:t>has been developed by the student him/her self on any activity of the TC-3048 Compiler Design course such as Lab Practices or Class Exercises</a:t>
            </a:r>
            <a:r>
              <a:rPr lang="en-US" sz="1400" dirty="0">
                <a:effectLst/>
                <a:latin typeface="Times New Roman" panose="02020603050405020304" pitchFamily="18" charset="0"/>
                <a:ea typeface="Times New Roman" panose="02020603050405020304" pitchFamily="18" charset="0"/>
              </a:rPr>
              <a:t>.</a:t>
            </a:r>
            <a:endParaRPr lang="en-MX" sz="1400" dirty="0">
              <a:effectLst/>
              <a:latin typeface="Times New Roman" panose="02020603050405020304" pitchFamily="18" charset="0"/>
              <a:ea typeface="Times New Roman" panose="02020603050405020304" pitchFamily="18" charset="0"/>
            </a:endParaRPr>
          </a:p>
          <a:p>
            <a:pPr marL="0" indent="0" algn="just">
              <a:buNone/>
            </a:pPr>
            <a:r>
              <a:rPr lang="en-US" sz="1400" b="1" u="sng" dirty="0">
                <a:solidFill>
                  <a:srgbClr val="0432FF"/>
                </a:solidFill>
                <a:effectLst/>
                <a:latin typeface="Times New Roman" panose="02020603050405020304" pitchFamily="18" charset="0"/>
                <a:ea typeface="Times New Roman" panose="02020603050405020304" pitchFamily="18" charset="0"/>
              </a:rPr>
              <a:t>OPEN-SOURCE SOFTWARE</a:t>
            </a:r>
            <a:r>
              <a:rPr lang="en-US" sz="1400" dirty="0">
                <a:effectLst/>
                <a:latin typeface="Times New Roman" panose="02020603050405020304" pitchFamily="18" charset="0"/>
                <a:ea typeface="Times New Roman" panose="02020603050405020304" pitchFamily="18" charset="0"/>
              </a:rPr>
              <a:t>: Software which code is available to the public for review, inspection, modification, enhance and use by anyone with interest and permission[2]. </a:t>
            </a:r>
            <a:endParaRPr lang="en-MX" sz="1400" dirty="0">
              <a:latin typeface="Times New Roman" panose="02020603050405020304" pitchFamily="18" charset="0"/>
              <a:ea typeface="Times New Roman" panose="02020603050405020304" pitchFamily="18" charset="0"/>
            </a:endParaRPr>
          </a:p>
          <a:p>
            <a:pPr lvl="1" algn="just">
              <a:buFont typeface="System Font Regular"/>
              <a:buChar char="➜"/>
            </a:pPr>
            <a:r>
              <a:rPr lang="en-US" sz="1400" dirty="0">
                <a:effectLst/>
                <a:latin typeface="Times New Roman" panose="02020603050405020304" pitchFamily="18" charset="0"/>
                <a:ea typeface="Times New Roman" panose="02020603050405020304" pitchFamily="18" charset="0"/>
              </a:rPr>
              <a:t>The student is </a:t>
            </a:r>
            <a:r>
              <a:rPr lang="en-US" sz="1400" b="1" u="sng" dirty="0">
                <a:solidFill>
                  <a:srgbClr val="FF0000"/>
                </a:solidFill>
                <a:effectLst/>
                <a:latin typeface="Times New Roman" panose="02020603050405020304" pitchFamily="18" charset="0"/>
                <a:ea typeface="Times New Roman" panose="02020603050405020304" pitchFamily="18" charset="0"/>
              </a:rPr>
              <a:t>STRICTLY FORBIDDEN</a:t>
            </a:r>
            <a:r>
              <a:rPr lang="en-US" sz="1400" dirty="0">
                <a:effectLst/>
                <a:latin typeface="Times New Roman" panose="02020603050405020304" pitchFamily="18" charset="0"/>
                <a:ea typeface="Times New Roman" panose="02020603050405020304" pitchFamily="18" charset="0"/>
              </a:rPr>
              <a:t> to use open-source software, code freely available from the internet, or any software part </a:t>
            </a:r>
            <a:r>
              <a:rPr lang="en-US" sz="1400" b="1" dirty="0">
                <a:solidFill>
                  <a:srgbClr val="FF0000"/>
                </a:solidFill>
                <a:effectLst/>
                <a:latin typeface="Times New Roman" panose="02020603050405020304" pitchFamily="18" charset="0"/>
                <a:ea typeface="Times New Roman" panose="02020603050405020304" pitchFamily="18" charset="0"/>
              </a:rPr>
              <a:t>NOT developed entirely</a:t>
            </a:r>
            <a:r>
              <a:rPr lang="en-US" sz="1400" dirty="0">
                <a:effectLst/>
                <a:latin typeface="Times New Roman" panose="02020603050405020304" pitchFamily="18" charset="0"/>
                <a:ea typeface="Times New Roman" panose="02020603050405020304" pitchFamily="18" charset="0"/>
              </a:rPr>
              <a:t> by the student.</a:t>
            </a:r>
            <a:endParaRPr lang="en-MX" sz="1400" dirty="0">
              <a:effectLst/>
              <a:latin typeface="Times New Roman" panose="02020603050405020304" pitchFamily="18" charset="0"/>
              <a:ea typeface="Times New Roman" panose="02020603050405020304" pitchFamily="18" charset="0"/>
            </a:endParaRPr>
          </a:p>
          <a:p>
            <a:pPr marL="0" indent="0" algn="just">
              <a:buNone/>
            </a:pPr>
            <a:r>
              <a:rPr lang="en-US" sz="1400" b="1" u="sng" dirty="0">
                <a:solidFill>
                  <a:srgbClr val="FF0000"/>
                </a:solidFill>
                <a:effectLst/>
                <a:latin typeface="Times New Roman" panose="02020603050405020304" pitchFamily="18" charset="0"/>
                <a:ea typeface="Times New Roman" panose="02020603050405020304" pitchFamily="18" charset="0"/>
              </a:rPr>
              <a:t>AI USAGE</a:t>
            </a:r>
            <a:r>
              <a:rPr lang="en-US" sz="1400" dirty="0">
                <a:effectLst/>
                <a:latin typeface="Times New Roman" panose="02020603050405020304" pitchFamily="18" charset="0"/>
                <a:ea typeface="Times New Roman" panose="02020603050405020304" pitchFamily="18" charset="0"/>
              </a:rPr>
              <a:t>, during the lectures, </a:t>
            </a:r>
            <a:r>
              <a:rPr lang="en-US" sz="1400" b="1" dirty="0">
                <a:solidFill>
                  <a:srgbClr val="FF0000"/>
                </a:solidFill>
                <a:effectLst/>
                <a:latin typeface="Times New Roman" panose="02020603050405020304" pitchFamily="18" charset="0"/>
                <a:ea typeface="Times New Roman" panose="02020603050405020304" pitchFamily="18" charset="0"/>
              </a:rPr>
              <a:t>you will receive all the required knowledge</a:t>
            </a:r>
            <a:r>
              <a:rPr lang="en-US" sz="1400" dirty="0">
                <a:effectLst/>
                <a:latin typeface="Times New Roman" panose="02020603050405020304" pitchFamily="18" charset="0"/>
                <a:ea typeface="Times New Roman" panose="02020603050405020304" pitchFamily="18" charset="0"/>
              </a:rPr>
              <a:t> to solve the compiler’s part of the challenge. Eventhough </a:t>
            </a:r>
            <a:r>
              <a:rPr lang="en-US" sz="1400" b="1" dirty="0">
                <a:solidFill>
                  <a:srgbClr val="FF0000"/>
                </a:solidFill>
                <a:effectLst/>
                <a:latin typeface="Times New Roman" panose="02020603050405020304" pitchFamily="18" charset="0"/>
                <a:ea typeface="Times New Roman" panose="02020603050405020304" pitchFamily="18" charset="0"/>
              </a:rPr>
              <a:t>you will not needed it</a:t>
            </a:r>
            <a:r>
              <a:rPr lang="en-US" sz="1400" dirty="0">
                <a:effectLst/>
                <a:latin typeface="Times New Roman" panose="02020603050405020304" pitchFamily="18" charset="0"/>
                <a:ea typeface="Times New Roman" panose="02020603050405020304" pitchFamily="18" charset="0"/>
              </a:rPr>
              <a:t>, you are allowed to consult AI. However, the AI will give you </a:t>
            </a:r>
            <a:r>
              <a:rPr lang="en-US" sz="1400" b="1" dirty="0">
                <a:solidFill>
                  <a:srgbClr val="FF0000"/>
                </a:solidFill>
                <a:effectLst/>
                <a:latin typeface="Times New Roman" panose="02020603050405020304" pitchFamily="18" charset="0"/>
                <a:ea typeface="Times New Roman" panose="02020603050405020304" pitchFamily="18" charset="0"/>
              </a:rPr>
              <a:t>code that is not 100% compatible with the course’s material</a:t>
            </a:r>
            <a:r>
              <a:rPr lang="en-US" sz="1400" dirty="0">
                <a:effectLst/>
                <a:latin typeface="Times New Roman" panose="02020603050405020304" pitchFamily="18" charset="0"/>
                <a:ea typeface="Times New Roman" panose="02020603050405020304" pitchFamily="18" charset="0"/>
              </a:rPr>
              <a:t>. Hence, you are </a:t>
            </a:r>
            <a:r>
              <a:rPr lang="en-US" sz="1400" b="1" dirty="0">
                <a:solidFill>
                  <a:srgbClr val="FF0000"/>
                </a:solidFill>
                <a:effectLst/>
                <a:latin typeface="Times New Roman" panose="02020603050405020304" pitchFamily="18" charset="0"/>
                <a:ea typeface="Times New Roman" panose="02020603050405020304" pitchFamily="18" charset="0"/>
              </a:rPr>
              <a:t>RESPONSIBLE to understand every single line of code you deliver and be able to answer any question regard it</a:t>
            </a:r>
            <a:r>
              <a:rPr lang="en-US" sz="1400" dirty="0">
                <a:effectLst/>
                <a:latin typeface="Times New Roman" panose="02020603050405020304" pitchFamily="18" charset="0"/>
                <a:ea typeface="Times New Roman" panose="02020603050405020304" pitchFamily="18" charset="0"/>
              </a:rPr>
              <a:t>.</a:t>
            </a:r>
          </a:p>
          <a:p>
            <a:pPr marL="0" indent="0" algn="just">
              <a:buNone/>
            </a:pPr>
            <a:r>
              <a:rPr lang="en-US" sz="1400" b="1" u="sng" dirty="0">
                <a:solidFill>
                  <a:srgbClr val="FF0000"/>
                </a:solidFill>
                <a:latin typeface="Times New Roman" panose="02020603050405020304" pitchFamily="18" charset="0"/>
                <a:ea typeface="Times New Roman" panose="02020603050405020304" pitchFamily="18" charset="0"/>
              </a:rPr>
              <a:t>BE AWARE</a:t>
            </a:r>
            <a:r>
              <a:rPr lang="en-US" sz="1400" dirty="0">
                <a:latin typeface="Times New Roman" panose="02020603050405020304" pitchFamily="18" charset="0"/>
                <a:ea typeface="Times New Roman" panose="02020603050405020304" pitchFamily="18" charset="0"/>
              </a:rPr>
              <a:t>, any violation to the restrictions, stablished in this document for the development of the Project’s software components, will be considered an act that attempts against the Institution’s Academic Integrity Regulation. Hence, the </a:t>
            </a:r>
            <a:r>
              <a:rPr lang="en-US" sz="1400" b="1" u="sng" dirty="0">
                <a:solidFill>
                  <a:srgbClr val="FF0000"/>
                </a:solidFill>
                <a:latin typeface="Times New Roman" panose="02020603050405020304" pitchFamily="18" charset="0"/>
                <a:ea typeface="Times New Roman" panose="02020603050405020304" pitchFamily="18" charset="0"/>
              </a:rPr>
              <a:t>student will be accountable</a:t>
            </a:r>
            <a:r>
              <a:rPr lang="en-US" sz="1400" dirty="0">
                <a:latin typeface="Times New Roman" panose="02020603050405020304" pitchFamily="18" charset="0"/>
                <a:ea typeface="Times New Roman" panose="02020603050405020304" pitchFamily="18" charset="0"/>
              </a:rPr>
              <a:t> and the corresponding measures and actions will be applied accordingly:</a:t>
            </a:r>
            <a:endParaRPr lang="en-MX" sz="1400" dirty="0">
              <a:latin typeface="Times New Roman" panose="02020603050405020304" pitchFamily="18" charset="0"/>
              <a:ea typeface="Times New Roman" panose="02020603050405020304" pitchFamily="18" charset="0"/>
            </a:endParaRPr>
          </a:p>
          <a:p>
            <a:pPr marL="0" indent="0" algn="just">
              <a:buNone/>
            </a:pPr>
            <a:endParaRPr lang="en-MX" sz="1400" dirty="0">
              <a:effectLst/>
              <a:latin typeface="Times New Roman" panose="02020603050405020304" pitchFamily="18" charset="0"/>
              <a:ea typeface="Times New Roman" panose="02020603050405020304" pitchFamily="18" charset="0"/>
            </a:endParaRPr>
          </a:p>
        </p:txBody>
      </p:sp>
      <p:sp>
        <p:nvSpPr>
          <p:cNvPr id="4" name="Content Placeholder 2">
            <a:extLst>
              <a:ext uri="{FF2B5EF4-FFF2-40B4-BE49-F238E27FC236}">
                <a16:creationId xmlns:a16="http://schemas.microsoft.com/office/drawing/2014/main" id="{7E7BB5E7-6E07-C6EF-5CA3-DD3D1543EBC7}"/>
              </a:ext>
            </a:extLst>
          </p:cNvPr>
          <p:cNvSpPr txBox="1">
            <a:spLocks/>
          </p:cNvSpPr>
          <p:nvPr/>
        </p:nvSpPr>
        <p:spPr>
          <a:xfrm>
            <a:off x="100042" y="6482367"/>
            <a:ext cx="8087994" cy="3248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spcBef>
                <a:spcPts val="0"/>
              </a:spcBef>
              <a:buFont typeface="+mj-lt"/>
              <a:buAutoNum type="arabicPeriod"/>
            </a:pPr>
            <a:r>
              <a:rPr lang="en-US" sz="800" dirty="0">
                <a:effectLst/>
                <a:latin typeface="Times New Roman" panose="02020603050405020304" pitchFamily="18" charset="0"/>
                <a:ea typeface="Times New Roman" panose="02020603050405020304" pitchFamily="18" charset="0"/>
              </a:rPr>
              <a:t>Ian Sommerville, </a:t>
            </a:r>
            <a:r>
              <a:rPr lang="en-US" sz="800" i="1" dirty="0">
                <a:effectLst/>
                <a:latin typeface="Times New Roman" panose="02020603050405020304" pitchFamily="18" charset="0"/>
                <a:ea typeface="Times New Roman" panose="02020603050405020304" pitchFamily="18" charset="0"/>
              </a:rPr>
              <a:t>Software Engineering</a:t>
            </a:r>
            <a:r>
              <a:rPr lang="en-US" sz="800" dirty="0">
                <a:effectLst/>
                <a:latin typeface="Times New Roman" panose="02020603050405020304" pitchFamily="18" charset="0"/>
                <a:ea typeface="Times New Roman" panose="02020603050405020304" pitchFamily="18" charset="0"/>
              </a:rPr>
              <a:t>, 9</a:t>
            </a:r>
            <a:r>
              <a:rPr lang="en-US" sz="800" baseline="30000" dirty="0">
                <a:effectLst/>
                <a:latin typeface="Times New Roman" panose="02020603050405020304" pitchFamily="18" charset="0"/>
                <a:ea typeface="Times New Roman" panose="02020603050405020304" pitchFamily="18" charset="0"/>
              </a:rPr>
              <a:t>th</a:t>
            </a:r>
            <a:r>
              <a:rPr lang="en-US" sz="800" dirty="0">
                <a:effectLst/>
                <a:latin typeface="Times New Roman" panose="02020603050405020304" pitchFamily="18" charset="0"/>
                <a:ea typeface="Times New Roman" panose="02020603050405020304" pitchFamily="18" charset="0"/>
              </a:rPr>
              <a:t>. edition (Addison-Wesley, 2011), 426</a:t>
            </a:r>
            <a:endParaRPr lang="en-MX" sz="800" dirty="0">
              <a:latin typeface="Times New Roman" panose="02020603050405020304" pitchFamily="18" charset="0"/>
              <a:ea typeface="Times New Roman" panose="02020603050405020304" pitchFamily="18" charset="0"/>
            </a:endParaRPr>
          </a:p>
          <a:p>
            <a:pPr marL="342900" indent="-342900">
              <a:spcBef>
                <a:spcPts val="0"/>
              </a:spcBef>
              <a:buFont typeface="+mj-lt"/>
              <a:buAutoNum type="arabicPeriod"/>
            </a:pPr>
            <a:r>
              <a:rPr lang="en-US" sz="800" dirty="0" err="1">
                <a:effectLst/>
                <a:latin typeface="Times New Roman" panose="02020603050405020304" pitchFamily="18" charset="0"/>
                <a:ea typeface="Times New Roman" panose="02020603050405020304" pitchFamily="18" charset="0"/>
              </a:rPr>
              <a:t>OpenSource.org</a:t>
            </a:r>
            <a:r>
              <a:rPr lang="en-US" sz="800" dirty="0">
                <a:effectLst/>
                <a:latin typeface="Times New Roman" panose="02020603050405020304" pitchFamily="18" charset="0"/>
                <a:ea typeface="Times New Roman" panose="02020603050405020304" pitchFamily="18" charset="0"/>
              </a:rPr>
              <a:t>, </a:t>
            </a:r>
            <a:r>
              <a:rPr lang="en-US" sz="800" i="1" dirty="0">
                <a:effectLst/>
                <a:latin typeface="Times New Roman" panose="02020603050405020304" pitchFamily="18" charset="0"/>
                <a:ea typeface="Times New Roman" panose="02020603050405020304" pitchFamily="18" charset="0"/>
              </a:rPr>
              <a:t>Coining Open Source,</a:t>
            </a:r>
            <a:r>
              <a:rPr lang="en-US" sz="800" dirty="0">
                <a:effectLst/>
                <a:latin typeface="Times New Roman" panose="02020603050405020304" pitchFamily="18" charset="0"/>
                <a:ea typeface="Times New Roman" panose="02020603050405020304" pitchFamily="18" charset="0"/>
              </a:rPr>
              <a:t> accessed December 15 2017; available from </a:t>
            </a:r>
            <a:r>
              <a:rPr lang="en-US" sz="800" u="sng" dirty="0">
                <a:solidFill>
                  <a:srgbClr val="0563C1"/>
                </a:solidFill>
                <a:effectLst/>
                <a:latin typeface="Times New Roman" panose="02020603050405020304" pitchFamily="18" charset="0"/>
                <a:ea typeface="Times New Roman" panose="02020603050405020304" pitchFamily="18" charset="0"/>
                <a:hlinkClick r:id="rId2"/>
              </a:rPr>
              <a:t>https://www.opensource.org/history</a:t>
            </a:r>
            <a:r>
              <a:rPr lang="en-US" sz="800" dirty="0">
                <a:effectLst/>
                <a:latin typeface="Times New Roman" panose="02020603050405020304" pitchFamily="18" charset="0"/>
                <a:ea typeface="Times New Roman" panose="02020603050405020304" pitchFamily="18" charset="0"/>
              </a:rPr>
              <a:t>; Internet</a:t>
            </a:r>
            <a:endParaRPr lang="en-MX" sz="800" dirty="0">
              <a:effectLst/>
              <a:latin typeface="Times New Roman" panose="02020603050405020304" pitchFamily="18" charset="0"/>
              <a:ea typeface="Times New Roman" panose="02020603050405020304" pitchFamily="18" charset="0"/>
            </a:endParaRPr>
          </a:p>
        </p:txBody>
      </p:sp>
      <p:sp>
        <p:nvSpPr>
          <p:cNvPr id="7" name="Text Box 1">
            <a:extLst>
              <a:ext uri="{FF2B5EF4-FFF2-40B4-BE49-F238E27FC236}">
                <a16:creationId xmlns:a16="http://schemas.microsoft.com/office/drawing/2014/main" id="{995677F3-CA2D-F171-8420-CD77478ED069}"/>
              </a:ext>
            </a:extLst>
          </p:cNvPr>
          <p:cNvSpPr txBox="1"/>
          <p:nvPr/>
        </p:nvSpPr>
        <p:spPr>
          <a:xfrm>
            <a:off x="1648863" y="5217371"/>
            <a:ext cx="6113145" cy="1179248"/>
          </a:xfrm>
          <a:prstGeom prst="rect">
            <a:avLst/>
          </a:prstGeom>
          <a:solidFill>
            <a:schemeClr val="accent4">
              <a:lumMod val="20000"/>
              <a:lumOff val="80000"/>
            </a:schemeClr>
          </a:solidFill>
          <a:ln w="15875">
            <a:solidFill>
              <a:schemeClr val="tx1"/>
            </a:solidFill>
          </a:ln>
          <a:effectLst>
            <a:outerShdw blurRad="50800" dist="38100" dir="2700000" algn="tl" rotWithShape="0">
              <a:prstClr val="black">
                <a:alpha val="40000"/>
              </a:prstClr>
            </a:outerShdw>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just"/>
            <a:r>
              <a:rPr lang="en-US" sz="2200" b="1">
                <a:solidFill>
                  <a:srgbClr val="FF0000"/>
                </a:solidFill>
                <a:effectLst/>
                <a:latin typeface="Times New Roman" panose="02020603050405020304" pitchFamily="18" charset="0"/>
                <a:ea typeface="Times New Roman" panose="02020603050405020304" pitchFamily="18" charset="0"/>
              </a:rPr>
              <a:t>Cheating will generate a value of 0 (ZERO) assigned as the FINAL GRADE for the module, and an AIF (Academic Integrety Fault) report.</a:t>
            </a:r>
            <a:endParaRPr lang="en-MX" sz="1200">
              <a:effectLst/>
              <a:latin typeface="Times New Roman" panose="02020603050405020304" pitchFamily="18" charset="0"/>
              <a:ea typeface="Times New Roman" panose="02020603050405020304" pitchFamily="18" charset="0"/>
            </a:endParaRPr>
          </a:p>
          <a:p>
            <a:r>
              <a:rPr lang="en-US" sz="1200">
                <a:effectLst/>
                <a:latin typeface="Times New Roman" panose="02020603050405020304" pitchFamily="18" charset="0"/>
                <a:ea typeface="Times New Roman" panose="02020603050405020304" pitchFamily="18" charset="0"/>
              </a:rPr>
              <a:t> </a:t>
            </a:r>
            <a:endParaRPr lang="en-MX" sz="1200">
              <a:effectLst/>
              <a:latin typeface="Times New Roman" panose="02020603050405020304" pitchFamily="18" charset="0"/>
              <a:ea typeface="Times New Roman" panose="02020603050405020304" pitchFamily="18" charset="0"/>
            </a:endParaRPr>
          </a:p>
        </p:txBody>
      </p:sp>
      <p:sp>
        <p:nvSpPr>
          <p:cNvPr id="8" name="Slide Number Placeholder 7">
            <a:extLst>
              <a:ext uri="{FF2B5EF4-FFF2-40B4-BE49-F238E27FC236}">
                <a16:creationId xmlns:a16="http://schemas.microsoft.com/office/drawing/2014/main" id="{062A127C-C69E-DBBF-C10B-56BADA08BD6A}"/>
              </a:ext>
            </a:extLst>
          </p:cNvPr>
          <p:cNvSpPr>
            <a:spLocks noGrp="1"/>
          </p:cNvSpPr>
          <p:nvPr>
            <p:ph type="sldNum" sz="quarter" idx="12"/>
          </p:nvPr>
        </p:nvSpPr>
        <p:spPr/>
        <p:txBody>
          <a:bodyPr/>
          <a:lstStyle/>
          <a:p>
            <a:fld id="{87BA9580-FE5B-E14E-B782-A387CF7F7228}" type="slidenum">
              <a:rPr lang="en-MX" smtClean="0"/>
              <a:t>3</a:t>
            </a:fld>
            <a:endParaRPr lang="en-MX"/>
          </a:p>
        </p:txBody>
      </p:sp>
    </p:spTree>
    <p:extLst>
      <p:ext uri="{BB962C8B-B14F-4D97-AF65-F5344CB8AC3E}">
        <p14:creationId xmlns:p14="http://schemas.microsoft.com/office/powerpoint/2010/main" val="4075330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04895F-1F3A-C736-DEFE-E486B0D0B4C0}"/>
              </a:ext>
            </a:extLst>
          </p:cNvPr>
          <p:cNvSpPr>
            <a:spLocks noGrp="1"/>
          </p:cNvSpPr>
          <p:nvPr>
            <p:ph idx="1"/>
          </p:nvPr>
        </p:nvSpPr>
        <p:spPr>
          <a:xfrm>
            <a:off x="628650" y="315475"/>
            <a:ext cx="7886700" cy="5934854"/>
          </a:xfrm>
        </p:spPr>
        <p:txBody>
          <a:bodyPr>
            <a:noAutofit/>
          </a:bodyPr>
          <a:lstStyle/>
          <a:p>
            <a:pPr marL="400050" lvl="0" indent="-400050" algn="just">
              <a:buFont typeface="+mj-lt"/>
              <a:buAutoNum type="romanUcPeriod" startAt="2"/>
            </a:pPr>
            <a:r>
              <a:rPr lang="en-US" sz="2400" b="1" u="sng" dirty="0">
                <a:solidFill>
                  <a:srgbClr val="000000"/>
                </a:solidFill>
                <a:effectLst/>
                <a:latin typeface="Times"/>
                <a:ea typeface="Times New Roman" panose="02020603050405020304" pitchFamily="18" charset="0"/>
                <a:cs typeface="Times New Roman" panose="02020603050405020304" pitchFamily="18" charset="0"/>
              </a:rPr>
              <a:t>Triton Lexical Specification</a:t>
            </a:r>
          </a:p>
          <a:p>
            <a:pPr marL="0" lvl="0" indent="0" algn="just">
              <a:buNone/>
            </a:pPr>
            <a:endParaRPr lang="en-US" sz="1400" dirty="0">
              <a:solidFill>
                <a:srgbClr val="000000"/>
              </a:solidFill>
              <a:effectLst/>
              <a:latin typeface="Times New Roman" panose="02020603050405020304" pitchFamily="18" charset="0"/>
              <a:ea typeface="Times New Roman" panose="02020603050405020304" pitchFamily="18" charset="0"/>
            </a:endParaRPr>
          </a:p>
          <a:p>
            <a:pPr marL="0" indent="0" algn="just">
              <a:buNone/>
            </a:pPr>
            <a:r>
              <a:rPr lang="en-US" sz="1400" dirty="0">
                <a:solidFill>
                  <a:srgbClr val="000000"/>
                </a:solidFill>
                <a:latin typeface="Times New Roman" panose="02020603050405020304" pitchFamily="18" charset="0"/>
                <a:ea typeface="Times New Roman" panose="02020603050405020304" pitchFamily="18" charset="0"/>
              </a:rPr>
              <a:t>The lexical analyzer or scanner is the first phase of the translation process of a compiler for any given programming language. The main purpose of the lexical phase is to identify the tokens or valid member strings of the programming language, in the order in which they appear in the source file. Another important task of the scanner is to construct the preliminary version of the symbol table for all kind of tokens, which will later be used by the syntax, semantics, and intermediate code generator phases.</a:t>
            </a:r>
          </a:p>
          <a:p>
            <a:pPr marL="0" indent="0" algn="just">
              <a:buNone/>
            </a:pPr>
            <a:r>
              <a:rPr lang="en-US" sz="1400" dirty="0">
                <a:solidFill>
                  <a:srgbClr val="000000"/>
                </a:solidFill>
                <a:latin typeface="Times New Roman" panose="02020603050405020304" pitchFamily="18" charset="0"/>
                <a:ea typeface="Times New Roman" panose="02020603050405020304" pitchFamily="18" charset="0"/>
              </a:rPr>
              <a:t>For the challenge of our Learning Unit, </a:t>
            </a:r>
            <a:r>
              <a:rPr lang="en-US" sz="1400">
                <a:latin typeface="Times New Roman" panose="02020603050405020304" pitchFamily="18" charset="0"/>
                <a:cs typeface="Times New Roman" panose="02020603050405020304" pitchFamily="18" charset="0"/>
              </a:rPr>
              <a:t>you will implement a scanner using the </a:t>
            </a:r>
            <a:r>
              <a:rPr lang="en-US" sz="1400" b="1">
                <a:latin typeface="Times New Roman" panose="02020603050405020304" pitchFamily="18" charset="0"/>
                <a:cs typeface="Times New Roman" panose="02020603050405020304" pitchFamily="18" charset="0"/>
              </a:rPr>
              <a:t>lex</a:t>
            </a:r>
            <a:r>
              <a:rPr lang="en-US" sz="1400">
                <a:latin typeface="Times New Roman" panose="02020603050405020304" pitchFamily="18" charset="0"/>
                <a:cs typeface="Times New Roman" panose="02020603050405020304" pitchFamily="18" charset="0"/>
              </a:rPr>
              <a:t> tool to recognize the lexemes of the </a:t>
            </a:r>
            <a:r>
              <a:rPr lang="en-US" sz="1400" b="1">
                <a:solidFill>
                  <a:prstClr val="black"/>
                </a:solidFill>
                <a:latin typeface="Times New Roman" panose="02020603050405020304" pitchFamily="18" charset="0"/>
                <a:cs typeface="Times New Roman" panose="02020603050405020304" pitchFamily="18" charset="0"/>
              </a:rPr>
              <a:t>Triton</a:t>
            </a:r>
            <a:r>
              <a:rPr lang="en-US" sz="1400">
                <a:latin typeface="Times New Roman" panose="02020603050405020304" pitchFamily="18" charset="0"/>
                <a:cs typeface="Times New Roman" panose="02020603050405020304" pitchFamily="18" charset="0"/>
              </a:rPr>
              <a:t> GPU kernel. </a:t>
            </a:r>
            <a:r>
              <a:rPr lang="en-US" sz="1400" b="1">
                <a:latin typeface="Times New Roman" panose="02020603050405020304" pitchFamily="18" charset="0"/>
                <a:cs typeface="Times New Roman" panose="02020603050405020304" pitchFamily="18" charset="0"/>
              </a:rPr>
              <a:t>Triton</a:t>
            </a:r>
            <a:r>
              <a:rPr lang="en-US" sz="1400">
                <a:latin typeface="Times New Roman" panose="02020603050405020304" pitchFamily="18" charset="0"/>
                <a:cs typeface="Times New Roman" panose="02020603050405020304" pitchFamily="18" charset="0"/>
              </a:rPr>
              <a:t> is a Python-like domain-specific language (DSL) for writing GPU kernels. Developed by OpenAI, </a:t>
            </a:r>
            <a:r>
              <a:rPr lang="en-US" sz="1400" b="1">
                <a:latin typeface="Times New Roman" panose="02020603050405020304" pitchFamily="18" charset="0"/>
                <a:cs typeface="Times New Roman" panose="02020603050405020304" pitchFamily="18" charset="0"/>
              </a:rPr>
              <a:t>Triton</a:t>
            </a:r>
            <a:r>
              <a:rPr lang="en-US" sz="1400">
                <a:latin typeface="Times New Roman" panose="02020603050405020304" pitchFamily="18" charset="0"/>
                <a:cs typeface="Times New Roman" panose="02020603050405020304" pitchFamily="18" charset="0"/>
              </a:rPr>
              <a:t> allows developers to write high-performance GPU code using familiar Python syntax with specialized tensor operations.</a:t>
            </a:r>
          </a:p>
          <a:p>
            <a:pPr marL="0" indent="0" algn="just">
              <a:buNone/>
            </a:pPr>
            <a:r>
              <a:rPr lang="en-US" sz="1400" dirty="0">
                <a:solidFill>
                  <a:srgbClr val="000000"/>
                </a:solidFill>
                <a:latin typeface="Times New Roman" panose="02020603050405020304" pitchFamily="18" charset="0"/>
                <a:ea typeface="Times New Roman" panose="02020603050405020304" pitchFamily="18" charset="0"/>
              </a:rPr>
              <a:t>The team </a:t>
            </a:r>
            <a:r>
              <a:rPr lang="en-US" sz="1400" dirty="0">
                <a:solidFill>
                  <a:srgbClr val="000000"/>
                </a:solidFill>
                <a:effectLst/>
                <a:latin typeface="Times New Roman" panose="02020603050405020304" pitchFamily="18" charset="0"/>
                <a:ea typeface="Times New Roman" panose="02020603050405020304" pitchFamily="18" charset="0"/>
              </a:rPr>
              <a:t>will have to generate the informal lexical specification for the </a:t>
            </a:r>
            <a:r>
              <a:rPr lang="en-US" sz="1400" b="1">
                <a:solidFill>
                  <a:prstClr val="black"/>
                </a:solidFill>
                <a:latin typeface="Times New Roman" panose="02020603050405020304" pitchFamily="18" charset="0"/>
                <a:cs typeface="Times New Roman" panose="02020603050405020304" pitchFamily="18" charset="0"/>
              </a:rPr>
              <a:t>Triton</a:t>
            </a:r>
            <a:r>
              <a:rPr lang="en-US" sz="1400">
                <a:latin typeface="Times New Roman" panose="02020603050405020304" pitchFamily="18" charset="0"/>
                <a:cs typeface="Times New Roman" panose="02020603050405020304" pitchFamily="18" charset="0"/>
              </a:rPr>
              <a:t> GPU kernel language as approved by the leader of the leaning Unit, </a:t>
            </a:r>
            <a:r>
              <a:rPr lang="en-US" sz="1400" b="1">
                <a:latin typeface="Times New Roman" panose="02020603050405020304" pitchFamily="18" charset="0"/>
                <a:cs typeface="Times New Roman" panose="02020603050405020304" pitchFamily="18" charset="0"/>
              </a:rPr>
              <a:t>Dr. Salvador Hinojosa</a:t>
            </a:r>
            <a:r>
              <a:rPr lang="en-US" sz="1400">
                <a:latin typeface="Times New Roman" panose="02020603050405020304" pitchFamily="18" charset="0"/>
                <a:cs typeface="Times New Roman" panose="02020603050405020304" pitchFamily="18" charset="0"/>
              </a:rPr>
              <a:t>. Once the team obtains Dr. Hinojosa’s approval of your informal lexical specification then you will proceed to </a:t>
            </a:r>
            <a:r>
              <a:rPr lang="en-US" sz="1400" dirty="0">
                <a:solidFill>
                  <a:srgbClr val="000000"/>
                </a:solidFill>
                <a:latin typeface="Times New Roman" panose="02020603050405020304" pitchFamily="18" charset="0"/>
                <a:ea typeface="Times New Roman" panose="02020603050405020304" pitchFamily="18" charset="0"/>
              </a:rPr>
              <a:t>develop all the activities asked for the development of this part of the challenge</a:t>
            </a:r>
            <a:r>
              <a:rPr lang="en-US" sz="1400">
                <a:latin typeface="Times New Roman" panose="02020603050405020304" pitchFamily="18" charset="0"/>
                <a:cs typeface="Times New Roman" panose="02020603050405020304" pitchFamily="18" charset="0"/>
              </a:rPr>
              <a:t>.</a:t>
            </a:r>
            <a:r>
              <a:rPr lang="en-US" sz="1400" dirty="0">
                <a:solidFill>
                  <a:srgbClr val="000000"/>
                </a:solidFill>
                <a:effectLst/>
                <a:latin typeface="Times New Roman" panose="02020603050405020304" pitchFamily="18" charset="0"/>
                <a:ea typeface="Times New Roman" panose="02020603050405020304" pitchFamily="18" charset="0"/>
              </a:rPr>
              <a:t> </a:t>
            </a:r>
          </a:p>
          <a:p>
            <a:pPr marL="0" indent="0" algn="just">
              <a:buNone/>
            </a:pPr>
            <a:r>
              <a:rPr lang="en-US" sz="1400" dirty="0">
                <a:solidFill>
                  <a:srgbClr val="000000"/>
                </a:solidFill>
                <a:effectLst/>
                <a:latin typeface="Times New Roman" panose="02020603050405020304" pitchFamily="18" charset="0"/>
                <a:ea typeface="Times New Roman" panose="02020603050405020304" pitchFamily="18" charset="0"/>
              </a:rPr>
              <a:t>The scanner must be able to identify </a:t>
            </a:r>
            <a:r>
              <a:rPr lang="en-US" sz="1400" dirty="0">
                <a:solidFill>
                  <a:srgbClr val="000000"/>
                </a:solidFill>
                <a:latin typeface="Times New Roman" panose="02020603050405020304" pitchFamily="18" charset="0"/>
                <a:ea typeface="Times New Roman" panose="02020603050405020304" pitchFamily="18" charset="0"/>
              </a:rPr>
              <a:t>all the necessary lexemes that conform the approved informal lexical specification of the </a:t>
            </a:r>
            <a:r>
              <a:rPr lang="en-US" sz="1400" b="1">
                <a:solidFill>
                  <a:prstClr val="black"/>
                </a:solidFill>
                <a:latin typeface="Times New Roman" panose="02020603050405020304" pitchFamily="18" charset="0"/>
                <a:cs typeface="Times New Roman" panose="02020603050405020304" pitchFamily="18" charset="0"/>
              </a:rPr>
              <a:t>Triton</a:t>
            </a:r>
            <a:r>
              <a:rPr lang="en-US" sz="1400">
                <a:latin typeface="Times New Roman" panose="02020603050405020304" pitchFamily="18" charset="0"/>
                <a:cs typeface="Times New Roman" panose="02020603050405020304" pitchFamily="18" charset="0"/>
              </a:rPr>
              <a:t> GPU kernel language</a:t>
            </a:r>
            <a:r>
              <a:rPr lang="en-US" sz="1400" dirty="0">
                <a:solidFill>
                  <a:srgbClr val="000000"/>
                </a:solidFill>
                <a:effectLst/>
                <a:latin typeface="Times New Roman" panose="02020603050405020304" pitchFamily="18" charset="0"/>
                <a:ea typeface="Times New Roman" panose="02020603050405020304" pitchFamily="18" charset="0"/>
              </a:rPr>
              <a:t>. Therefore, as first step, a description of such set of lexemes must be generated and justified, in order to construct the Scanner. </a:t>
            </a:r>
            <a:r>
              <a:rPr lang="en-US" sz="1400" dirty="0">
                <a:solidFill>
                  <a:srgbClr val="000000"/>
                </a:solidFill>
                <a:latin typeface="Times New Roman" panose="02020603050405020304" pitchFamily="18" charset="0"/>
                <a:ea typeface="Times New Roman" panose="02020603050405020304" pitchFamily="18" charset="0"/>
              </a:rPr>
              <a:t>The following considerations shall be observed:</a:t>
            </a:r>
            <a:endParaRPr lang="en-MX" sz="1400" dirty="0">
              <a:effectLst/>
              <a:latin typeface="Times New Roman" panose="02020603050405020304" pitchFamily="18" charset="0"/>
              <a:ea typeface="Times New Roman" panose="02020603050405020304" pitchFamily="18" charset="0"/>
            </a:endParaRPr>
          </a:p>
          <a:p>
            <a:pPr marL="342900" indent="-342900">
              <a:buFont typeface="+mj-lt"/>
              <a:buAutoNum type="alphaLcParenR"/>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Include only the necessary keywords and special symbols to accomplish the goal.</a:t>
            </a:r>
          </a:p>
          <a:p>
            <a:pPr marL="342900" indent="-342900">
              <a:buFont typeface="+mj-lt"/>
              <a:buAutoNum type="alphaLcParenR"/>
            </a:pPr>
            <a:r>
              <a:rPr lang="en-US" sz="1400" dirty="0">
                <a:latin typeface="Times New Roman" panose="02020603050405020304" pitchFamily="18" charset="0"/>
                <a:ea typeface="Times New Roman" panose="02020603050405020304" pitchFamily="18" charset="0"/>
                <a:cs typeface="Times New Roman" panose="02020603050405020304" pitchFamily="18" charset="0"/>
              </a:rPr>
              <a:t>Disregard any unnecessary lexeme from the original language.</a:t>
            </a:r>
          </a:p>
          <a:p>
            <a:pPr marL="342900" indent="-342900">
              <a:buFont typeface="+mj-lt"/>
              <a:buAutoNum type="alphaLcParenR"/>
            </a:pPr>
            <a:r>
              <a:rPr lang="en-US" sz="1400" dirty="0">
                <a:latin typeface="Times New Roman" panose="02020603050405020304" pitchFamily="18" charset="0"/>
                <a:ea typeface="Times New Roman" panose="02020603050405020304" pitchFamily="18" charset="0"/>
                <a:cs typeface="Times New Roman" panose="02020603050405020304" pitchFamily="18" charset="0"/>
              </a:rPr>
              <a:t>Generate the corresponding </a:t>
            </a:r>
            <a:r>
              <a:rPr lang="en-US" sz="1400">
                <a:latin typeface="Times New Roman" panose="02020603050405020304" pitchFamily="18" charset="0"/>
                <a:ea typeface="Times New Roman" panose="02020603050405020304" pitchFamily="18" charset="0"/>
                <a:cs typeface="Times New Roman" panose="02020603050405020304" pitchFamily="18" charset="0"/>
              </a:rPr>
              <a:t>error messages.</a:t>
            </a:r>
            <a:endParaRPr lang="en-MX" sz="1400" dirty="0">
              <a:effectLst/>
              <a:latin typeface="Times"/>
              <a:ea typeface="Times New Roman" panose="02020603050405020304" pitchFamily="18" charset="0"/>
              <a:cs typeface="Times New Roman" panose="02020603050405020304" pitchFamily="18" charset="0"/>
            </a:endParaRPr>
          </a:p>
        </p:txBody>
      </p:sp>
      <p:sp>
        <p:nvSpPr>
          <p:cNvPr id="17" name="Slide Number Placeholder 16">
            <a:extLst>
              <a:ext uri="{FF2B5EF4-FFF2-40B4-BE49-F238E27FC236}">
                <a16:creationId xmlns:a16="http://schemas.microsoft.com/office/drawing/2014/main" id="{64AF7998-42BF-D321-4DB4-C19B20C33BB1}"/>
              </a:ext>
            </a:extLst>
          </p:cNvPr>
          <p:cNvSpPr>
            <a:spLocks noGrp="1"/>
          </p:cNvSpPr>
          <p:nvPr>
            <p:ph type="sldNum" sz="quarter" idx="12"/>
          </p:nvPr>
        </p:nvSpPr>
        <p:spPr/>
        <p:txBody>
          <a:bodyPr/>
          <a:lstStyle/>
          <a:p>
            <a:fld id="{87BA9580-FE5B-E14E-B782-A387CF7F7228}" type="slidenum">
              <a:rPr lang="en-MX" smtClean="0"/>
              <a:t>4</a:t>
            </a:fld>
            <a:endParaRPr lang="en-MX"/>
          </a:p>
        </p:txBody>
      </p:sp>
    </p:spTree>
    <p:extLst>
      <p:ext uri="{BB962C8B-B14F-4D97-AF65-F5344CB8AC3E}">
        <p14:creationId xmlns:p14="http://schemas.microsoft.com/office/powerpoint/2010/main" val="26090112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04895F-1F3A-C736-DEFE-E486B0D0B4C0}"/>
              </a:ext>
            </a:extLst>
          </p:cNvPr>
          <p:cNvSpPr>
            <a:spLocks noGrp="1"/>
          </p:cNvSpPr>
          <p:nvPr>
            <p:ph idx="1"/>
          </p:nvPr>
        </p:nvSpPr>
        <p:spPr>
          <a:xfrm>
            <a:off x="628650" y="1014430"/>
            <a:ext cx="7886700" cy="4929169"/>
          </a:xfrm>
        </p:spPr>
        <p:txBody>
          <a:bodyPr>
            <a:noAutofit/>
          </a:bodyPr>
          <a:lstStyle/>
          <a:p>
            <a:pPr marL="342900" lvl="0" indent="-342900">
              <a:lnSpc>
                <a:spcPct val="100000"/>
              </a:lnSpc>
              <a:spcBef>
                <a:spcPts val="0"/>
              </a:spcBef>
              <a:buFont typeface="+mj-lt"/>
              <a:buAutoNum type="alphaLcParenR"/>
            </a:pPr>
            <a:r>
              <a:rPr lang="en-US" sz="1400" b="1" u="sng" dirty="0">
                <a:effectLst/>
                <a:latin typeface="Times New Roman" panose="02020603050405020304" pitchFamily="18" charset="0"/>
                <a:ea typeface="Times New Roman" panose="02020603050405020304" pitchFamily="18" charset="0"/>
                <a:cs typeface="Times New Roman" panose="02020603050405020304" pitchFamily="18" charset="0"/>
              </a:rPr>
              <a:t>SCANNER Output:</a:t>
            </a:r>
          </a:p>
          <a:p>
            <a:pPr marL="342900" lvl="0" indent="-342900">
              <a:lnSpc>
                <a:spcPct val="100000"/>
              </a:lnSpc>
              <a:spcBef>
                <a:spcPts val="0"/>
              </a:spcBef>
              <a:buFont typeface="+mj-lt"/>
              <a:buAutoNum type="alphaLcParenR"/>
            </a:pPr>
            <a:endParaRPr lang="en-MX" sz="600" b="1" u="sng" dirty="0">
              <a:latin typeface="Times New Roman" panose="02020603050405020304" pitchFamily="18" charset="0"/>
              <a:ea typeface="Times New Roman" panose="02020603050405020304" pitchFamily="18" charset="0"/>
              <a:cs typeface="Times New Roman" panose="02020603050405020304" pitchFamily="18" charset="0"/>
            </a:endParaRPr>
          </a:p>
          <a:p>
            <a:pPr marL="349200" lvl="1" indent="0">
              <a:lnSpc>
                <a:spcPct val="100000"/>
              </a:lnSpc>
              <a:spcBef>
                <a:spcPts val="0"/>
              </a:spcBef>
              <a:buNone/>
            </a:pPr>
            <a:r>
              <a:rPr lang="en-US"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Scanner </a:t>
            </a:r>
            <a:r>
              <a:rPr lang="en-US" sz="1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shall</a:t>
            </a:r>
            <a:r>
              <a:rPr lang="en-US" sz="14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provide the following </a:t>
            </a:r>
            <a:r>
              <a:rPr lang="en-US" sz="1400" b="1" u="sng"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outputs</a:t>
            </a:r>
            <a:r>
              <a:rPr lang="en-US"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MX"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28100" lvl="1" indent="-342900">
              <a:lnSpc>
                <a:spcPct val="100000"/>
              </a:lnSpc>
              <a:spcBef>
                <a:spcPts val="0"/>
              </a:spcBef>
              <a:buFont typeface="+mj-lt"/>
              <a:buAutoNum type="arabicPeriod"/>
            </a:pP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Sequence of Tokens in the structure as was seen in class. </a:t>
            </a:r>
          </a:p>
          <a:p>
            <a:pPr marL="728100" lvl="1" indent="-342900">
              <a:lnSpc>
                <a:spcPct val="100000"/>
              </a:lnSpc>
              <a:spcBef>
                <a:spcPts val="0"/>
              </a:spcBef>
              <a:buFont typeface="+mj-lt"/>
              <a:buAutoNum type="arabicPeriod"/>
            </a:pPr>
            <a:r>
              <a:rPr lang="en-US" sz="1400" b="1" dirty="0">
                <a:latin typeface="Times New Roman" panose="02020603050405020304" pitchFamily="18" charset="0"/>
                <a:ea typeface="Times New Roman" panose="02020603050405020304" pitchFamily="18" charset="0"/>
                <a:cs typeface="Times New Roman" panose="02020603050405020304" pitchFamily="18" charset="0"/>
              </a:rPr>
              <a:t>The required Symbol Table for those tokens that require it.</a:t>
            </a:r>
            <a:endParaRPr lang="en-MX"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nSpc>
                <a:spcPct val="100000"/>
              </a:lnSpc>
              <a:spcBef>
                <a:spcPts val="0"/>
              </a:spcBef>
              <a:buNone/>
            </a:pPr>
            <a:endParaRPr lang="en-MX"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00000"/>
              </a:lnSpc>
              <a:spcBef>
                <a:spcPts val="0"/>
              </a:spcBef>
              <a:buFont typeface="+mj-lt"/>
              <a:buAutoNum type="alphaLcParenR" startAt="2"/>
            </a:pPr>
            <a:r>
              <a:rPr lang="en-US" sz="1400" b="1" u="sng" dirty="0">
                <a:effectLst/>
                <a:latin typeface="Times New Roman" panose="02020603050405020304" pitchFamily="18" charset="0"/>
                <a:ea typeface="Times New Roman" panose="02020603050405020304" pitchFamily="18" charset="0"/>
                <a:cs typeface="Times New Roman" panose="02020603050405020304" pitchFamily="18" charset="0"/>
              </a:rPr>
              <a:t>Deliverables:</a:t>
            </a:r>
          </a:p>
          <a:p>
            <a:pPr marL="342900" lvl="0" indent="-342900">
              <a:lnSpc>
                <a:spcPct val="100000"/>
              </a:lnSpc>
              <a:spcBef>
                <a:spcPts val="0"/>
              </a:spcBef>
              <a:buFont typeface="+mj-lt"/>
              <a:buAutoNum type="alphaLcParenR" startAt="2"/>
            </a:pPr>
            <a:endParaRPr lang="en-MX" sz="600" b="1" u="sng" dirty="0">
              <a:latin typeface="Times New Roman" panose="02020603050405020304" pitchFamily="18" charset="0"/>
              <a:ea typeface="Times New Roman" panose="02020603050405020304" pitchFamily="18" charset="0"/>
              <a:cs typeface="Times New Roman" panose="02020603050405020304" pitchFamily="18" charset="0"/>
            </a:endParaRPr>
          </a:p>
          <a:p>
            <a:pPr marL="349200" lvl="1" indent="0">
              <a:lnSpc>
                <a:spcPct val="100000"/>
              </a:lnSpc>
              <a:spcBef>
                <a:spcPts val="0"/>
              </a:spcBef>
              <a:buNone/>
            </a:pPr>
            <a:r>
              <a:rPr lang="en-US"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project </a:t>
            </a:r>
            <a:r>
              <a:rPr lang="en-US" sz="1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must</a:t>
            </a:r>
            <a:r>
              <a:rPr lang="en-US" sz="14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include the following </a:t>
            </a:r>
            <a:r>
              <a:rPr lang="en-US" sz="1400" b="1" u="sng"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deliverables</a:t>
            </a:r>
            <a:r>
              <a:rPr lang="en-US"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MX"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28100" lvl="1" indent="-342900">
              <a:lnSpc>
                <a:spcPct val="100000"/>
              </a:lnSpc>
              <a:spcBef>
                <a:spcPts val="0"/>
              </a:spcBef>
              <a:buFont typeface="+mj-lt"/>
              <a:buAutoNum type="arabicPeriod"/>
            </a:pP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The approved informal description of the lexemes required </a:t>
            </a:r>
            <a:r>
              <a:rPr lang="en-US" sz="1400" b="1" dirty="0">
                <a:latin typeface="Times New Roman" panose="02020603050405020304" pitchFamily="18" charset="0"/>
                <a:ea typeface="Times New Roman" panose="02020603050405020304" pitchFamily="18" charset="0"/>
                <a:cs typeface="Times New Roman" panose="02020603050405020304" pitchFamily="18" charset="0"/>
              </a:rPr>
              <a:t>to achieve the goal.</a:t>
            </a:r>
          </a:p>
          <a:p>
            <a:pPr marL="728100" lvl="1" indent="-342900">
              <a:lnSpc>
                <a:spcPct val="100000"/>
              </a:lnSpc>
              <a:spcBef>
                <a:spcPts val="0"/>
              </a:spcBef>
              <a:buFont typeface="+mj-lt"/>
              <a:buAutoNum type="arabicPeriod"/>
            </a:pPr>
            <a:r>
              <a:rPr lang="en-US" sz="1400" b="1" dirty="0">
                <a:latin typeface="Times New Roman" panose="02020603050405020304" pitchFamily="18" charset="0"/>
                <a:ea typeface="Times New Roman" panose="02020603050405020304" pitchFamily="18" charset="0"/>
                <a:cs typeface="Times New Roman" panose="02020603050405020304" pitchFamily="18" charset="0"/>
              </a:rPr>
              <a:t>The regular expression for each kind of token.</a:t>
            </a:r>
          </a:p>
          <a:p>
            <a:pPr marL="728100" lvl="1" indent="-342900">
              <a:lnSpc>
                <a:spcPct val="100000"/>
              </a:lnSpc>
              <a:spcBef>
                <a:spcPts val="0"/>
              </a:spcBef>
              <a:buFont typeface="+mj-lt"/>
              <a:buAutoNum type="arabicPeriod"/>
            </a:pP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The automata that recognize the required lexemes.</a:t>
            </a:r>
            <a:endParaRPr lang="en-MX"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28100" lvl="1" indent="-342900">
              <a:lnSpc>
                <a:spcPct val="100000"/>
              </a:lnSpc>
              <a:spcBef>
                <a:spcPts val="0"/>
              </a:spcBef>
              <a:buFont typeface="+mj-lt"/>
              <a:buAutoNum type="arabicPeriod"/>
            </a:pP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Tokens and their identification (Token ID).</a:t>
            </a:r>
            <a:endParaRPr lang="en-MX"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28100" lvl="1" indent="-342900">
              <a:lnSpc>
                <a:spcPct val="100000"/>
              </a:lnSpc>
              <a:spcBef>
                <a:spcPts val="0"/>
              </a:spcBef>
              <a:buFont typeface="+mj-lt"/>
              <a:buAutoNum type="arabicPeriod"/>
            </a:pP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Transition Table.</a:t>
            </a:r>
          </a:p>
          <a:p>
            <a:pPr marL="728100" lvl="1" indent="-342900">
              <a:lnSpc>
                <a:spcPct val="100000"/>
              </a:lnSpc>
              <a:spcBef>
                <a:spcPts val="0"/>
              </a:spcBef>
              <a:buFont typeface="+mj-lt"/>
              <a:buAutoNum type="arabicPeriod"/>
            </a:pP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Symbol Tables for the required tokens.</a:t>
            </a:r>
            <a:endParaRPr lang="en-MX"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28100" lvl="1" indent="-342900">
              <a:lnSpc>
                <a:spcPct val="100000"/>
              </a:lnSpc>
              <a:spcBef>
                <a:spcPts val="0"/>
              </a:spcBef>
              <a:buFont typeface="+mj-lt"/>
              <a:buAutoNum type="arabicPeriod"/>
            </a:pP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Implementation of the Scanner using UNIX-lex.</a:t>
            </a:r>
            <a:endParaRPr lang="en-MX"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28100" lvl="1" indent="-342900">
              <a:lnSpc>
                <a:spcPct val="100000"/>
              </a:lnSpc>
              <a:spcBef>
                <a:spcPts val="0"/>
              </a:spcBef>
              <a:buFont typeface="+mj-lt"/>
              <a:buAutoNum type="arabicPeriod"/>
            </a:pP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Example of the Scanner Outputs.</a:t>
            </a:r>
          </a:p>
          <a:p>
            <a:pPr marL="0" lvl="0" indent="0">
              <a:lnSpc>
                <a:spcPct val="100000"/>
              </a:lnSpc>
              <a:spcBef>
                <a:spcPts val="0"/>
              </a:spcBef>
              <a:buNone/>
            </a:pPr>
            <a:endParaRPr lang="en-MX"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00000"/>
              </a:lnSpc>
              <a:spcBef>
                <a:spcPts val="0"/>
              </a:spcBef>
              <a:buFont typeface="+mj-lt"/>
              <a:buAutoNum type="alphaLcParenR" startAt="3"/>
            </a:pPr>
            <a:r>
              <a:rPr lang="en-US" sz="1400" b="1" u="sng" dirty="0">
                <a:effectLst/>
                <a:latin typeface="Times New Roman" panose="02020603050405020304" pitchFamily="18" charset="0"/>
                <a:ea typeface="Times New Roman" panose="02020603050405020304" pitchFamily="18" charset="0"/>
                <a:cs typeface="Times New Roman" panose="02020603050405020304" pitchFamily="18" charset="0"/>
              </a:rPr>
              <a:t>RESTRICTIONS:</a:t>
            </a:r>
          </a:p>
          <a:p>
            <a:pPr marL="342900" lvl="0" indent="-342900">
              <a:lnSpc>
                <a:spcPct val="100000"/>
              </a:lnSpc>
              <a:spcBef>
                <a:spcPts val="0"/>
              </a:spcBef>
              <a:buFont typeface="+mj-lt"/>
              <a:buAutoNum type="alphaLcParenR" startAt="3"/>
            </a:pPr>
            <a:endParaRPr lang="en-MX" sz="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56100" lvl="1" indent="-342900">
              <a:lnSpc>
                <a:spcPct val="100000"/>
              </a:lnSpc>
              <a:spcBef>
                <a:spcPts val="0"/>
              </a:spcBef>
              <a:buFont typeface="+mj-lt"/>
              <a:buAutoNum type="arabicPeriod"/>
            </a:pPr>
            <a:r>
              <a:rPr lang="en-US" sz="1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The scanner </a:t>
            </a:r>
            <a:r>
              <a:rPr lang="en-US" sz="1400" b="1" u="sng"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MUST</a:t>
            </a:r>
            <a:r>
              <a:rPr lang="en-US" sz="14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be implemented using </a:t>
            </a:r>
            <a:r>
              <a:rPr lang="en-US" sz="14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lex</a:t>
            </a:r>
            <a:r>
              <a:rPr lang="en-US" sz="1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as seen in class.</a:t>
            </a:r>
          </a:p>
          <a:p>
            <a:pPr marL="656100" lvl="1" indent="-342900">
              <a:lnSpc>
                <a:spcPct val="100000"/>
              </a:lnSpc>
              <a:spcBef>
                <a:spcPts val="0"/>
              </a:spcBef>
              <a:buFont typeface="+mj-lt"/>
              <a:buAutoNum type="arabicPeriod"/>
            </a:pPr>
            <a:r>
              <a:rPr lang="en-US" sz="1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The scanner </a:t>
            </a:r>
            <a:r>
              <a:rPr lang="en-US" sz="1400" b="1" u="sng"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CAN NOT</a:t>
            </a:r>
            <a:r>
              <a:rPr lang="en-US" sz="14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be implemented by using any kind of </a:t>
            </a:r>
            <a:r>
              <a:rPr lang="en-US" sz="1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Regular Expressions Libraries</a:t>
            </a:r>
            <a:r>
              <a:rPr lang="en-US"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or </a:t>
            </a:r>
            <a:r>
              <a:rPr lang="en-US" sz="1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APIs</a:t>
            </a:r>
            <a:r>
              <a:rPr lang="en-US"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native to the programming language used to develop the project. </a:t>
            </a:r>
          </a:p>
          <a:p>
            <a:pPr marL="656100" lvl="1" indent="-342900">
              <a:lnSpc>
                <a:spcPct val="100000"/>
              </a:lnSpc>
              <a:spcBef>
                <a:spcPts val="0"/>
              </a:spcBef>
              <a:buFont typeface="+mj-lt"/>
              <a:buAutoNum type="arabicPeriod"/>
            </a:pPr>
            <a:r>
              <a:rPr lang="en-US" sz="1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You </a:t>
            </a:r>
            <a:r>
              <a:rPr lang="en-US" sz="1400" b="1" u="sng"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CAN NOT</a:t>
            </a:r>
            <a:r>
              <a:rPr lang="en-US" sz="14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ea typeface="Times New Roman" panose="02020603050405020304" pitchFamily="18" charset="0"/>
                <a:cs typeface="Times New Roman" panose="02020603050405020304" pitchFamily="18" charset="0"/>
              </a:rPr>
              <a:t>use Python's </a:t>
            </a:r>
            <a:r>
              <a:rPr lang="en-US" sz="1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built-in ast </a:t>
            </a:r>
            <a:r>
              <a:rPr lang="en-US" sz="1400" dirty="0">
                <a:latin typeface="Times New Roman" panose="02020603050405020304" pitchFamily="18" charset="0"/>
                <a:ea typeface="Times New Roman" panose="02020603050405020304" pitchFamily="18" charset="0"/>
                <a:cs typeface="Times New Roman" panose="02020603050405020304" pitchFamily="18" charset="0"/>
              </a:rPr>
              <a:t>module</a:t>
            </a:r>
            <a:endParaRPr lang="en-MX" sz="1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E0618D98-820E-2A12-A4D9-B3D596008BED}"/>
              </a:ext>
            </a:extLst>
          </p:cNvPr>
          <p:cNvSpPr>
            <a:spLocks noGrp="1"/>
          </p:cNvSpPr>
          <p:nvPr>
            <p:ph type="sldNum" sz="quarter" idx="12"/>
          </p:nvPr>
        </p:nvSpPr>
        <p:spPr/>
        <p:txBody>
          <a:bodyPr/>
          <a:lstStyle/>
          <a:p>
            <a:fld id="{87BA9580-FE5B-E14E-B782-A387CF7F7228}" type="slidenum">
              <a:rPr lang="en-MX" smtClean="0"/>
              <a:t>5</a:t>
            </a:fld>
            <a:endParaRPr lang="en-MX"/>
          </a:p>
        </p:txBody>
      </p:sp>
      <p:sp>
        <p:nvSpPr>
          <p:cNvPr id="4" name="Rectangle 3">
            <a:extLst>
              <a:ext uri="{FF2B5EF4-FFF2-40B4-BE49-F238E27FC236}">
                <a16:creationId xmlns:a16="http://schemas.microsoft.com/office/drawing/2014/main" id="{507E3D28-226C-0D51-4595-276C6837A777}"/>
              </a:ext>
            </a:extLst>
          </p:cNvPr>
          <p:cNvSpPr/>
          <p:nvPr/>
        </p:nvSpPr>
        <p:spPr>
          <a:xfrm>
            <a:off x="251520" y="242578"/>
            <a:ext cx="8579296" cy="461665"/>
          </a:xfrm>
          <a:prstGeom prst="rect">
            <a:avLst/>
          </a:prstGeom>
        </p:spPr>
        <p:txBody>
          <a:bodyPr wrap="square">
            <a:spAutoFit/>
          </a:bodyPr>
          <a:lstStyle/>
          <a:p>
            <a:pPr marL="514350" lvl="0" indent="-514350">
              <a:buFont typeface="+mj-lt"/>
              <a:buAutoNum type="romanUcPeriod" startAt="3"/>
            </a:pPr>
            <a:r>
              <a:rPr lang="en-US" sz="2400" b="1" u="sng" dirty="0">
                <a:latin typeface="Calibri" panose="020F0502020204030204" pitchFamily="34" charset="0"/>
                <a:ea typeface="Calibri" panose="020F0502020204030204" pitchFamily="34" charset="0"/>
                <a:cs typeface="Times New Roman" panose="02020603050405020304" pitchFamily="18" charset="0"/>
              </a:rPr>
              <a:t>Project Outcomes</a:t>
            </a:r>
            <a:r>
              <a:rPr lang="en-US" sz="2400" b="1" dirty="0">
                <a:latin typeface="Calibri" panose="020F0502020204030204" pitchFamily="34" charset="0"/>
                <a:ea typeface="Calibri" panose="020F0502020204030204" pitchFamily="34" charset="0"/>
                <a:cs typeface="Times New Roman" panose="02020603050405020304" pitchFamily="18" charset="0"/>
              </a:rPr>
              <a:t>:</a:t>
            </a:r>
            <a:endParaRPr lang="en-US" dirty="0">
              <a:latin typeface="Calibri" panose="020F0502020204030204" pitchFamily="34" charset="0"/>
              <a:ea typeface="Calibri" panose="020F0502020204030204" pitchFamily="34" charset="0"/>
              <a:cs typeface="Symbol" pitchFamily="2" charset="2"/>
            </a:endParaRPr>
          </a:p>
        </p:txBody>
      </p:sp>
    </p:spTree>
    <p:extLst>
      <p:ext uri="{BB962C8B-B14F-4D97-AF65-F5344CB8AC3E}">
        <p14:creationId xmlns:p14="http://schemas.microsoft.com/office/powerpoint/2010/main" val="116212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B04895F-1F3A-C736-DEFE-E486B0D0B4C0}"/>
              </a:ext>
            </a:extLst>
          </p:cNvPr>
          <p:cNvSpPr>
            <a:spLocks noGrp="1"/>
          </p:cNvSpPr>
          <p:nvPr>
            <p:ph idx="1"/>
          </p:nvPr>
        </p:nvSpPr>
        <p:spPr>
          <a:xfrm>
            <a:off x="626365" y="145950"/>
            <a:ext cx="7631722" cy="463650"/>
          </a:xfrm>
        </p:spPr>
        <p:txBody>
          <a:bodyPr anchor="ctr">
            <a:normAutofit/>
          </a:bodyPr>
          <a:lstStyle/>
          <a:p>
            <a:pPr marL="615600" lvl="0" indent="-651600">
              <a:buFont typeface="+mj-lt"/>
              <a:buAutoNum type="romanUcPeriod" startAt="4"/>
            </a:pPr>
            <a:r>
              <a:rPr lang="en-US" b="1" u="sng" dirty="0">
                <a:effectLst/>
                <a:latin typeface="Times"/>
                <a:ea typeface="Times New Roman" panose="02020603050405020304" pitchFamily="18" charset="0"/>
                <a:cs typeface="Times New Roman" panose="02020603050405020304" pitchFamily="18" charset="0"/>
              </a:rPr>
              <a:t>Scanner Software Evaluation Metrics</a:t>
            </a:r>
            <a:endParaRPr lang="en-MX"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E0618D98-820E-2A12-A4D9-B3D596008BED}"/>
              </a:ext>
            </a:extLst>
          </p:cNvPr>
          <p:cNvSpPr>
            <a:spLocks noGrp="1"/>
          </p:cNvSpPr>
          <p:nvPr>
            <p:ph type="sldNum" sz="quarter" idx="12"/>
          </p:nvPr>
        </p:nvSpPr>
        <p:spPr>
          <a:xfrm>
            <a:off x="6457950" y="6356350"/>
            <a:ext cx="2057400" cy="365125"/>
          </a:xfrm>
        </p:spPr>
        <p:txBody>
          <a:bodyPr>
            <a:normAutofit/>
          </a:bodyPr>
          <a:lstStyle/>
          <a:p>
            <a:pPr>
              <a:spcAft>
                <a:spcPts val="600"/>
              </a:spcAft>
            </a:pPr>
            <a:fld id="{87BA9580-FE5B-E14E-B782-A387CF7F7228}" type="slidenum">
              <a:rPr lang="en-MX" smtClean="0"/>
              <a:pPr>
                <a:spcAft>
                  <a:spcPts val="600"/>
                </a:spcAft>
              </a:pPr>
              <a:t>6</a:t>
            </a:fld>
            <a:endParaRPr lang="en-MX"/>
          </a:p>
        </p:txBody>
      </p:sp>
      <p:graphicFrame>
        <p:nvGraphicFramePr>
          <p:cNvPr id="4" name="Table 3">
            <a:extLst>
              <a:ext uri="{FF2B5EF4-FFF2-40B4-BE49-F238E27FC236}">
                <a16:creationId xmlns:a16="http://schemas.microsoft.com/office/drawing/2014/main" id="{623A990B-500F-B781-FF7E-FA02A8C236DC}"/>
              </a:ext>
            </a:extLst>
          </p:cNvPr>
          <p:cNvGraphicFramePr>
            <a:graphicFrameLocks noGrp="1"/>
          </p:cNvGraphicFramePr>
          <p:nvPr>
            <p:extLst>
              <p:ext uri="{D42A27DB-BD31-4B8C-83A1-F6EECF244321}">
                <p14:modId xmlns:p14="http://schemas.microsoft.com/office/powerpoint/2010/main" val="1170268244"/>
              </p:ext>
            </p:extLst>
          </p:nvPr>
        </p:nvGraphicFramePr>
        <p:xfrm>
          <a:off x="52848" y="755550"/>
          <a:ext cx="9036017" cy="5131501"/>
        </p:xfrm>
        <a:graphic>
          <a:graphicData uri="http://schemas.openxmlformats.org/drawingml/2006/table">
            <a:tbl>
              <a:tblPr/>
              <a:tblGrid>
                <a:gridCol w="1068270">
                  <a:extLst>
                    <a:ext uri="{9D8B030D-6E8A-4147-A177-3AD203B41FA5}">
                      <a16:colId xmlns:a16="http://schemas.microsoft.com/office/drawing/2014/main" val="1060334631"/>
                    </a:ext>
                  </a:extLst>
                </a:gridCol>
                <a:gridCol w="2116183">
                  <a:extLst>
                    <a:ext uri="{9D8B030D-6E8A-4147-A177-3AD203B41FA5}">
                      <a16:colId xmlns:a16="http://schemas.microsoft.com/office/drawing/2014/main" val="1461187006"/>
                    </a:ext>
                  </a:extLst>
                </a:gridCol>
                <a:gridCol w="1367245">
                  <a:extLst>
                    <a:ext uri="{9D8B030D-6E8A-4147-A177-3AD203B41FA5}">
                      <a16:colId xmlns:a16="http://schemas.microsoft.com/office/drawing/2014/main" val="3007132044"/>
                    </a:ext>
                  </a:extLst>
                </a:gridCol>
                <a:gridCol w="1175658">
                  <a:extLst>
                    <a:ext uri="{9D8B030D-6E8A-4147-A177-3AD203B41FA5}">
                      <a16:colId xmlns:a16="http://schemas.microsoft.com/office/drawing/2014/main" val="566022523"/>
                    </a:ext>
                  </a:extLst>
                </a:gridCol>
                <a:gridCol w="664322">
                  <a:extLst>
                    <a:ext uri="{9D8B030D-6E8A-4147-A177-3AD203B41FA5}">
                      <a16:colId xmlns:a16="http://schemas.microsoft.com/office/drawing/2014/main" val="1065336762"/>
                    </a:ext>
                  </a:extLst>
                </a:gridCol>
                <a:gridCol w="763287">
                  <a:extLst>
                    <a:ext uri="{9D8B030D-6E8A-4147-A177-3AD203B41FA5}">
                      <a16:colId xmlns:a16="http://schemas.microsoft.com/office/drawing/2014/main" val="2048669041"/>
                    </a:ext>
                  </a:extLst>
                </a:gridCol>
                <a:gridCol w="1358537">
                  <a:extLst>
                    <a:ext uri="{9D8B030D-6E8A-4147-A177-3AD203B41FA5}">
                      <a16:colId xmlns:a16="http://schemas.microsoft.com/office/drawing/2014/main" val="2013876738"/>
                    </a:ext>
                  </a:extLst>
                </a:gridCol>
                <a:gridCol w="522515">
                  <a:extLst>
                    <a:ext uri="{9D8B030D-6E8A-4147-A177-3AD203B41FA5}">
                      <a16:colId xmlns:a16="http://schemas.microsoft.com/office/drawing/2014/main" val="1731280465"/>
                    </a:ext>
                  </a:extLst>
                </a:gridCol>
              </a:tblGrid>
              <a:tr h="206283">
                <a:tc>
                  <a:txBody>
                    <a:bodyPr/>
                    <a:lstStyle/>
                    <a:p>
                      <a:pPr algn="l" fontAlgn="t">
                        <a:spcBef>
                          <a:spcPts val="0"/>
                        </a:spcBef>
                        <a:spcAft>
                          <a:spcPts val="0"/>
                        </a:spcAft>
                      </a:pPr>
                      <a:r>
                        <a:rPr lang="en-US" sz="1000" b="0" i="0" u="none" strike="noStrike">
                          <a:effectLst/>
                          <a:latin typeface="Times New Roman" panose="02020603050405020304" pitchFamily="18" charset="0"/>
                          <a:ea typeface="Times New Roman" panose="02020603050405020304" pitchFamily="18" charset="0"/>
                        </a:rPr>
                        <a:t> </a:t>
                      </a:r>
                      <a:endParaRPr lang="en-US" sz="1000" b="0" i="0" u="none" strike="noStrike">
                        <a:effectLst/>
                        <a:latin typeface="Arial" panose="020B0604020202020204" pitchFamily="34" charset="0"/>
                      </a:endParaRPr>
                    </a:p>
                  </a:txBody>
                  <a:tcPr marL="32699" marR="32699" marT="7007" marB="0">
                    <a:lnL>
                      <a:noFill/>
                    </a:lnL>
                    <a:lnR>
                      <a:noFill/>
                    </a:lnR>
                    <a:lnT>
                      <a:noFill/>
                    </a:lnT>
                    <a:lnB w="12700" cap="flat" cmpd="sng" algn="ctr">
                      <a:solidFill>
                        <a:srgbClr val="000000"/>
                      </a:solidFill>
                      <a:prstDash val="solid"/>
                      <a:round/>
                      <a:headEnd type="none" w="med" len="med"/>
                      <a:tailEnd type="none" w="med" len="med"/>
                    </a:lnB>
                  </a:tcPr>
                </a:tc>
                <a:tc gridSpan="7">
                  <a:txBody>
                    <a:bodyPr/>
                    <a:lstStyle/>
                    <a:p>
                      <a:pPr algn="ctr" fontAlgn="t">
                        <a:spcBef>
                          <a:spcPts val="0"/>
                        </a:spcBef>
                        <a:spcAft>
                          <a:spcPts val="0"/>
                        </a:spcAft>
                      </a:pPr>
                      <a:r>
                        <a:rPr lang="en-US" sz="1000" b="1" i="0" u="none" strike="noStrike">
                          <a:solidFill>
                            <a:srgbClr val="0000FF"/>
                          </a:solidFill>
                          <a:effectLst/>
                          <a:latin typeface="Times New Roman" panose="02020603050405020304" pitchFamily="18" charset="0"/>
                          <a:ea typeface="Times New Roman" panose="02020603050405020304" pitchFamily="18" charset="0"/>
                        </a:rPr>
                        <a:t>Points</a:t>
                      </a:r>
                      <a:endParaRPr lang="en-US" sz="1000" b="0" i="0" u="none" strike="noStrike">
                        <a:effectLst/>
                        <a:latin typeface="Arial" panose="020B0604020202020204" pitchFamily="34" charset="0"/>
                      </a:endParaRPr>
                    </a:p>
                  </a:txBody>
                  <a:tcPr marL="67266" marR="67266" marT="33633" marB="33633">
                    <a:lnL>
                      <a:noFill/>
                    </a:lnL>
                    <a:lnR>
                      <a:noFill/>
                    </a:lnR>
                    <a:lnT>
                      <a:noFill/>
                    </a:lnT>
                    <a:lnB w="12700" cap="flat" cmpd="sng" algn="ctr">
                      <a:solidFill>
                        <a:srgbClr val="000000"/>
                      </a:solidFill>
                      <a:prstDash val="solid"/>
                      <a:round/>
                      <a:headEnd type="none" w="med" len="med"/>
                      <a:tailEnd type="none" w="med" len="med"/>
                    </a:lnB>
                  </a:tcPr>
                </a:tc>
                <a:tc hMerge="1">
                  <a:txBody>
                    <a:bodyPr/>
                    <a:lstStyle/>
                    <a:p>
                      <a:endParaRPr lang="en-MX"/>
                    </a:p>
                  </a:txBody>
                  <a:tcPr/>
                </a:tc>
                <a:tc hMerge="1">
                  <a:txBody>
                    <a:bodyPr/>
                    <a:lstStyle/>
                    <a:p>
                      <a:endParaRPr lang="en-MX"/>
                    </a:p>
                  </a:txBody>
                  <a:tcPr/>
                </a:tc>
                <a:tc hMerge="1">
                  <a:txBody>
                    <a:bodyPr/>
                    <a:lstStyle/>
                    <a:p>
                      <a:endParaRPr lang="en-MX"/>
                    </a:p>
                  </a:txBody>
                  <a:tcPr/>
                </a:tc>
                <a:tc hMerge="1">
                  <a:txBody>
                    <a:bodyPr/>
                    <a:lstStyle/>
                    <a:p>
                      <a:endParaRPr lang="en-MX"/>
                    </a:p>
                  </a:txBody>
                  <a:tcPr/>
                </a:tc>
                <a:tc hMerge="1">
                  <a:txBody>
                    <a:bodyPr/>
                    <a:lstStyle/>
                    <a:p>
                      <a:endParaRPr lang="en-MX"/>
                    </a:p>
                  </a:txBody>
                  <a:tcPr/>
                </a:tc>
                <a:tc hMerge="1">
                  <a:txBody>
                    <a:bodyPr/>
                    <a:lstStyle/>
                    <a:p>
                      <a:endParaRPr lang="en-MX"/>
                    </a:p>
                  </a:txBody>
                  <a:tcPr/>
                </a:tc>
                <a:extLst>
                  <a:ext uri="{0D108BD9-81ED-4DB2-BD59-A6C34878D82A}">
                    <a16:rowId xmlns:a16="http://schemas.microsoft.com/office/drawing/2014/main" val="2879555111"/>
                  </a:ext>
                </a:extLst>
              </a:tr>
              <a:tr h="146024">
                <a:tc>
                  <a:txBody>
                    <a:bodyPr/>
                    <a:lstStyle/>
                    <a:p>
                      <a:pPr algn="ctr" fontAlgn="t">
                        <a:spcBef>
                          <a:spcPts val="0"/>
                        </a:spcBef>
                        <a:spcAft>
                          <a:spcPts val="0"/>
                        </a:spcAft>
                      </a:pPr>
                      <a:r>
                        <a:rPr lang="en-US" sz="1000" b="1" i="0" u="none" strike="noStrike">
                          <a:solidFill>
                            <a:srgbClr val="FFFFFF"/>
                          </a:solidFill>
                          <a:effectLst/>
                          <a:latin typeface="Times New Roman" panose="02020603050405020304" pitchFamily="18" charset="0"/>
                          <a:ea typeface="Times New Roman" panose="02020603050405020304" pitchFamily="18" charset="0"/>
                        </a:rPr>
                        <a:t>Aspect</a:t>
                      </a:r>
                      <a:endParaRPr lang="en-US" sz="1000" b="0" i="0" u="none" strike="noStrike">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33333"/>
                    </a:solidFill>
                  </a:tcPr>
                </a:tc>
                <a:tc>
                  <a:txBody>
                    <a:bodyPr/>
                    <a:lstStyle/>
                    <a:p>
                      <a:pPr algn="ctr" fontAlgn="t">
                        <a:spcBef>
                          <a:spcPts val="0"/>
                        </a:spcBef>
                        <a:spcAft>
                          <a:spcPts val="0"/>
                        </a:spcAft>
                      </a:pPr>
                      <a:r>
                        <a:rPr lang="en-US" sz="1000" b="1" i="0" u="none" strike="noStrike">
                          <a:solidFill>
                            <a:srgbClr val="FFFFFF"/>
                          </a:solidFill>
                          <a:effectLst/>
                          <a:latin typeface="Times New Roman" panose="02020603050405020304" pitchFamily="18" charset="0"/>
                          <a:ea typeface="Times New Roman" panose="02020603050405020304" pitchFamily="18" charset="0"/>
                        </a:rPr>
                        <a:t>100</a:t>
                      </a:r>
                      <a:endParaRPr lang="en-US" sz="1000" b="0" i="0" u="none" strike="noStrike">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33333"/>
                    </a:solidFill>
                  </a:tcPr>
                </a:tc>
                <a:tc>
                  <a:txBody>
                    <a:bodyPr/>
                    <a:lstStyle/>
                    <a:p>
                      <a:pPr algn="ctr" fontAlgn="t">
                        <a:spcBef>
                          <a:spcPts val="0"/>
                        </a:spcBef>
                        <a:spcAft>
                          <a:spcPts val="0"/>
                        </a:spcAft>
                      </a:pPr>
                      <a:r>
                        <a:rPr lang="en-US" sz="1000" b="1" i="0" u="none" strike="noStrike" dirty="0">
                          <a:solidFill>
                            <a:srgbClr val="FFFFFF"/>
                          </a:solidFill>
                          <a:effectLst/>
                          <a:latin typeface="Times New Roman" panose="02020603050405020304" pitchFamily="18" charset="0"/>
                          <a:ea typeface="Times New Roman" panose="02020603050405020304" pitchFamily="18" charset="0"/>
                        </a:rPr>
                        <a:t>80</a:t>
                      </a:r>
                      <a:endParaRPr lang="en-US" sz="1000" b="0" i="0" u="none" strike="noStrike" dirty="0">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33333"/>
                    </a:solidFill>
                  </a:tcPr>
                </a:tc>
                <a:tc>
                  <a:txBody>
                    <a:bodyPr/>
                    <a:lstStyle/>
                    <a:p>
                      <a:pPr algn="ctr" fontAlgn="t">
                        <a:spcBef>
                          <a:spcPts val="0"/>
                        </a:spcBef>
                        <a:spcAft>
                          <a:spcPts val="0"/>
                        </a:spcAft>
                      </a:pPr>
                      <a:r>
                        <a:rPr lang="en-US" sz="1000" b="1" i="0" u="none" strike="noStrike">
                          <a:solidFill>
                            <a:srgbClr val="FFFFFF"/>
                          </a:solidFill>
                          <a:effectLst/>
                          <a:latin typeface="Times New Roman" panose="02020603050405020304" pitchFamily="18" charset="0"/>
                          <a:ea typeface="Times New Roman" panose="02020603050405020304" pitchFamily="18" charset="0"/>
                        </a:rPr>
                        <a:t>60</a:t>
                      </a:r>
                      <a:endParaRPr lang="en-US" sz="1000" b="0" i="0" u="none" strike="noStrike">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33333"/>
                    </a:solidFill>
                  </a:tcPr>
                </a:tc>
                <a:tc>
                  <a:txBody>
                    <a:bodyPr/>
                    <a:lstStyle/>
                    <a:p>
                      <a:pPr algn="ctr" fontAlgn="t">
                        <a:spcBef>
                          <a:spcPts val="0"/>
                        </a:spcBef>
                        <a:spcAft>
                          <a:spcPts val="0"/>
                        </a:spcAft>
                      </a:pPr>
                      <a:r>
                        <a:rPr lang="en-US" sz="1000" b="1" i="0" u="none" strike="noStrike">
                          <a:solidFill>
                            <a:srgbClr val="FFFFFF"/>
                          </a:solidFill>
                          <a:effectLst/>
                          <a:latin typeface="Times New Roman" panose="02020603050405020304" pitchFamily="18" charset="0"/>
                          <a:ea typeface="Times New Roman" panose="02020603050405020304" pitchFamily="18" charset="0"/>
                        </a:rPr>
                        <a:t>40</a:t>
                      </a:r>
                      <a:endParaRPr lang="en-US" sz="1000" b="0" i="0" u="none" strike="noStrike">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33333"/>
                    </a:solidFill>
                  </a:tcPr>
                </a:tc>
                <a:tc>
                  <a:txBody>
                    <a:bodyPr/>
                    <a:lstStyle/>
                    <a:p>
                      <a:pPr algn="ctr" fontAlgn="t">
                        <a:spcBef>
                          <a:spcPts val="0"/>
                        </a:spcBef>
                        <a:spcAft>
                          <a:spcPts val="0"/>
                        </a:spcAft>
                      </a:pPr>
                      <a:r>
                        <a:rPr lang="en-US" sz="1000" b="1" i="0" u="none" strike="noStrike">
                          <a:solidFill>
                            <a:srgbClr val="FFFFFF"/>
                          </a:solidFill>
                          <a:effectLst/>
                          <a:latin typeface="Times New Roman" panose="02020603050405020304" pitchFamily="18" charset="0"/>
                          <a:ea typeface="Times New Roman" panose="02020603050405020304" pitchFamily="18" charset="0"/>
                        </a:rPr>
                        <a:t>20</a:t>
                      </a:r>
                      <a:endParaRPr lang="en-US" sz="1000" b="0" i="0" u="none" strike="noStrike">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33333"/>
                    </a:solidFill>
                  </a:tcPr>
                </a:tc>
                <a:tc>
                  <a:txBody>
                    <a:bodyPr/>
                    <a:lstStyle/>
                    <a:p>
                      <a:pPr algn="ctr" fontAlgn="t">
                        <a:spcBef>
                          <a:spcPts val="0"/>
                        </a:spcBef>
                        <a:spcAft>
                          <a:spcPts val="0"/>
                        </a:spcAft>
                      </a:pPr>
                      <a:r>
                        <a:rPr lang="en-US" sz="1000" b="1" i="0" u="none" strike="noStrike">
                          <a:solidFill>
                            <a:srgbClr val="FFFFFF"/>
                          </a:solidFill>
                          <a:effectLst/>
                          <a:latin typeface="Times New Roman" panose="02020603050405020304" pitchFamily="18" charset="0"/>
                          <a:ea typeface="Times New Roman" panose="02020603050405020304" pitchFamily="18" charset="0"/>
                        </a:rPr>
                        <a:t>0</a:t>
                      </a:r>
                      <a:endParaRPr lang="en-US" sz="1000" b="0" i="0" u="none" strike="noStrike">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33333"/>
                    </a:solidFill>
                  </a:tcPr>
                </a:tc>
                <a:tc>
                  <a:txBody>
                    <a:bodyPr/>
                    <a:lstStyle/>
                    <a:p>
                      <a:pPr algn="ctr" fontAlgn="t">
                        <a:spcBef>
                          <a:spcPts val="0"/>
                        </a:spcBef>
                        <a:spcAft>
                          <a:spcPts val="0"/>
                        </a:spcAft>
                      </a:pPr>
                      <a:r>
                        <a:rPr lang="en-US" sz="1000" b="1" i="0" u="none" strike="noStrike">
                          <a:solidFill>
                            <a:srgbClr val="FFFFFF"/>
                          </a:solidFill>
                          <a:effectLst/>
                          <a:latin typeface="Times New Roman" panose="02020603050405020304" pitchFamily="18" charset="0"/>
                          <a:ea typeface="Times New Roman" panose="02020603050405020304" pitchFamily="18" charset="0"/>
                        </a:rPr>
                        <a:t>Weight</a:t>
                      </a:r>
                      <a:endParaRPr lang="en-US" sz="1000" b="0" i="0" u="none" strike="noStrike">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33333"/>
                    </a:solidFill>
                  </a:tcPr>
                </a:tc>
                <a:extLst>
                  <a:ext uri="{0D108BD9-81ED-4DB2-BD59-A6C34878D82A}">
                    <a16:rowId xmlns:a16="http://schemas.microsoft.com/office/drawing/2014/main" val="2176952047"/>
                  </a:ext>
                </a:extLst>
              </a:tr>
              <a:tr h="930793">
                <a:tc>
                  <a:txBody>
                    <a:bodyPr/>
                    <a:lstStyle/>
                    <a:p>
                      <a:pPr algn="l" fontAlgn="t">
                        <a:spcBef>
                          <a:spcPts val="0"/>
                        </a:spcBef>
                        <a:spcAft>
                          <a:spcPts val="0"/>
                        </a:spcAft>
                      </a:pPr>
                      <a:r>
                        <a:rPr lang="en-US" sz="1000" b="0" i="0" u="none" strike="noStrike">
                          <a:solidFill>
                            <a:srgbClr val="000000"/>
                          </a:solidFill>
                          <a:effectLst/>
                          <a:latin typeface="Times New Roman" panose="02020603050405020304" pitchFamily="18" charset="0"/>
                          <a:ea typeface="Times New Roman" panose="02020603050405020304" pitchFamily="18" charset="0"/>
                        </a:rPr>
                        <a:t>Software Complies with Requirements</a:t>
                      </a:r>
                      <a:endParaRPr lang="en-US" sz="1000" b="0" i="0" u="none" strike="noStrike">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C0C0"/>
                    </a:solidFill>
                  </a:tcPr>
                </a:tc>
                <a:tc>
                  <a:txBody>
                    <a:bodyPr/>
                    <a:lstStyle/>
                    <a:p>
                      <a:pPr marL="167472" indent="-167472" algn="l" fontAlgn="t">
                        <a:spcBef>
                          <a:spcPts val="0"/>
                        </a:spcBef>
                        <a:spcAft>
                          <a:spcPts val="0"/>
                        </a:spcAft>
                        <a:buClrTx/>
                        <a:buSzPts val="1000"/>
                        <a:buFont typeface="+mj-lt"/>
                        <a:buAutoNum type="arabicPeriod"/>
                        <a:tabLst>
                          <a:tab pos="228600" algn="l"/>
                        </a:tabLst>
                      </a:pPr>
                      <a:r>
                        <a:rPr lang="en-US" sz="1000" b="0" i="0" u="none" strike="noStrike" dirty="0">
                          <a:solidFill>
                            <a:srgbClr val="000000"/>
                          </a:solidFill>
                          <a:effectLst/>
                          <a:latin typeface="Times New Roman" panose="02020603050405020304" pitchFamily="18" charset="0"/>
                          <a:ea typeface="Times New Roman" panose="02020603050405020304" pitchFamily="18" charset="0"/>
                        </a:rPr>
                        <a:t>Software runs.</a:t>
                      </a:r>
                      <a:endParaRPr lang="en-US" sz="1000" b="0" i="0" u="none" strike="noStrike" dirty="0">
                        <a:solidFill>
                          <a:schemeClr val="tx1"/>
                        </a:solidFill>
                        <a:effectLst/>
                        <a:latin typeface="Arial" panose="020B0604020202020204" pitchFamily="34" charset="0"/>
                        <a:ea typeface="+mn-ea"/>
                      </a:endParaRPr>
                    </a:p>
                    <a:p>
                      <a:pPr marL="167472" indent="-167472" algn="l" fontAlgn="t">
                        <a:spcBef>
                          <a:spcPts val="0"/>
                        </a:spcBef>
                        <a:spcAft>
                          <a:spcPts val="0"/>
                        </a:spcAft>
                        <a:buClrTx/>
                        <a:buSzPts val="1000"/>
                        <a:buFont typeface="+mj-lt"/>
                        <a:buAutoNum type="arabicPeriod"/>
                        <a:tabLst>
                          <a:tab pos="228600" algn="l"/>
                        </a:tabLst>
                      </a:pPr>
                      <a:r>
                        <a:rPr lang="en-US" sz="1000" b="0" i="0" u="none" strike="noStrike" dirty="0">
                          <a:solidFill>
                            <a:srgbClr val="000000"/>
                          </a:solidFill>
                          <a:effectLst/>
                          <a:latin typeface="Times New Roman" panose="02020603050405020304" pitchFamily="18" charset="0"/>
                          <a:ea typeface="Times New Roman" panose="02020603050405020304" pitchFamily="18" charset="0"/>
                        </a:rPr>
                        <a:t>Scanner recognizes all tokens.</a:t>
                      </a:r>
                      <a:endParaRPr lang="en-US" sz="1000" b="0" i="0" u="none" strike="noStrike" dirty="0">
                        <a:solidFill>
                          <a:schemeClr val="tx1"/>
                        </a:solidFill>
                        <a:effectLst/>
                        <a:latin typeface="Arial" panose="020B0604020202020204" pitchFamily="34" charset="0"/>
                        <a:ea typeface="+mn-ea"/>
                      </a:endParaRPr>
                    </a:p>
                    <a:p>
                      <a:pPr marL="167472" indent="-167472" algn="l" fontAlgn="t">
                        <a:spcBef>
                          <a:spcPts val="0"/>
                        </a:spcBef>
                        <a:spcAft>
                          <a:spcPts val="0"/>
                        </a:spcAft>
                        <a:buClrTx/>
                        <a:buSzPts val="1000"/>
                        <a:buFont typeface="+mj-lt"/>
                        <a:buAutoNum type="arabicPeriod"/>
                        <a:tabLst>
                          <a:tab pos="228600" algn="l"/>
                        </a:tabLst>
                      </a:pPr>
                      <a:r>
                        <a:rPr lang="en-US" sz="1000" b="0" i="0" u="none" strike="noStrike" dirty="0">
                          <a:solidFill>
                            <a:srgbClr val="000000"/>
                          </a:solidFill>
                          <a:effectLst/>
                          <a:latin typeface="Times New Roman" panose="02020603050405020304" pitchFamily="18" charset="0"/>
                          <a:ea typeface="Times New Roman" panose="02020603050405020304" pitchFamily="18" charset="0"/>
                        </a:rPr>
                        <a:t>Scanner recognizes invalid symbols and provides the corresponding error message.</a:t>
                      </a:r>
                      <a:endParaRPr lang="en-US" sz="1000" b="0" i="0" u="none" strike="noStrike" dirty="0">
                        <a:solidFill>
                          <a:schemeClr val="tx1"/>
                        </a:solidFill>
                        <a:effectLst/>
                        <a:latin typeface="Arial" panose="020B0604020202020204" pitchFamily="34" charset="0"/>
                        <a:ea typeface="+mn-ea"/>
                      </a:endParaRPr>
                    </a:p>
                    <a:p>
                      <a:pPr marL="167472" indent="-167472" algn="l" fontAlgn="t">
                        <a:spcBef>
                          <a:spcPts val="0"/>
                        </a:spcBef>
                        <a:spcAft>
                          <a:spcPts val="0"/>
                        </a:spcAft>
                        <a:buClrTx/>
                        <a:buSzPts val="1000"/>
                        <a:buFont typeface="+mj-lt"/>
                        <a:buAutoNum type="arabicPeriod"/>
                        <a:tabLst>
                          <a:tab pos="228600" algn="l"/>
                        </a:tabLst>
                      </a:pPr>
                      <a:r>
                        <a:rPr lang="en-US" sz="1000" b="0" i="0" u="none" strike="noStrike" dirty="0">
                          <a:solidFill>
                            <a:srgbClr val="000000"/>
                          </a:solidFill>
                          <a:effectLst/>
                          <a:latin typeface="Times New Roman" panose="02020603050405020304" pitchFamily="18" charset="0"/>
                          <a:ea typeface="Times New Roman" panose="02020603050405020304" pitchFamily="18" charset="0"/>
                        </a:rPr>
                        <a:t>Lexical analyzer provides a list of tokens of the source file scanned.</a:t>
                      </a:r>
                      <a:endParaRPr lang="en-US" sz="1000" b="0" i="0" u="none" strike="noStrike" dirty="0">
                        <a:solidFill>
                          <a:schemeClr val="tx1"/>
                        </a:solidFill>
                        <a:effectLst/>
                        <a:latin typeface="Arial" panose="020B0604020202020204" pitchFamily="34" charset="0"/>
                        <a:ea typeface="+mn-ea"/>
                      </a:endParaRPr>
                    </a:p>
                    <a:p>
                      <a:pPr marL="167472" indent="-167472" algn="l" fontAlgn="t">
                        <a:spcBef>
                          <a:spcPts val="0"/>
                        </a:spcBef>
                        <a:spcAft>
                          <a:spcPts val="0"/>
                        </a:spcAft>
                        <a:buClrTx/>
                        <a:buSzPts val="1000"/>
                        <a:buFont typeface="+mj-lt"/>
                        <a:buAutoNum type="arabicPeriod"/>
                        <a:tabLst>
                          <a:tab pos="228600" algn="l"/>
                        </a:tabLst>
                      </a:pPr>
                      <a:r>
                        <a:rPr lang="en-US" sz="1000" b="0" i="0" u="none" strike="noStrike" dirty="0">
                          <a:solidFill>
                            <a:srgbClr val="000000"/>
                          </a:solidFill>
                          <a:effectLst/>
                          <a:latin typeface="Times New Roman" panose="02020603050405020304" pitchFamily="18" charset="0"/>
                          <a:ea typeface="Times New Roman" panose="02020603050405020304" pitchFamily="18" charset="0"/>
                        </a:rPr>
                        <a:t>Scanner provides the Symbol Table, for all valid Tokens.</a:t>
                      </a:r>
                      <a:endParaRPr lang="en-US" sz="1000" b="0" i="0" u="none" strike="noStrike" dirty="0">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spcBef>
                          <a:spcPts val="0"/>
                        </a:spcBef>
                        <a:spcAft>
                          <a:spcPts val="0"/>
                        </a:spcAft>
                      </a:pPr>
                      <a:r>
                        <a:rPr lang="en-US" sz="1000" b="0" i="0" u="none" strike="noStrike" dirty="0">
                          <a:effectLst/>
                          <a:latin typeface="Times New Roman" panose="02020603050405020304" pitchFamily="18" charset="0"/>
                          <a:ea typeface="Times New Roman" panose="02020603050405020304" pitchFamily="18" charset="0"/>
                        </a:rPr>
                        <a:t>Software runs and recognizes all tokens but does not comply with one of the other features.</a:t>
                      </a:r>
                      <a:endParaRPr lang="en-US" sz="1000" b="0" i="0" u="none" strike="noStrike" dirty="0">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spcBef>
                          <a:spcPts val="0"/>
                        </a:spcBef>
                        <a:spcAft>
                          <a:spcPts val="0"/>
                        </a:spcAft>
                      </a:pPr>
                      <a:r>
                        <a:rPr lang="en-US" sz="1000" b="0" i="0" u="none" strike="noStrike" dirty="0">
                          <a:effectLst/>
                          <a:latin typeface="Times New Roman" panose="02020603050405020304" pitchFamily="18" charset="0"/>
                          <a:ea typeface="Times New Roman" panose="02020603050405020304" pitchFamily="18" charset="0"/>
                        </a:rPr>
                        <a:t>Software runs and recognizes all tokens but does not comply with two or more of the other features.</a:t>
                      </a:r>
                      <a:endParaRPr lang="en-US" sz="1000" b="0" i="0" u="none" strike="noStrike" dirty="0">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spcBef>
                          <a:spcPts val="0"/>
                        </a:spcBef>
                        <a:spcAft>
                          <a:spcPts val="0"/>
                        </a:spcAft>
                      </a:pPr>
                      <a:r>
                        <a:rPr lang="en-US" sz="1000" b="0" i="0" u="none" strike="noStrike" dirty="0">
                          <a:effectLst/>
                          <a:latin typeface="Times New Roman" panose="02020603050405020304" pitchFamily="18" charset="0"/>
                          <a:ea typeface="Times New Roman" panose="02020603050405020304" pitchFamily="18" charset="0"/>
                        </a:rPr>
                        <a:t>Does not apply</a:t>
                      </a:r>
                      <a:endParaRPr lang="en-US" sz="1000" b="0" i="0" u="none" strike="noStrike" dirty="0">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spcBef>
                          <a:spcPts val="0"/>
                        </a:spcBef>
                        <a:spcAft>
                          <a:spcPts val="0"/>
                        </a:spcAft>
                      </a:pPr>
                      <a:r>
                        <a:rPr lang="en-US" sz="1000" b="0" i="0" u="none" strike="noStrike" dirty="0">
                          <a:effectLst/>
                          <a:latin typeface="Times New Roman" panose="02020603050405020304" pitchFamily="18" charset="0"/>
                          <a:ea typeface="Times New Roman" panose="02020603050405020304" pitchFamily="18" charset="0"/>
                        </a:rPr>
                        <a:t>Does not apply</a:t>
                      </a:r>
                      <a:endParaRPr lang="en-US" sz="1000" b="0" i="0" u="none" strike="noStrike" dirty="0">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spcBef>
                          <a:spcPts val="0"/>
                        </a:spcBef>
                        <a:spcAft>
                          <a:spcPts val="0"/>
                        </a:spcAft>
                      </a:pPr>
                      <a:r>
                        <a:rPr lang="en-US" sz="1000" b="0"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Software </a:t>
                      </a:r>
                      <a:r>
                        <a:rPr lang="en-US" sz="1000" b="1" i="0" u="none" strike="noStrike"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does not run</a:t>
                      </a:r>
                      <a:r>
                        <a:rPr lang="en-US" sz="1000" b="0"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 or failed to identify all tokens, or it was developed with </a:t>
                      </a:r>
                      <a:r>
                        <a:rPr lang="en-US" sz="1000" b="1" i="0" u="none" strike="noStrike"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API for RE</a:t>
                      </a:r>
                      <a:r>
                        <a:rPr lang="en-US" sz="1000" b="0"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000">
                          <a:effectLst/>
                          <a:latin typeface="Times New Roman" panose="02020603050405020304" pitchFamily="18" charset="0"/>
                          <a:cs typeface="Times New Roman" panose="02020603050405020304" pitchFamily="18" charset="0"/>
                        </a:rPr>
                        <a:t>or the implementation </a:t>
                      </a:r>
                      <a:r>
                        <a:rPr lang="en-US" sz="1000" b="1">
                          <a:solidFill>
                            <a:srgbClr val="FF0000"/>
                          </a:solidFill>
                          <a:effectLst/>
                          <a:latin typeface="Times New Roman" panose="02020603050405020304" pitchFamily="18" charset="0"/>
                          <a:cs typeface="Times New Roman" panose="02020603050405020304" pitchFamily="18" charset="0"/>
                        </a:rPr>
                        <a:t>does not </a:t>
                      </a:r>
                      <a:r>
                        <a:rPr lang="en-US" sz="1000">
                          <a:effectLst/>
                          <a:latin typeface="Times New Roman" panose="02020603050405020304" pitchFamily="18" charset="0"/>
                          <a:cs typeface="Times New Roman" panose="02020603050405020304" pitchFamily="18" charset="0"/>
                        </a:rPr>
                        <a:t>use </a:t>
                      </a:r>
                      <a:r>
                        <a:rPr lang="en-US" sz="1000" b="1">
                          <a:effectLst/>
                          <a:latin typeface="Times New Roman" panose="02020603050405020304" pitchFamily="18" charset="0"/>
                          <a:cs typeface="Times New Roman" panose="02020603050405020304" pitchFamily="18" charset="0"/>
                        </a:rPr>
                        <a:t>lex</a:t>
                      </a:r>
                      <a:r>
                        <a:rPr lang="en-US" sz="1000">
                          <a:effectLst/>
                          <a:latin typeface="Times New Roman" panose="02020603050405020304" pitchFamily="18" charset="0"/>
                          <a:cs typeface="Times New Roman" panose="02020603050405020304" pitchFamily="18" charset="0"/>
                        </a:rPr>
                        <a:t>.</a:t>
                      </a:r>
                      <a:endParaRPr lang="en-US" sz="1000" b="0" i="0" u="none" strike="noStrike" dirty="0">
                        <a:effectLst/>
                        <a:latin typeface="Times New Roman" panose="02020603050405020304" pitchFamily="18" charset="0"/>
                        <a:cs typeface="Times New Roman" panose="02020603050405020304" pitchFamily="18"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spcBef>
                          <a:spcPts val="0"/>
                        </a:spcBef>
                        <a:spcAft>
                          <a:spcPts val="0"/>
                        </a:spcAft>
                      </a:pPr>
                      <a:r>
                        <a:rPr lang="en-US" sz="1000" b="0" i="0" u="none" strike="noStrike">
                          <a:effectLst/>
                          <a:latin typeface="Times New Roman" panose="02020603050405020304" pitchFamily="18" charset="0"/>
                          <a:ea typeface="Times New Roman" panose="02020603050405020304" pitchFamily="18" charset="0"/>
                        </a:rPr>
                        <a:t>80</a:t>
                      </a:r>
                      <a:endParaRPr lang="en-US" sz="1000" b="0" i="0" u="none" strike="noStrike">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54836574"/>
                  </a:ext>
                </a:extLst>
              </a:tr>
              <a:tr h="1042902">
                <a:tc>
                  <a:txBody>
                    <a:bodyPr/>
                    <a:lstStyle/>
                    <a:p>
                      <a:pPr algn="l" fontAlgn="t">
                        <a:spcBef>
                          <a:spcPts val="0"/>
                        </a:spcBef>
                        <a:spcAft>
                          <a:spcPts val="0"/>
                        </a:spcAft>
                        <a:tabLst>
                          <a:tab pos="2743200" algn="ctr"/>
                          <a:tab pos="5486400" algn="r"/>
                          <a:tab pos="457200" algn="l"/>
                        </a:tabLst>
                      </a:pPr>
                      <a:r>
                        <a:rPr lang="en-US" sz="1000" b="0" i="0" u="none" strike="noStrike">
                          <a:solidFill>
                            <a:srgbClr val="000000"/>
                          </a:solidFill>
                          <a:effectLst/>
                          <a:latin typeface="Times New Roman" panose="02020603050405020304" pitchFamily="18" charset="0"/>
                          <a:ea typeface="Times New Roman" panose="02020603050405020304" pitchFamily="18" charset="0"/>
                        </a:rPr>
                        <a:t>Comments in Source Code</a:t>
                      </a:r>
                      <a:endParaRPr lang="en-US" sz="1000" b="0" i="0" u="none" strike="noStrike">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C0C0"/>
                    </a:solidFill>
                  </a:tcPr>
                </a:tc>
                <a:tc>
                  <a:txBody>
                    <a:bodyPr/>
                    <a:lstStyle/>
                    <a:p>
                      <a:pPr marL="167472" indent="-167472" algn="l" fontAlgn="t">
                        <a:spcBef>
                          <a:spcPts val="0"/>
                        </a:spcBef>
                        <a:spcAft>
                          <a:spcPts val="0"/>
                        </a:spcAft>
                        <a:buClrTx/>
                        <a:buSzPts val="1000"/>
                        <a:buFont typeface="+mj-lt"/>
                        <a:buAutoNum type="arabicPeriod"/>
                        <a:tabLst>
                          <a:tab pos="228600" algn="l"/>
                        </a:tabLst>
                      </a:pPr>
                      <a:r>
                        <a:rPr lang="en-US" sz="1000" b="0" i="0" u="none" strike="noStrike" dirty="0">
                          <a:effectLst/>
                          <a:latin typeface="Times New Roman" panose="02020603050405020304" pitchFamily="18" charset="0"/>
                          <a:ea typeface="Times New Roman" panose="02020603050405020304" pitchFamily="18" charset="0"/>
                        </a:rPr>
                        <a:t>Lexical analyzer source code is extraordinarily explained and documented</a:t>
                      </a:r>
                      <a:endParaRPr lang="en-US" sz="1000" b="0" i="0" u="none" strike="noStrike" dirty="0">
                        <a:effectLst/>
                        <a:latin typeface="Arial" panose="020B0604020202020204" pitchFamily="34" charset="0"/>
                        <a:ea typeface="+mn-ea"/>
                      </a:endParaRPr>
                    </a:p>
                    <a:p>
                      <a:pPr marL="167472" indent="-167472" algn="l" fontAlgn="t">
                        <a:spcBef>
                          <a:spcPts val="0"/>
                        </a:spcBef>
                        <a:spcAft>
                          <a:spcPts val="0"/>
                        </a:spcAft>
                        <a:buClrTx/>
                        <a:buSzPts val="1000"/>
                        <a:buFont typeface="+mj-lt"/>
                        <a:buAutoNum type="arabicPeriod"/>
                        <a:tabLst>
                          <a:tab pos="228600" algn="l"/>
                        </a:tabLst>
                      </a:pPr>
                      <a:r>
                        <a:rPr lang="en-US" sz="1000" b="0" i="0" u="none" strike="noStrike" dirty="0">
                          <a:effectLst/>
                          <a:latin typeface="Times New Roman" panose="02020603050405020304" pitchFamily="18" charset="0"/>
                          <a:ea typeface="Times New Roman" panose="02020603050405020304" pitchFamily="18" charset="0"/>
                        </a:rPr>
                        <a:t>All source code files include a description of its functionality and relation with other source code files.</a:t>
                      </a:r>
                      <a:endParaRPr lang="en-US" sz="1000" b="0" i="0" u="none" strike="noStrike" dirty="0">
                        <a:effectLst/>
                        <a:latin typeface="Arial" panose="020B0604020202020204" pitchFamily="34" charset="0"/>
                        <a:ea typeface="+mn-ea"/>
                      </a:endParaRPr>
                    </a:p>
                    <a:p>
                      <a:pPr marL="167472" indent="-167472" algn="l" fontAlgn="t">
                        <a:spcBef>
                          <a:spcPts val="0"/>
                        </a:spcBef>
                        <a:spcAft>
                          <a:spcPts val="0"/>
                        </a:spcAft>
                        <a:buClrTx/>
                        <a:buSzPts val="1000"/>
                        <a:buFont typeface="+mj-lt"/>
                        <a:buAutoNum type="arabicPeriod"/>
                        <a:tabLst>
                          <a:tab pos="228600" algn="l"/>
                        </a:tabLst>
                      </a:pPr>
                      <a:r>
                        <a:rPr lang="en-US" sz="1000" b="0" i="0" u="none" strike="noStrike" dirty="0">
                          <a:effectLst/>
                          <a:latin typeface="Times New Roman" panose="02020603050405020304" pitchFamily="18" charset="0"/>
                          <a:ea typeface="Times New Roman" panose="02020603050405020304" pitchFamily="18" charset="0"/>
                        </a:rPr>
                        <a:t>All functions/methods and/or classes are clearly and completely described.</a:t>
                      </a:r>
                      <a:endParaRPr lang="en-US" sz="1000" b="0" i="0" u="none" strike="noStrike" dirty="0">
                        <a:effectLst/>
                        <a:latin typeface="Arial" panose="020B0604020202020204" pitchFamily="34" charset="0"/>
                        <a:ea typeface="+mn-ea"/>
                      </a:endParaRPr>
                    </a:p>
                    <a:p>
                      <a:pPr marL="167472" indent="-167472" algn="l" fontAlgn="t">
                        <a:spcBef>
                          <a:spcPts val="0"/>
                        </a:spcBef>
                        <a:spcAft>
                          <a:spcPts val="0"/>
                        </a:spcAft>
                        <a:buClrTx/>
                        <a:buSzPts val="1000"/>
                        <a:buFont typeface="+mj-lt"/>
                        <a:buAutoNum type="arabicPeriod"/>
                        <a:tabLst>
                          <a:tab pos="228600" algn="l"/>
                        </a:tabLst>
                      </a:pPr>
                      <a:r>
                        <a:rPr lang="en-US" sz="1000" b="0" i="0" u="none" strike="noStrike" dirty="0">
                          <a:effectLst/>
                          <a:latin typeface="Times New Roman" panose="02020603050405020304" pitchFamily="18" charset="0"/>
                          <a:ea typeface="Times New Roman" panose="02020603050405020304" pitchFamily="18" charset="0"/>
                        </a:rPr>
                        <a:t>Comments are unambiguous, complete, and correct with respect to analysis and design.</a:t>
                      </a:r>
                      <a:endParaRPr lang="en-US" sz="1000" b="0" i="0" u="none" strike="noStrike" dirty="0">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spcBef>
                          <a:spcPts val="0"/>
                        </a:spcBef>
                        <a:spcAft>
                          <a:spcPts val="0"/>
                        </a:spcAft>
                      </a:pPr>
                      <a:r>
                        <a:rPr lang="en-US" sz="1000" b="0" i="0" u="none" strike="noStrike">
                          <a:effectLst/>
                          <a:latin typeface="Times New Roman" panose="02020603050405020304" pitchFamily="18" charset="0"/>
                          <a:ea typeface="Times New Roman" panose="02020603050405020304" pitchFamily="18" charset="0"/>
                        </a:rPr>
                        <a:t>All source code is commented, however, is hard to understand the meaning and support that the comments provide to each section.</a:t>
                      </a:r>
                      <a:endParaRPr lang="en-US" sz="1000" b="0" i="0" u="none" strike="noStrike">
                        <a:effectLst/>
                        <a:latin typeface="Arial" panose="020B0604020202020204" pitchFamily="34" charset="0"/>
                      </a:endParaRPr>
                    </a:p>
                    <a:p>
                      <a:pPr marL="228600" algn="l" fontAlgn="t">
                        <a:spcBef>
                          <a:spcPts val="0"/>
                        </a:spcBef>
                        <a:spcAft>
                          <a:spcPts val="0"/>
                        </a:spcAft>
                      </a:pPr>
                      <a:r>
                        <a:rPr lang="en-US" sz="1000" b="0" i="0" u="none" strike="noStrike">
                          <a:effectLst/>
                          <a:latin typeface="Times New Roman" panose="02020603050405020304" pitchFamily="18" charset="0"/>
                          <a:ea typeface="Times New Roman" panose="02020603050405020304" pitchFamily="18" charset="0"/>
                        </a:rPr>
                        <a:t> </a:t>
                      </a:r>
                      <a:endParaRPr lang="en-US" sz="1000" b="0" i="0" u="none" strike="noStrike">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spcBef>
                          <a:spcPts val="0"/>
                        </a:spcBef>
                        <a:spcAft>
                          <a:spcPts val="0"/>
                        </a:spcAft>
                      </a:pPr>
                      <a:r>
                        <a:rPr lang="en-US" sz="1000" b="0" i="0" u="none" strike="noStrike">
                          <a:effectLst/>
                          <a:latin typeface="Times New Roman" panose="02020603050405020304" pitchFamily="18" charset="0"/>
                          <a:ea typeface="Times New Roman" panose="02020603050405020304" pitchFamily="18" charset="0"/>
                        </a:rPr>
                        <a:t>Comments are incomplete, ambiguous, or incorrect.</a:t>
                      </a:r>
                      <a:endParaRPr lang="en-US" sz="1000" b="0" i="0" u="none" strike="noStrike">
                        <a:effectLst/>
                        <a:latin typeface="Arial" panose="020B0604020202020204" pitchFamily="34" charset="0"/>
                      </a:endParaRPr>
                    </a:p>
                    <a:p>
                      <a:pPr algn="l" fontAlgn="t">
                        <a:spcBef>
                          <a:spcPts val="0"/>
                        </a:spcBef>
                        <a:spcAft>
                          <a:spcPts val="0"/>
                        </a:spcAft>
                      </a:pPr>
                      <a:r>
                        <a:rPr lang="en-US" sz="1000" b="0" i="0" u="none" strike="noStrike">
                          <a:effectLst/>
                          <a:latin typeface="Times New Roman" panose="02020603050405020304" pitchFamily="18" charset="0"/>
                          <a:ea typeface="Times New Roman" panose="02020603050405020304" pitchFamily="18" charset="0"/>
                        </a:rPr>
                        <a:t> </a:t>
                      </a:r>
                      <a:endParaRPr lang="en-US" sz="1000" b="0" i="0" u="none" strike="noStrike">
                        <a:effectLst/>
                        <a:latin typeface="Arial" panose="020B0604020202020204" pitchFamily="34" charset="0"/>
                      </a:endParaRPr>
                    </a:p>
                    <a:p>
                      <a:pPr algn="l" fontAlgn="t">
                        <a:spcBef>
                          <a:spcPts val="0"/>
                        </a:spcBef>
                        <a:spcAft>
                          <a:spcPts val="0"/>
                        </a:spcAft>
                      </a:pPr>
                      <a:r>
                        <a:rPr lang="en-US" sz="1000" b="0" i="0" u="none" strike="noStrike">
                          <a:effectLst/>
                          <a:latin typeface="Times New Roman" panose="02020603050405020304" pitchFamily="18" charset="0"/>
                          <a:ea typeface="Times New Roman" panose="02020603050405020304" pitchFamily="18" charset="0"/>
                        </a:rPr>
                        <a:t> </a:t>
                      </a:r>
                      <a:endParaRPr lang="en-US" sz="1000" b="0" i="0" u="none" strike="noStrike">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spcBef>
                          <a:spcPts val="0"/>
                        </a:spcBef>
                        <a:spcAft>
                          <a:spcPts val="0"/>
                        </a:spcAft>
                      </a:pPr>
                      <a:r>
                        <a:rPr lang="en-US" sz="1000" b="0" i="0" u="none" strike="noStrike">
                          <a:effectLst/>
                          <a:latin typeface="Times New Roman" panose="02020603050405020304" pitchFamily="18" charset="0"/>
                          <a:ea typeface="Times New Roman" panose="02020603050405020304" pitchFamily="18" charset="0"/>
                        </a:rPr>
                        <a:t>Does not apply</a:t>
                      </a:r>
                      <a:endParaRPr lang="en-US" sz="1000" b="0" i="0" u="none" strike="noStrike">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spcBef>
                          <a:spcPts val="0"/>
                        </a:spcBef>
                        <a:spcAft>
                          <a:spcPts val="0"/>
                        </a:spcAft>
                      </a:pPr>
                      <a:r>
                        <a:rPr lang="en-US" sz="1000" b="0" i="0" u="none" strike="noStrike">
                          <a:effectLst/>
                          <a:latin typeface="Times New Roman" panose="02020603050405020304" pitchFamily="18" charset="0"/>
                          <a:ea typeface="Times New Roman" panose="02020603050405020304" pitchFamily="18" charset="0"/>
                        </a:rPr>
                        <a:t>Extremely poor comments description.</a:t>
                      </a:r>
                      <a:endParaRPr lang="en-US" sz="1000" b="0" i="0" u="none" strike="noStrike">
                        <a:effectLst/>
                        <a:latin typeface="Arial" panose="020B0604020202020204" pitchFamily="34" charset="0"/>
                      </a:endParaRPr>
                    </a:p>
                    <a:p>
                      <a:pPr algn="l" fontAlgn="t">
                        <a:spcBef>
                          <a:spcPts val="0"/>
                        </a:spcBef>
                        <a:spcAft>
                          <a:spcPts val="0"/>
                        </a:spcAft>
                      </a:pPr>
                      <a:r>
                        <a:rPr lang="en-US" sz="1000" b="0" i="0" u="none" strike="noStrike">
                          <a:effectLst/>
                          <a:latin typeface="Times New Roman" panose="02020603050405020304" pitchFamily="18" charset="0"/>
                          <a:ea typeface="Times New Roman" panose="02020603050405020304" pitchFamily="18" charset="0"/>
                        </a:rPr>
                        <a:t> </a:t>
                      </a:r>
                      <a:endParaRPr lang="en-US" sz="1000" b="0" i="0" u="none" strike="noStrike">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spcBef>
                          <a:spcPts val="0"/>
                        </a:spcBef>
                        <a:spcAft>
                          <a:spcPts val="0"/>
                        </a:spcAft>
                      </a:pPr>
                      <a:r>
                        <a:rPr lang="en-US" sz="1000" b="0" i="0" u="none" strike="noStrike">
                          <a:effectLst/>
                          <a:latin typeface="Times New Roman" panose="02020603050405020304" pitchFamily="18" charset="0"/>
                          <a:ea typeface="Times New Roman" panose="02020603050405020304" pitchFamily="18" charset="0"/>
                        </a:rPr>
                        <a:t>Source code does not include comments.</a:t>
                      </a:r>
                      <a:endParaRPr lang="en-US" sz="1000" b="0" i="0" u="none" strike="noStrike">
                        <a:effectLst/>
                        <a:latin typeface="Arial" panose="020B0604020202020204" pitchFamily="34" charset="0"/>
                      </a:endParaRPr>
                    </a:p>
                    <a:p>
                      <a:pPr algn="l" fontAlgn="t">
                        <a:spcBef>
                          <a:spcPts val="0"/>
                        </a:spcBef>
                        <a:spcAft>
                          <a:spcPts val="0"/>
                        </a:spcAft>
                      </a:pPr>
                      <a:r>
                        <a:rPr lang="en-US" sz="1000" b="0" i="0" u="none" strike="noStrike">
                          <a:effectLst/>
                          <a:latin typeface="Times New Roman" panose="02020603050405020304" pitchFamily="18" charset="0"/>
                          <a:ea typeface="Times New Roman" panose="02020603050405020304" pitchFamily="18" charset="0"/>
                        </a:rPr>
                        <a:t> </a:t>
                      </a:r>
                      <a:endParaRPr lang="en-US" sz="1000" b="0" i="0" u="none" strike="noStrike">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spcBef>
                          <a:spcPts val="0"/>
                        </a:spcBef>
                        <a:spcAft>
                          <a:spcPts val="0"/>
                        </a:spcAft>
                        <a:tabLst>
                          <a:tab pos="2743200" algn="ctr"/>
                          <a:tab pos="5486400" algn="r"/>
                          <a:tab pos="457200" algn="l"/>
                        </a:tabLst>
                      </a:pPr>
                      <a:r>
                        <a:rPr lang="en-US" sz="1000" b="0" i="0" u="none" strike="noStrike">
                          <a:effectLst/>
                          <a:latin typeface="Times New Roman" panose="02020603050405020304" pitchFamily="18" charset="0"/>
                          <a:ea typeface="Times New Roman" panose="02020603050405020304" pitchFamily="18" charset="0"/>
                        </a:rPr>
                        <a:t>5</a:t>
                      </a:r>
                      <a:endParaRPr lang="en-US" sz="1000" b="0" i="0" u="none" strike="noStrike">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8486279"/>
                  </a:ext>
                </a:extLst>
              </a:tr>
              <a:tr h="594463">
                <a:tc>
                  <a:txBody>
                    <a:bodyPr/>
                    <a:lstStyle/>
                    <a:p>
                      <a:pPr algn="l" fontAlgn="t">
                        <a:spcBef>
                          <a:spcPts val="0"/>
                        </a:spcBef>
                        <a:spcAft>
                          <a:spcPts val="0"/>
                        </a:spcAft>
                      </a:pPr>
                      <a:r>
                        <a:rPr lang="en-US" sz="1000" b="0" i="0" u="none" strike="noStrike">
                          <a:solidFill>
                            <a:srgbClr val="000000"/>
                          </a:solidFill>
                          <a:effectLst/>
                          <a:latin typeface="Times New Roman" panose="02020603050405020304" pitchFamily="18" charset="0"/>
                          <a:ea typeface="Times New Roman" panose="02020603050405020304" pitchFamily="18" charset="0"/>
                        </a:rPr>
                        <a:t>Traceability</a:t>
                      </a:r>
                      <a:endParaRPr lang="en-US" sz="1000" b="0" i="0" u="none" strike="noStrike">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C0C0"/>
                    </a:solidFill>
                  </a:tcPr>
                </a:tc>
                <a:tc>
                  <a:txBody>
                    <a:bodyPr/>
                    <a:lstStyle/>
                    <a:p>
                      <a:pPr marL="167472" indent="-167472" algn="l" fontAlgn="t">
                        <a:spcBef>
                          <a:spcPts val="0"/>
                        </a:spcBef>
                        <a:spcAft>
                          <a:spcPts val="0"/>
                        </a:spcAft>
                        <a:buClrTx/>
                        <a:buSzPts val="1000"/>
                        <a:buFont typeface="+mj-lt"/>
                        <a:buAutoNum type="arabicPeriod"/>
                        <a:tabLst>
                          <a:tab pos="228600" algn="l"/>
                        </a:tabLst>
                      </a:pPr>
                      <a:r>
                        <a:rPr lang="en-US" sz="1000" b="0" i="0" u="none" strike="noStrike" dirty="0">
                          <a:effectLst/>
                          <a:latin typeface="Times New Roman" panose="02020603050405020304" pitchFamily="18" charset="0"/>
                          <a:ea typeface="Times New Roman" panose="02020603050405020304" pitchFamily="18" charset="0"/>
                        </a:rPr>
                        <a:t>Every single functional requirement can be mapped directly to a specific piece of code.</a:t>
                      </a:r>
                      <a:endParaRPr lang="en-US" sz="1000" b="0" i="0" u="none" strike="noStrike" dirty="0">
                        <a:effectLst/>
                        <a:latin typeface="Arial" panose="020B0604020202020204" pitchFamily="34" charset="0"/>
                        <a:ea typeface="+mn-ea"/>
                      </a:endParaRPr>
                    </a:p>
                    <a:p>
                      <a:pPr marL="167472" indent="-167472" algn="l" fontAlgn="t">
                        <a:spcBef>
                          <a:spcPts val="0"/>
                        </a:spcBef>
                        <a:spcAft>
                          <a:spcPts val="0"/>
                        </a:spcAft>
                        <a:buClrTx/>
                        <a:buSzPts val="1000"/>
                        <a:buFont typeface="+mj-lt"/>
                        <a:buAutoNum type="arabicPeriod"/>
                        <a:tabLst>
                          <a:tab pos="228600" algn="l"/>
                        </a:tabLst>
                      </a:pPr>
                      <a:r>
                        <a:rPr lang="en-US" sz="1000" b="0" i="0" u="none" strike="noStrike" dirty="0">
                          <a:effectLst/>
                          <a:latin typeface="Times New Roman" panose="02020603050405020304" pitchFamily="18" charset="0"/>
                          <a:ea typeface="Times New Roman" panose="02020603050405020304" pitchFamily="18" charset="0"/>
                        </a:rPr>
                        <a:t>The code complies with the design.</a:t>
                      </a:r>
                      <a:endParaRPr lang="en-US" sz="1000" b="0" i="0" u="none" strike="noStrike" dirty="0">
                        <a:effectLst/>
                        <a:latin typeface="Arial" panose="020B0604020202020204" pitchFamily="34" charset="0"/>
                        <a:ea typeface="+mn-ea"/>
                      </a:endParaRPr>
                    </a:p>
                    <a:p>
                      <a:pPr marL="167472" indent="-167472" algn="l" fontAlgn="t">
                        <a:spcBef>
                          <a:spcPts val="0"/>
                        </a:spcBef>
                        <a:spcAft>
                          <a:spcPts val="0"/>
                        </a:spcAft>
                        <a:buClrTx/>
                        <a:buSzPts val="1000"/>
                        <a:buFont typeface="+mj-lt"/>
                        <a:buAutoNum type="arabicPeriod"/>
                        <a:tabLst>
                          <a:tab pos="228600" algn="l"/>
                        </a:tabLst>
                      </a:pPr>
                      <a:r>
                        <a:rPr lang="en-US" sz="1000" b="0" i="0" u="none" strike="noStrike" dirty="0">
                          <a:effectLst/>
                          <a:latin typeface="Times New Roman" panose="02020603050405020304" pitchFamily="18" charset="0"/>
                          <a:ea typeface="Times New Roman" panose="02020603050405020304" pitchFamily="18" charset="0"/>
                        </a:rPr>
                        <a:t>The design can be mapped directly to the implementation</a:t>
                      </a:r>
                      <a:endParaRPr lang="en-US" sz="1000" b="0" i="0" u="none" strike="noStrike" dirty="0">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spcBef>
                          <a:spcPts val="0"/>
                        </a:spcBef>
                        <a:spcAft>
                          <a:spcPts val="0"/>
                        </a:spcAft>
                      </a:pPr>
                      <a:r>
                        <a:rPr lang="en-US" sz="1000" b="0" i="0" u="none" strike="noStrike">
                          <a:effectLst/>
                          <a:latin typeface="Times New Roman" panose="02020603050405020304" pitchFamily="18" charset="0"/>
                          <a:ea typeface="Times New Roman" panose="02020603050405020304" pitchFamily="18" charset="0"/>
                        </a:rPr>
                        <a:t>Does not apply</a:t>
                      </a:r>
                      <a:endParaRPr lang="en-US" sz="1000" b="0" i="0" u="none" strike="noStrike">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spcBef>
                          <a:spcPts val="0"/>
                        </a:spcBef>
                        <a:spcAft>
                          <a:spcPts val="0"/>
                        </a:spcAft>
                      </a:pPr>
                      <a:r>
                        <a:rPr lang="en-US" sz="1000" b="0" i="0" u="none" strike="noStrike">
                          <a:effectLst/>
                          <a:latin typeface="Times New Roman" panose="02020603050405020304" pitchFamily="18" charset="0"/>
                          <a:ea typeface="Times New Roman" panose="02020603050405020304" pitchFamily="18" charset="0"/>
                        </a:rPr>
                        <a:t>Does not apply</a:t>
                      </a:r>
                      <a:endParaRPr lang="en-US" sz="1000" b="0" i="0" u="none" strike="noStrike">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spcBef>
                          <a:spcPts val="0"/>
                        </a:spcBef>
                        <a:spcAft>
                          <a:spcPts val="0"/>
                        </a:spcAft>
                      </a:pPr>
                      <a:r>
                        <a:rPr lang="en-US" sz="1000" b="0" i="0" u="none" strike="noStrike">
                          <a:effectLst/>
                          <a:latin typeface="Times New Roman" panose="02020603050405020304" pitchFamily="18" charset="0"/>
                          <a:ea typeface="Times New Roman" panose="02020603050405020304" pitchFamily="18" charset="0"/>
                        </a:rPr>
                        <a:t>Does not apply</a:t>
                      </a:r>
                      <a:endParaRPr lang="en-US" sz="1000" b="0" i="0" u="none" strike="noStrike">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spcBef>
                          <a:spcPts val="0"/>
                        </a:spcBef>
                        <a:spcAft>
                          <a:spcPts val="0"/>
                        </a:spcAft>
                      </a:pPr>
                      <a:r>
                        <a:rPr lang="en-US" sz="1000" b="0" i="0" u="none" strike="noStrike">
                          <a:effectLst/>
                          <a:latin typeface="Times New Roman" panose="02020603050405020304" pitchFamily="18" charset="0"/>
                          <a:ea typeface="Times New Roman" panose="02020603050405020304" pitchFamily="18" charset="0"/>
                        </a:rPr>
                        <a:t>Does not apply</a:t>
                      </a:r>
                      <a:endParaRPr lang="en-US" sz="1000" b="0" i="0" u="none" strike="noStrike">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spcBef>
                          <a:spcPts val="0"/>
                        </a:spcBef>
                        <a:spcAft>
                          <a:spcPts val="0"/>
                        </a:spcAft>
                      </a:pPr>
                      <a:r>
                        <a:rPr lang="en-US" sz="1000" b="1" i="0" u="none" strike="noStrike" dirty="0">
                          <a:solidFill>
                            <a:srgbClr val="FF0000"/>
                          </a:solidFill>
                          <a:effectLst/>
                          <a:latin typeface="Times New Roman" panose="02020603050405020304" pitchFamily="18" charset="0"/>
                          <a:ea typeface="Times New Roman" panose="02020603050405020304" pitchFamily="18" charset="0"/>
                        </a:rPr>
                        <a:t>Poor traceability</a:t>
                      </a:r>
                      <a:r>
                        <a:rPr lang="en-US" sz="1000" b="0" i="0" u="none" strike="noStrike" dirty="0">
                          <a:effectLst/>
                          <a:latin typeface="Times New Roman" panose="02020603050405020304" pitchFamily="18" charset="0"/>
                          <a:ea typeface="Times New Roman" panose="02020603050405020304" pitchFamily="18" charset="0"/>
                        </a:rPr>
                        <a:t>, or developed with </a:t>
                      </a:r>
                      <a:r>
                        <a:rPr lang="en-US" sz="1000" b="1" i="0" u="none" strike="noStrike" dirty="0">
                          <a:solidFill>
                            <a:srgbClr val="FF0000"/>
                          </a:solidFill>
                          <a:effectLst/>
                          <a:latin typeface="Times New Roman" panose="02020603050405020304" pitchFamily="18" charset="0"/>
                          <a:ea typeface="Times New Roman" panose="02020603050405020304" pitchFamily="18" charset="0"/>
                        </a:rPr>
                        <a:t>API for RE</a:t>
                      </a:r>
                      <a:r>
                        <a:rPr lang="en-US" sz="1000" b="0" i="0" u="none" strike="noStrike" dirty="0">
                          <a:effectLst/>
                          <a:latin typeface="Times New Roman" panose="02020603050405020304" pitchFamily="18" charset="0"/>
                          <a:ea typeface="Times New Roman" panose="02020603050405020304" pitchFamily="18" charset="0"/>
                        </a:rPr>
                        <a:t>, </a:t>
                      </a:r>
                      <a:r>
                        <a:rPr lang="en-US" sz="1000">
                          <a:effectLst/>
                          <a:latin typeface="Times New Roman" panose="02020603050405020304" pitchFamily="18" charset="0"/>
                          <a:cs typeface="Times New Roman" panose="02020603050405020304" pitchFamily="18" charset="0"/>
                        </a:rPr>
                        <a:t>or the implementation </a:t>
                      </a:r>
                      <a:r>
                        <a:rPr lang="en-US" sz="1000" b="1">
                          <a:solidFill>
                            <a:srgbClr val="FF0000"/>
                          </a:solidFill>
                          <a:effectLst/>
                          <a:latin typeface="Times New Roman" panose="02020603050405020304" pitchFamily="18" charset="0"/>
                          <a:cs typeface="Times New Roman" panose="02020603050405020304" pitchFamily="18" charset="0"/>
                        </a:rPr>
                        <a:t>does not </a:t>
                      </a:r>
                      <a:r>
                        <a:rPr lang="en-US" sz="1000">
                          <a:effectLst/>
                          <a:latin typeface="Times New Roman" panose="02020603050405020304" pitchFamily="18" charset="0"/>
                          <a:cs typeface="Times New Roman" panose="02020603050405020304" pitchFamily="18" charset="0"/>
                        </a:rPr>
                        <a:t>use </a:t>
                      </a:r>
                      <a:r>
                        <a:rPr lang="en-US" sz="1000" b="1">
                          <a:effectLst/>
                          <a:latin typeface="Times New Roman" panose="02020603050405020304" pitchFamily="18" charset="0"/>
                          <a:cs typeface="Times New Roman" panose="02020603050405020304" pitchFamily="18" charset="0"/>
                        </a:rPr>
                        <a:t>lex</a:t>
                      </a:r>
                      <a:r>
                        <a:rPr lang="en-US" sz="1000">
                          <a:effectLst/>
                          <a:latin typeface="Times New Roman" panose="02020603050405020304" pitchFamily="18" charset="0"/>
                          <a:cs typeface="Times New Roman" panose="02020603050405020304" pitchFamily="18" charset="0"/>
                        </a:rPr>
                        <a:t>.</a:t>
                      </a:r>
                      <a:endParaRPr lang="en-US" sz="1000" b="0" i="0" u="none" strike="noStrike" dirty="0">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spcBef>
                          <a:spcPts val="0"/>
                        </a:spcBef>
                        <a:spcAft>
                          <a:spcPts val="0"/>
                        </a:spcAft>
                      </a:pPr>
                      <a:r>
                        <a:rPr lang="en-US" sz="1000" b="0" i="0" u="none" strike="noStrike">
                          <a:effectLst/>
                          <a:latin typeface="Times New Roman" panose="02020603050405020304" pitchFamily="18" charset="0"/>
                          <a:ea typeface="Times New Roman" panose="02020603050405020304" pitchFamily="18" charset="0"/>
                        </a:rPr>
                        <a:t>5</a:t>
                      </a:r>
                      <a:endParaRPr lang="en-US" sz="1000" b="0" i="0" u="none" strike="noStrike">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87998091"/>
                  </a:ext>
                </a:extLst>
              </a:tr>
              <a:tr h="258133">
                <a:tc>
                  <a:txBody>
                    <a:bodyPr/>
                    <a:lstStyle/>
                    <a:p>
                      <a:pPr algn="l" fontAlgn="t">
                        <a:spcBef>
                          <a:spcPts val="0"/>
                        </a:spcBef>
                        <a:spcAft>
                          <a:spcPts val="0"/>
                        </a:spcAft>
                      </a:pPr>
                      <a:r>
                        <a:rPr lang="en-US" sz="1000" b="0" i="0" u="none" strike="noStrike">
                          <a:solidFill>
                            <a:srgbClr val="000000"/>
                          </a:solidFill>
                          <a:effectLst/>
                          <a:latin typeface="Times New Roman" panose="02020603050405020304" pitchFamily="18" charset="0"/>
                          <a:ea typeface="Times New Roman" panose="02020603050405020304" pitchFamily="18" charset="0"/>
                        </a:rPr>
                        <a:t>Testing</a:t>
                      </a:r>
                      <a:endParaRPr lang="en-US" sz="1000" b="0" i="0" u="none" strike="noStrike">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C0C0"/>
                    </a:solidFill>
                  </a:tcPr>
                </a:tc>
                <a:tc>
                  <a:txBody>
                    <a:bodyPr/>
                    <a:lstStyle/>
                    <a:p>
                      <a:pPr algn="l" fontAlgn="t">
                        <a:spcBef>
                          <a:spcPts val="0"/>
                        </a:spcBef>
                        <a:spcAft>
                          <a:spcPts val="0"/>
                        </a:spcAft>
                      </a:pPr>
                      <a:r>
                        <a:rPr lang="en-US" sz="1000" b="0" i="0" u="none" strike="noStrike">
                          <a:effectLst/>
                          <a:latin typeface="Times New Roman" panose="02020603050405020304" pitchFamily="18" charset="0"/>
                          <a:ea typeface="Times New Roman" panose="02020603050405020304" pitchFamily="18" charset="0"/>
                        </a:rPr>
                        <a:t>The scanner software passes all test cases given by the professor. </a:t>
                      </a:r>
                      <a:endParaRPr lang="en-US" sz="1000" b="0" i="0" u="none" strike="noStrike">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spcBef>
                          <a:spcPts val="0"/>
                        </a:spcBef>
                        <a:spcAft>
                          <a:spcPts val="0"/>
                        </a:spcAft>
                      </a:pPr>
                      <a:r>
                        <a:rPr lang="en-US" sz="1000" b="0" i="0" u="none" strike="noStrike">
                          <a:effectLst/>
                          <a:latin typeface="Times New Roman" panose="02020603050405020304" pitchFamily="18" charset="0"/>
                          <a:ea typeface="Times New Roman" panose="02020603050405020304" pitchFamily="18" charset="0"/>
                        </a:rPr>
                        <a:t>Does not apply</a:t>
                      </a:r>
                      <a:endParaRPr lang="en-US" sz="1000" b="0" i="0" u="none" strike="noStrike">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spcBef>
                          <a:spcPts val="0"/>
                        </a:spcBef>
                        <a:spcAft>
                          <a:spcPts val="0"/>
                        </a:spcAft>
                      </a:pPr>
                      <a:r>
                        <a:rPr lang="en-US" sz="1000" b="0" i="0" u="none" strike="noStrike">
                          <a:effectLst/>
                          <a:latin typeface="Times New Roman" panose="02020603050405020304" pitchFamily="18" charset="0"/>
                          <a:ea typeface="Times New Roman" panose="02020603050405020304" pitchFamily="18" charset="0"/>
                        </a:rPr>
                        <a:t>Does not apply</a:t>
                      </a:r>
                      <a:endParaRPr lang="en-US" sz="1000" b="0" i="0" u="none" strike="noStrike">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spcBef>
                          <a:spcPts val="0"/>
                        </a:spcBef>
                        <a:spcAft>
                          <a:spcPts val="0"/>
                        </a:spcAft>
                      </a:pPr>
                      <a:r>
                        <a:rPr lang="en-US" sz="1000" b="0" i="0" u="none" strike="noStrike">
                          <a:effectLst/>
                          <a:latin typeface="Times New Roman" panose="02020603050405020304" pitchFamily="18" charset="0"/>
                          <a:ea typeface="Times New Roman" panose="02020603050405020304" pitchFamily="18" charset="0"/>
                        </a:rPr>
                        <a:t>Does not apply</a:t>
                      </a:r>
                      <a:endParaRPr lang="en-US" sz="1000" b="0" i="0" u="none" strike="noStrike">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spcBef>
                          <a:spcPts val="0"/>
                        </a:spcBef>
                        <a:spcAft>
                          <a:spcPts val="0"/>
                        </a:spcAft>
                      </a:pPr>
                      <a:r>
                        <a:rPr lang="en-US" sz="1000" b="0" i="0" u="none" strike="noStrike">
                          <a:effectLst/>
                          <a:latin typeface="Times New Roman" panose="02020603050405020304" pitchFamily="18" charset="0"/>
                          <a:ea typeface="Times New Roman" panose="02020603050405020304" pitchFamily="18" charset="0"/>
                        </a:rPr>
                        <a:t>Does not apply</a:t>
                      </a:r>
                      <a:endParaRPr lang="en-US" sz="1000" b="0" i="0" u="none" strike="noStrike">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spcBef>
                          <a:spcPts val="0"/>
                        </a:spcBef>
                        <a:spcAft>
                          <a:spcPts val="0"/>
                        </a:spcAft>
                      </a:pPr>
                      <a:r>
                        <a:rPr lang="en-US" sz="1000" b="0" i="0" u="none" strike="noStrike">
                          <a:effectLst/>
                          <a:latin typeface="Times New Roman" panose="02020603050405020304" pitchFamily="18" charset="0"/>
                          <a:ea typeface="Times New Roman" panose="02020603050405020304" pitchFamily="18" charset="0"/>
                        </a:rPr>
                        <a:t>The scanner software does not pass all test cases given by the professor.</a:t>
                      </a:r>
                      <a:endParaRPr lang="en-US" sz="1000" b="0" i="0" u="none" strike="noStrike">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spcBef>
                          <a:spcPts val="0"/>
                        </a:spcBef>
                        <a:spcAft>
                          <a:spcPts val="0"/>
                        </a:spcAft>
                      </a:pPr>
                      <a:r>
                        <a:rPr lang="en-US" sz="1000" b="0" i="0" u="none" strike="noStrike" dirty="0">
                          <a:effectLst/>
                          <a:latin typeface="Times New Roman" panose="02020603050405020304" pitchFamily="18" charset="0"/>
                          <a:ea typeface="Times New Roman" panose="02020603050405020304" pitchFamily="18" charset="0"/>
                        </a:rPr>
                        <a:t>10</a:t>
                      </a:r>
                      <a:endParaRPr lang="en-US" sz="1000" b="0" i="0" u="none" strike="noStrike" dirty="0">
                        <a:effectLst/>
                        <a:latin typeface="Arial" panose="020B0604020202020204" pitchFamily="34" charset="0"/>
                      </a:endParaRPr>
                    </a:p>
                  </a:txBody>
                  <a:tcPr marL="32699" marR="32699" marT="700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52149010"/>
                  </a:ext>
                </a:extLst>
              </a:tr>
            </a:tbl>
          </a:graphicData>
        </a:graphic>
      </p:graphicFrame>
    </p:spTree>
    <p:extLst>
      <p:ext uri="{BB962C8B-B14F-4D97-AF65-F5344CB8AC3E}">
        <p14:creationId xmlns:p14="http://schemas.microsoft.com/office/powerpoint/2010/main" val="42799843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04895F-1F3A-C736-DEFE-E486B0D0B4C0}"/>
              </a:ext>
            </a:extLst>
          </p:cNvPr>
          <p:cNvSpPr>
            <a:spLocks noGrp="1"/>
          </p:cNvSpPr>
          <p:nvPr>
            <p:ph idx="1"/>
          </p:nvPr>
        </p:nvSpPr>
        <p:spPr>
          <a:xfrm>
            <a:off x="626365" y="145950"/>
            <a:ext cx="7631722" cy="463650"/>
          </a:xfrm>
        </p:spPr>
        <p:txBody>
          <a:bodyPr anchor="ctr">
            <a:normAutofit/>
          </a:bodyPr>
          <a:lstStyle/>
          <a:p>
            <a:pPr marL="615600" lvl="0" indent="-615600" algn="just">
              <a:buFont typeface="+mj-lt"/>
              <a:buAutoNum type="romanUcPeriod" startAt="5"/>
            </a:pPr>
            <a:r>
              <a:rPr lang="en-US" b="1" u="sng" dirty="0">
                <a:solidFill>
                  <a:srgbClr val="000000"/>
                </a:solidFill>
                <a:effectLst/>
                <a:latin typeface="Times"/>
                <a:ea typeface="Times New Roman" panose="02020603050405020304" pitchFamily="18" charset="0"/>
                <a:cs typeface="Times New Roman" panose="02020603050405020304" pitchFamily="18" charset="0"/>
              </a:rPr>
              <a:t>Oral Exam Evaluation Metrics</a:t>
            </a:r>
            <a:endParaRPr lang="en-MX" dirty="0">
              <a:effectLst/>
              <a:latin typeface="Times"/>
              <a:ea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E0618D98-820E-2A12-A4D9-B3D596008BED}"/>
              </a:ext>
            </a:extLst>
          </p:cNvPr>
          <p:cNvSpPr>
            <a:spLocks noGrp="1"/>
          </p:cNvSpPr>
          <p:nvPr>
            <p:ph type="sldNum" sz="quarter" idx="12"/>
          </p:nvPr>
        </p:nvSpPr>
        <p:spPr>
          <a:xfrm>
            <a:off x="6457950" y="6356350"/>
            <a:ext cx="2057400" cy="365125"/>
          </a:xfrm>
        </p:spPr>
        <p:txBody>
          <a:bodyPr>
            <a:normAutofit/>
          </a:bodyPr>
          <a:lstStyle/>
          <a:p>
            <a:pPr>
              <a:spcAft>
                <a:spcPts val="600"/>
              </a:spcAft>
            </a:pPr>
            <a:fld id="{87BA9580-FE5B-E14E-B782-A387CF7F7228}" type="slidenum">
              <a:rPr lang="en-MX" smtClean="0"/>
              <a:pPr>
                <a:spcAft>
                  <a:spcPts val="600"/>
                </a:spcAft>
              </a:pPr>
              <a:t>7</a:t>
            </a:fld>
            <a:endParaRPr lang="en-MX"/>
          </a:p>
        </p:txBody>
      </p:sp>
      <p:graphicFrame>
        <p:nvGraphicFramePr>
          <p:cNvPr id="10" name="Table 9">
            <a:extLst>
              <a:ext uri="{FF2B5EF4-FFF2-40B4-BE49-F238E27FC236}">
                <a16:creationId xmlns:a16="http://schemas.microsoft.com/office/drawing/2014/main" id="{8CC935A9-CAFF-4531-EF7E-CC134B0A7F5E}"/>
              </a:ext>
            </a:extLst>
          </p:cNvPr>
          <p:cNvGraphicFramePr>
            <a:graphicFrameLocks noGrp="1"/>
          </p:cNvGraphicFramePr>
          <p:nvPr>
            <p:extLst>
              <p:ext uri="{D42A27DB-BD31-4B8C-83A1-F6EECF244321}">
                <p14:modId xmlns:p14="http://schemas.microsoft.com/office/powerpoint/2010/main" val="2726265682"/>
              </p:ext>
            </p:extLst>
          </p:nvPr>
        </p:nvGraphicFramePr>
        <p:xfrm>
          <a:off x="121920" y="1035879"/>
          <a:ext cx="8708571" cy="4572000"/>
        </p:xfrm>
        <a:graphic>
          <a:graphicData uri="http://schemas.openxmlformats.org/drawingml/2006/table">
            <a:tbl>
              <a:tblPr>
                <a:tableStyleId>{5C22544A-7EE6-4342-B048-85BDC9FD1C3A}</a:tableStyleId>
              </a:tblPr>
              <a:tblGrid>
                <a:gridCol w="1121609">
                  <a:extLst>
                    <a:ext uri="{9D8B030D-6E8A-4147-A177-3AD203B41FA5}">
                      <a16:colId xmlns:a16="http://schemas.microsoft.com/office/drawing/2014/main" val="3503550730"/>
                    </a:ext>
                  </a:extLst>
                </a:gridCol>
                <a:gridCol w="1743213">
                  <a:extLst>
                    <a:ext uri="{9D8B030D-6E8A-4147-A177-3AD203B41FA5}">
                      <a16:colId xmlns:a16="http://schemas.microsoft.com/office/drawing/2014/main" val="3544156715"/>
                    </a:ext>
                  </a:extLst>
                </a:gridCol>
                <a:gridCol w="1137366">
                  <a:extLst>
                    <a:ext uri="{9D8B030D-6E8A-4147-A177-3AD203B41FA5}">
                      <a16:colId xmlns:a16="http://schemas.microsoft.com/office/drawing/2014/main" val="3275658748"/>
                    </a:ext>
                  </a:extLst>
                </a:gridCol>
                <a:gridCol w="1136831">
                  <a:extLst>
                    <a:ext uri="{9D8B030D-6E8A-4147-A177-3AD203B41FA5}">
                      <a16:colId xmlns:a16="http://schemas.microsoft.com/office/drawing/2014/main" val="289564336"/>
                    </a:ext>
                  </a:extLst>
                </a:gridCol>
                <a:gridCol w="985503">
                  <a:extLst>
                    <a:ext uri="{9D8B030D-6E8A-4147-A177-3AD203B41FA5}">
                      <a16:colId xmlns:a16="http://schemas.microsoft.com/office/drawing/2014/main" val="4039269527"/>
                    </a:ext>
                  </a:extLst>
                </a:gridCol>
                <a:gridCol w="1190678">
                  <a:extLst>
                    <a:ext uri="{9D8B030D-6E8A-4147-A177-3AD203B41FA5}">
                      <a16:colId xmlns:a16="http://schemas.microsoft.com/office/drawing/2014/main" val="3592452693"/>
                    </a:ext>
                  </a:extLst>
                </a:gridCol>
                <a:gridCol w="844731">
                  <a:extLst>
                    <a:ext uri="{9D8B030D-6E8A-4147-A177-3AD203B41FA5}">
                      <a16:colId xmlns:a16="http://schemas.microsoft.com/office/drawing/2014/main" val="3679558340"/>
                    </a:ext>
                  </a:extLst>
                </a:gridCol>
                <a:gridCol w="548640">
                  <a:extLst>
                    <a:ext uri="{9D8B030D-6E8A-4147-A177-3AD203B41FA5}">
                      <a16:colId xmlns:a16="http://schemas.microsoft.com/office/drawing/2014/main" val="1543580543"/>
                    </a:ext>
                  </a:extLst>
                </a:gridCol>
              </a:tblGrid>
              <a:tr h="128369">
                <a:tc>
                  <a:txBody>
                    <a:bodyPr/>
                    <a:lstStyle/>
                    <a:p>
                      <a:r>
                        <a:rPr lang="en-US" sz="1200" dirty="0">
                          <a:effectLst/>
                          <a:latin typeface="Times New Roman" panose="02020603050405020304" pitchFamily="18" charset="0"/>
                          <a:cs typeface="Times New Roman" panose="02020603050405020304" pitchFamily="18" charset="0"/>
                        </a:rPr>
                        <a:t> </a:t>
                      </a:r>
                      <a:endParaRPr lang="en-MX"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41" marR="37441" marT="0" marB="0">
                    <a:lnB w="12700" cap="flat" cmpd="sng" algn="ctr">
                      <a:solidFill>
                        <a:schemeClr val="tx1"/>
                      </a:solidFill>
                      <a:prstDash val="solid"/>
                      <a:round/>
                      <a:headEnd type="none" w="med" len="med"/>
                      <a:tailEnd type="none" w="med" len="med"/>
                    </a:lnB>
                    <a:noFill/>
                  </a:tcPr>
                </a:tc>
                <a:tc gridSpan="7">
                  <a:txBody>
                    <a:bodyPr/>
                    <a:lstStyle/>
                    <a:p>
                      <a:pPr algn="ctr"/>
                      <a:r>
                        <a:rPr lang="en-US" sz="1200" dirty="0">
                          <a:effectLst/>
                          <a:latin typeface="Times New Roman" panose="02020603050405020304" pitchFamily="18" charset="0"/>
                          <a:cs typeface="Times New Roman" panose="02020603050405020304" pitchFamily="18" charset="0"/>
                        </a:rPr>
                        <a:t>Points</a:t>
                      </a:r>
                      <a:endParaRPr lang="en-MX"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41" marR="37441" marT="0" marB="0">
                    <a:lnB w="12700" cap="flat" cmpd="sng" algn="ctr">
                      <a:solidFill>
                        <a:schemeClr val="tx1"/>
                      </a:solidFill>
                      <a:prstDash val="solid"/>
                      <a:round/>
                      <a:headEnd type="none" w="med" len="med"/>
                      <a:tailEnd type="none" w="med" len="med"/>
                    </a:lnB>
                    <a:noFill/>
                  </a:tcPr>
                </a:tc>
                <a:tc hMerge="1">
                  <a:txBody>
                    <a:bodyPr/>
                    <a:lstStyle/>
                    <a:p>
                      <a:endParaRPr lang="en-MX"/>
                    </a:p>
                  </a:txBody>
                  <a:tcPr/>
                </a:tc>
                <a:tc hMerge="1">
                  <a:txBody>
                    <a:bodyPr/>
                    <a:lstStyle/>
                    <a:p>
                      <a:endParaRPr lang="en-MX"/>
                    </a:p>
                  </a:txBody>
                  <a:tcPr/>
                </a:tc>
                <a:tc hMerge="1">
                  <a:txBody>
                    <a:bodyPr/>
                    <a:lstStyle/>
                    <a:p>
                      <a:endParaRPr lang="en-MX"/>
                    </a:p>
                  </a:txBody>
                  <a:tcPr/>
                </a:tc>
                <a:tc hMerge="1">
                  <a:txBody>
                    <a:bodyPr/>
                    <a:lstStyle/>
                    <a:p>
                      <a:endParaRPr lang="en-MX"/>
                    </a:p>
                  </a:txBody>
                  <a:tcPr/>
                </a:tc>
                <a:tc hMerge="1">
                  <a:txBody>
                    <a:bodyPr/>
                    <a:lstStyle/>
                    <a:p>
                      <a:endParaRPr lang="en-MX"/>
                    </a:p>
                  </a:txBody>
                  <a:tcPr/>
                </a:tc>
                <a:tc hMerge="1">
                  <a:txBody>
                    <a:bodyPr/>
                    <a:lstStyle/>
                    <a:p>
                      <a:endParaRPr lang="en-MX"/>
                    </a:p>
                  </a:txBody>
                  <a:tcPr/>
                </a:tc>
                <a:extLst>
                  <a:ext uri="{0D108BD9-81ED-4DB2-BD59-A6C34878D82A}">
                    <a16:rowId xmlns:a16="http://schemas.microsoft.com/office/drawing/2014/main" val="2078013730"/>
                  </a:ext>
                </a:extLst>
              </a:tr>
              <a:tr h="128369">
                <a:tc>
                  <a:txBody>
                    <a:bodyPr/>
                    <a:lstStyle/>
                    <a:p>
                      <a:pPr algn="ctr"/>
                      <a:r>
                        <a:rPr lang="en-US" sz="1200" dirty="0">
                          <a:solidFill>
                            <a:schemeClr val="bg1"/>
                          </a:solidFill>
                          <a:effectLst/>
                          <a:latin typeface="Times New Roman" panose="02020603050405020304" pitchFamily="18" charset="0"/>
                          <a:cs typeface="Times New Roman" panose="02020603050405020304" pitchFamily="18" charset="0"/>
                        </a:rPr>
                        <a:t>Aspect</a:t>
                      </a:r>
                      <a:endParaRPr lang="en-MX" sz="1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41" marR="3744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1200" dirty="0">
                          <a:solidFill>
                            <a:schemeClr val="bg1"/>
                          </a:solidFill>
                          <a:effectLst/>
                          <a:latin typeface="Times New Roman" panose="02020603050405020304" pitchFamily="18" charset="0"/>
                          <a:cs typeface="Times New Roman" panose="02020603050405020304" pitchFamily="18" charset="0"/>
                        </a:rPr>
                        <a:t>100</a:t>
                      </a:r>
                      <a:endParaRPr lang="en-MX" sz="1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41" marR="3744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1200" dirty="0">
                          <a:solidFill>
                            <a:schemeClr val="bg1"/>
                          </a:solidFill>
                          <a:effectLst/>
                          <a:latin typeface="Times New Roman" panose="02020603050405020304" pitchFamily="18" charset="0"/>
                          <a:cs typeface="Times New Roman" panose="02020603050405020304" pitchFamily="18" charset="0"/>
                        </a:rPr>
                        <a:t>80</a:t>
                      </a:r>
                      <a:endParaRPr lang="en-MX" sz="1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41" marR="3744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1200" dirty="0">
                          <a:solidFill>
                            <a:schemeClr val="bg1"/>
                          </a:solidFill>
                          <a:effectLst/>
                          <a:latin typeface="Times New Roman" panose="02020603050405020304" pitchFamily="18" charset="0"/>
                          <a:cs typeface="Times New Roman" panose="02020603050405020304" pitchFamily="18" charset="0"/>
                        </a:rPr>
                        <a:t>60</a:t>
                      </a:r>
                      <a:endParaRPr lang="en-MX" sz="1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41" marR="3744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1200" dirty="0">
                          <a:solidFill>
                            <a:schemeClr val="bg1"/>
                          </a:solidFill>
                          <a:effectLst/>
                          <a:latin typeface="Times New Roman" panose="02020603050405020304" pitchFamily="18" charset="0"/>
                          <a:cs typeface="Times New Roman" panose="02020603050405020304" pitchFamily="18" charset="0"/>
                        </a:rPr>
                        <a:t>40</a:t>
                      </a:r>
                      <a:endParaRPr lang="en-MX" sz="1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41" marR="3744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1200" dirty="0">
                          <a:solidFill>
                            <a:schemeClr val="bg1"/>
                          </a:solidFill>
                          <a:effectLst/>
                          <a:latin typeface="Times New Roman" panose="02020603050405020304" pitchFamily="18" charset="0"/>
                          <a:cs typeface="Times New Roman" panose="02020603050405020304" pitchFamily="18" charset="0"/>
                        </a:rPr>
                        <a:t>20</a:t>
                      </a:r>
                      <a:endParaRPr lang="en-MX" sz="1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41" marR="3744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1200" dirty="0">
                          <a:solidFill>
                            <a:schemeClr val="bg1"/>
                          </a:solidFill>
                          <a:effectLst/>
                          <a:latin typeface="Times New Roman" panose="02020603050405020304" pitchFamily="18" charset="0"/>
                          <a:cs typeface="Times New Roman" panose="02020603050405020304" pitchFamily="18" charset="0"/>
                        </a:rPr>
                        <a:t>0</a:t>
                      </a:r>
                      <a:endParaRPr lang="en-MX" sz="1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41" marR="3744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1200" dirty="0">
                          <a:solidFill>
                            <a:schemeClr val="bg1"/>
                          </a:solidFill>
                          <a:effectLst/>
                          <a:latin typeface="Times New Roman" panose="02020603050405020304" pitchFamily="18" charset="0"/>
                          <a:cs typeface="Times New Roman" panose="02020603050405020304" pitchFamily="18" charset="0"/>
                        </a:rPr>
                        <a:t>Weight</a:t>
                      </a:r>
                      <a:endParaRPr lang="en-MX" sz="1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41" marR="3744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893911238"/>
                  </a:ext>
                </a:extLst>
              </a:tr>
              <a:tr h="1026956">
                <a:tc>
                  <a:txBody>
                    <a:bodyPr/>
                    <a:lstStyle/>
                    <a:p>
                      <a:r>
                        <a:rPr lang="en-US" sz="1200" dirty="0">
                          <a:effectLst/>
                          <a:latin typeface="Times New Roman" panose="02020603050405020304" pitchFamily="18" charset="0"/>
                          <a:cs typeface="Times New Roman" panose="02020603050405020304" pitchFamily="18" charset="0"/>
                        </a:rPr>
                        <a:t>Software Questions</a:t>
                      </a:r>
                      <a:endParaRPr lang="en-MX"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41" marR="3744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sz="1200" dirty="0">
                          <a:effectLst/>
                          <a:latin typeface="Times New Roman" panose="02020603050405020304" pitchFamily="18" charset="0"/>
                          <a:cs typeface="Times New Roman" panose="02020603050405020304" pitchFamily="18" charset="0"/>
                        </a:rPr>
                        <a:t>The student proves that has complete knowledge of the code, and is able to answer any questions from the professor regarding:</a:t>
                      </a:r>
                      <a:endParaRPr lang="en-MX" sz="1200" dirty="0">
                        <a:effectLst/>
                        <a:latin typeface="Times New Roman" panose="02020603050405020304" pitchFamily="18" charset="0"/>
                        <a:cs typeface="Times New Roman" panose="02020603050405020304" pitchFamily="18" charset="0"/>
                      </a:endParaRPr>
                    </a:p>
                    <a:p>
                      <a:pPr marL="198900" lvl="0" indent="-198900">
                        <a:buFont typeface="+mj-lt"/>
                        <a:buAutoNum type="arabicPeriod"/>
                        <a:tabLst>
                          <a:tab pos="228600" algn="l"/>
                        </a:tabLst>
                      </a:pPr>
                      <a:r>
                        <a:rPr lang="en-US" sz="1200" dirty="0">
                          <a:effectLst/>
                          <a:latin typeface="Times New Roman" panose="02020603050405020304" pitchFamily="18" charset="0"/>
                          <a:cs typeface="Times New Roman" panose="02020603050405020304" pitchFamily="18" charset="0"/>
                        </a:rPr>
                        <a:t>Functionality.</a:t>
                      </a:r>
                      <a:endParaRPr lang="en-MX" sz="1200" dirty="0">
                        <a:effectLst/>
                        <a:latin typeface="Times New Roman" panose="02020603050405020304" pitchFamily="18" charset="0"/>
                        <a:cs typeface="Times New Roman" panose="02020603050405020304" pitchFamily="18" charset="0"/>
                      </a:endParaRPr>
                    </a:p>
                    <a:p>
                      <a:pPr marL="198900" lvl="0" indent="-198900">
                        <a:buFont typeface="+mj-lt"/>
                        <a:buAutoNum type="arabicPeriod"/>
                        <a:tabLst>
                          <a:tab pos="228600" algn="l"/>
                        </a:tabLst>
                      </a:pPr>
                      <a:r>
                        <a:rPr lang="en-US" sz="1200" dirty="0">
                          <a:effectLst/>
                          <a:latin typeface="Times New Roman" panose="02020603050405020304" pitchFamily="18" charset="0"/>
                          <a:cs typeface="Times New Roman" panose="02020603050405020304" pitchFamily="18" charset="0"/>
                        </a:rPr>
                        <a:t>Code.</a:t>
                      </a:r>
                      <a:endParaRPr lang="en-MX" sz="1200" dirty="0">
                        <a:effectLst/>
                        <a:latin typeface="Times New Roman" panose="02020603050405020304" pitchFamily="18" charset="0"/>
                        <a:cs typeface="Times New Roman" panose="02020603050405020304" pitchFamily="18" charset="0"/>
                      </a:endParaRPr>
                    </a:p>
                    <a:p>
                      <a:pPr marL="198900" lvl="0" indent="-198900">
                        <a:buFont typeface="+mj-lt"/>
                        <a:buAutoNum type="arabicPeriod"/>
                        <a:tabLst>
                          <a:tab pos="228600" algn="l"/>
                        </a:tabLst>
                      </a:pPr>
                      <a:r>
                        <a:rPr lang="en-US" sz="1200" dirty="0">
                          <a:effectLst/>
                          <a:latin typeface="Times New Roman" panose="02020603050405020304" pitchFamily="18" charset="0"/>
                          <a:cs typeface="Times New Roman" panose="02020603050405020304" pitchFamily="18" charset="0"/>
                        </a:rPr>
                        <a:t>Source files.</a:t>
                      </a:r>
                      <a:endParaRPr lang="en-MX"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41" marR="3744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effectLst/>
                          <a:latin typeface="Times New Roman" panose="02020603050405020304" pitchFamily="18" charset="0"/>
                          <a:cs typeface="Times New Roman" panose="02020603050405020304" pitchFamily="18" charset="0"/>
                        </a:rPr>
                        <a:t>Does not apply</a:t>
                      </a:r>
                      <a:endParaRPr lang="en-MX"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41" marR="3744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effectLst/>
                          <a:latin typeface="Times New Roman" panose="02020603050405020304" pitchFamily="18" charset="0"/>
                          <a:cs typeface="Times New Roman" panose="02020603050405020304" pitchFamily="18" charset="0"/>
                        </a:rPr>
                        <a:t>The student fails to answer in a correct manner any question.</a:t>
                      </a:r>
                      <a:endParaRPr lang="en-MX"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41" marR="3744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effectLst/>
                          <a:latin typeface="Times New Roman" panose="02020603050405020304" pitchFamily="18" charset="0"/>
                          <a:cs typeface="Times New Roman" panose="02020603050405020304" pitchFamily="18" charset="0"/>
                        </a:rPr>
                        <a:t>Does not apply</a:t>
                      </a:r>
                      <a:endParaRPr lang="en-MX"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41" marR="3744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a:effectLst/>
                          <a:latin typeface="Times New Roman" panose="02020603050405020304" pitchFamily="18" charset="0"/>
                          <a:cs typeface="Times New Roman" panose="02020603050405020304" pitchFamily="18" charset="0"/>
                        </a:rPr>
                        <a:t>The student does not prove complete knowledge of the code. However, there is no evidence of cheating.</a:t>
                      </a:r>
                      <a:endParaRPr lang="en-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41" marR="3744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b="1" dirty="0">
                          <a:solidFill>
                            <a:srgbClr val="FF0000"/>
                          </a:solidFill>
                          <a:effectLst/>
                          <a:latin typeface="Times New Roman" panose="02020603050405020304" pitchFamily="18" charset="0"/>
                          <a:cs typeface="Times New Roman" panose="02020603050405020304" pitchFamily="18" charset="0"/>
                        </a:rPr>
                        <a:t>Cheating</a:t>
                      </a:r>
                      <a:endParaRPr lang="en-MX" sz="12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41" marR="3744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a:effectLst/>
                          <a:latin typeface="Times New Roman" panose="02020603050405020304" pitchFamily="18" charset="0"/>
                          <a:cs typeface="Times New Roman" panose="02020603050405020304" pitchFamily="18" charset="0"/>
                        </a:rPr>
                        <a:t>60</a:t>
                      </a:r>
                      <a:endParaRPr lang="en-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41" marR="3744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5467955"/>
                  </a:ext>
                </a:extLst>
              </a:tr>
              <a:tr h="770217">
                <a:tc>
                  <a:txBody>
                    <a:bodyPr/>
                    <a:lstStyle/>
                    <a:p>
                      <a:pPr>
                        <a:tabLst>
                          <a:tab pos="2743200" algn="ctr"/>
                          <a:tab pos="5486400" algn="r"/>
                          <a:tab pos="457200" algn="l"/>
                        </a:tabLst>
                      </a:pPr>
                      <a:r>
                        <a:rPr lang="en-US" sz="1200" dirty="0">
                          <a:effectLst/>
                          <a:latin typeface="Times New Roman" panose="02020603050405020304" pitchFamily="18" charset="0"/>
                          <a:cs typeface="Times New Roman" panose="02020603050405020304" pitchFamily="18" charset="0"/>
                        </a:rPr>
                        <a:t>Software Modifications</a:t>
                      </a:r>
                      <a:endParaRPr lang="en-MX"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41" marR="3744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sz="1200">
                          <a:effectLst/>
                          <a:latin typeface="Times New Roman" panose="02020603050405020304" pitchFamily="18" charset="0"/>
                          <a:cs typeface="Times New Roman" panose="02020603050405020304" pitchFamily="18" charset="0"/>
                        </a:rPr>
                        <a:t>The student is able to on-the-fly modify the code with regard to any change or new functional requirement given by the professor during the session.</a:t>
                      </a:r>
                      <a:endParaRPr lang="en-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41" marR="3744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a:r>
                        <a:rPr lang="en-US" sz="1200" dirty="0">
                          <a:effectLst/>
                          <a:latin typeface="Times New Roman" panose="02020603050405020304" pitchFamily="18" charset="0"/>
                          <a:cs typeface="Times New Roman" panose="02020603050405020304" pitchFamily="18" charset="0"/>
                        </a:rPr>
                        <a:t>Does not apply </a:t>
                      </a:r>
                      <a:endParaRPr lang="en-MX"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41" marR="3744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effectLst/>
                          <a:latin typeface="Times New Roman" panose="02020603050405020304" pitchFamily="18" charset="0"/>
                          <a:cs typeface="Times New Roman" panose="02020603050405020304" pitchFamily="18" charset="0"/>
                        </a:rPr>
                        <a:t>Does not apply</a:t>
                      </a:r>
                      <a:endParaRPr lang="en-MX" sz="1200" dirty="0">
                        <a:effectLst/>
                        <a:latin typeface="Times New Roman" panose="02020603050405020304" pitchFamily="18" charset="0"/>
                        <a:cs typeface="Times New Roman" panose="02020603050405020304" pitchFamily="18" charset="0"/>
                      </a:endParaRPr>
                    </a:p>
                    <a:p>
                      <a:r>
                        <a:rPr lang="en-US" sz="1200" dirty="0">
                          <a:effectLst/>
                          <a:latin typeface="Times New Roman" panose="02020603050405020304" pitchFamily="18" charset="0"/>
                          <a:cs typeface="Times New Roman" panose="02020603050405020304" pitchFamily="18" charset="0"/>
                        </a:rPr>
                        <a:t> </a:t>
                      </a:r>
                      <a:endParaRPr lang="en-MX"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41" marR="3744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effectLst/>
                          <a:latin typeface="Times New Roman" panose="02020603050405020304" pitchFamily="18" charset="0"/>
                          <a:cs typeface="Times New Roman" panose="02020603050405020304" pitchFamily="18" charset="0"/>
                        </a:rPr>
                        <a:t>Does not apply</a:t>
                      </a:r>
                      <a:endParaRPr lang="en-MX"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41" marR="3744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effectLst/>
                          <a:latin typeface="Times New Roman" panose="02020603050405020304" pitchFamily="18" charset="0"/>
                          <a:cs typeface="Times New Roman" panose="02020603050405020304" pitchFamily="18" charset="0"/>
                        </a:rPr>
                        <a:t>The student is not able to on-the-fly modify the code. However, there is no evidence of cheating.</a:t>
                      </a:r>
                      <a:endParaRPr lang="en-MX"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41" marR="3744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b="1" dirty="0">
                          <a:solidFill>
                            <a:srgbClr val="FF0000"/>
                          </a:solidFill>
                          <a:effectLst/>
                          <a:latin typeface="Times New Roman" panose="02020603050405020304" pitchFamily="18" charset="0"/>
                          <a:cs typeface="Times New Roman" panose="02020603050405020304" pitchFamily="18" charset="0"/>
                        </a:rPr>
                        <a:t>Cheating</a:t>
                      </a:r>
                      <a:r>
                        <a:rPr lang="en-US" sz="1200" dirty="0">
                          <a:effectLst/>
                          <a:latin typeface="Times New Roman" panose="02020603050405020304" pitchFamily="18" charset="0"/>
                          <a:cs typeface="Times New Roman" panose="02020603050405020304" pitchFamily="18" charset="0"/>
                        </a:rPr>
                        <a:t> </a:t>
                      </a:r>
                      <a:endParaRPr lang="en-MX"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41" marR="3744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tabLst>
                          <a:tab pos="2743200" algn="ctr"/>
                          <a:tab pos="5486400" algn="r"/>
                          <a:tab pos="457200" algn="l"/>
                        </a:tabLst>
                      </a:pPr>
                      <a:r>
                        <a:rPr lang="en-US" sz="1200">
                          <a:effectLst/>
                          <a:latin typeface="Times New Roman" panose="02020603050405020304" pitchFamily="18" charset="0"/>
                          <a:cs typeface="Times New Roman" panose="02020603050405020304" pitchFamily="18" charset="0"/>
                        </a:rPr>
                        <a:t>30</a:t>
                      </a:r>
                      <a:endParaRPr lang="en-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41" marR="3744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29064564"/>
                  </a:ext>
                </a:extLst>
              </a:tr>
              <a:tr h="898586">
                <a:tc>
                  <a:txBody>
                    <a:bodyPr/>
                    <a:lstStyle/>
                    <a:p>
                      <a:r>
                        <a:rPr lang="en-US" sz="1200" dirty="0">
                          <a:effectLst/>
                          <a:latin typeface="Times New Roman" panose="02020603050405020304" pitchFamily="18" charset="0"/>
                          <a:cs typeface="Times New Roman" panose="02020603050405020304" pitchFamily="18" charset="0"/>
                        </a:rPr>
                        <a:t>Development process.</a:t>
                      </a:r>
                      <a:endParaRPr lang="en-MX"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41" marR="3744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sz="1200">
                          <a:effectLst/>
                          <a:latin typeface="Times New Roman" panose="02020603050405020304" pitchFamily="18" charset="0"/>
                          <a:cs typeface="Times New Roman" panose="02020603050405020304" pitchFamily="18" charset="0"/>
                        </a:rPr>
                        <a:t>The student is able to answer any questions from the professor regarding:</a:t>
                      </a:r>
                      <a:endParaRPr lang="en-MX" sz="1200">
                        <a:effectLst/>
                        <a:latin typeface="Times New Roman" panose="02020603050405020304" pitchFamily="18" charset="0"/>
                        <a:cs typeface="Times New Roman" panose="02020603050405020304" pitchFamily="18" charset="0"/>
                      </a:endParaRPr>
                    </a:p>
                    <a:p>
                      <a:pPr marL="198900" lvl="0" indent="-198900">
                        <a:buFont typeface="+mj-lt"/>
                        <a:buAutoNum type="arabicPeriod"/>
                        <a:tabLst>
                          <a:tab pos="228600" algn="l"/>
                        </a:tabLst>
                      </a:pPr>
                      <a:r>
                        <a:rPr lang="en-US" sz="1200">
                          <a:effectLst/>
                          <a:latin typeface="Times New Roman" panose="02020603050405020304" pitchFamily="18" charset="0"/>
                          <a:cs typeface="Times New Roman" panose="02020603050405020304" pitchFamily="18" charset="0"/>
                        </a:rPr>
                        <a:t>Functional Requirements.</a:t>
                      </a:r>
                      <a:endParaRPr lang="en-MX" sz="1200">
                        <a:effectLst/>
                        <a:latin typeface="Times New Roman" panose="02020603050405020304" pitchFamily="18" charset="0"/>
                        <a:cs typeface="Times New Roman" panose="02020603050405020304" pitchFamily="18" charset="0"/>
                      </a:endParaRPr>
                    </a:p>
                    <a:p>
                      <a:pPr marL="198900" lvl="0" indent="-198900">
                        <a:buFont typeface="+mj-lt"/>
                        <a:buAutoNum type="arabicPeriod"/>
                        <a:tabLst>
                          <a:tab pos="228600" algn="l"/>
                        </a:tabLst>
                      </a:pPr>
                      <a:r>
                        <a:rPr lang="en-US" sz="1200">
                          <a:effectLst/>
                          <a:latin typeface="Times New Roman" panose="02020603050405020304" pitchFamily="18" charset="0"/>
                          <a:cs typeface="Times New Roman" panose="02020603050405020304" pitchFamily="18" charset="0"/>
                        </a:rPr>
                        <a:t>Analysis.</a:t>
                      </a:r>
                      <a:endParaRPr lang="en-MX" sz="1200">
                        <a:effectLst/>
                        <a:latin typeface="Times New Roman" panose="02020603050405020304" pitchFamily="18" charset="0"/>
                        <a:cs typeface="Times New Roman" panose="02020603050405020304" pitchFamily="18" charset="0"/>
                      </a:endParaRPr>
                    </a:p>
                    <a:p>
                      <a:pPr marL="198900" lvl="0" indent="-198900">
                        <a:buFont typeface="+mj-lt"/>
                        <a:buAutoNum type="arabicPeriod"/>
                        <a:tabLst>
                          <a:tab pos="228600" algn="l"/>
                        </a:tabLst>
                      </a:pPr>
                      <a:r>
                        <a:rPr lang="en-US" sz="1200">
                          <a:effectLst/>
                          <a:latin typeface="Times New Roman" panose="02020603050405020304" pitchFamily="18" charset="0"/>
                          <a:cs typeface="Times New Roman" panose="02020603050405020304" pitchFamily="18" charset="0"/>
                        </a:rPr>
                        <a:t>Design.</a:t>
                      </a:r>
                      <a:endParaRPr lang="en-MX" sz="1200">
                        <a:effectLst/>
                        <a:latin typeface="Times New Roman" panose="02020603050405020304" pitchFamily="18" charset="0"/>
                        <a:cs typeface="Times New Roman" panose="02020603050405020304" pitchFamily="18" charset="0"/>
                      </a:endParaRPr>
                    </a:p>
                    <a:p>
                      <a:pPr marL="198900" lvl="0" indent="-198900">
                        <a:buFont typeface="+mj-lt"/>
                        <a:buAutoNum type="arabicPeriod"/>
                        <a:tabLst>
                          <a:tab pos="228600" algn="l"/>
                        </a:tabLst>
                      </a:pPr>
                      <a:r>
                        <a:rPr lang="en-US" sz="1200">
                          <a:effectLst/>
                          <a:latin typeface="Times New Roman" panose="02020603050405020304" pitchFamily="18" charset="0"/>
                          <a:cs typeface="Times New Roman" panose="02020603050405020304" pitchFamily="18" charset="0"/>
                        </a:rPr>
                        <a:t>Implementation.</a:t>
                      </a:r>
                      <a:endParaRPr lang="en-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41" marR="3744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a:effectLst/>
                          <a:latin typeface="Times New Roman" panose="02020603050405020304" pitchFamily="18" charset="0"/>
                          <a:cs typeface="Times New Roman" panose="02020603050405020304" pitchFamily="18" charset="0"/>
                        </a:rPr>
                        <a:t>Does not apply</a:t>
                      </a:r>
                      <a:endParaRPr lang="en-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41" marR="3744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a:effectLst/>
                          <a:latin typeface="Times New Roman" panose="02020603050405020304" pitchFamily="18" charset="0"/>
                          <a:cs typeface="Times New Roman" panose="02020603050405020304" pitchFamily="18" charset="0"/>
                        </a:rPr>
                        <a:t>Does not apply</a:t>
                      </a:r>
                      <a:endParaRPr lang="en-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41" marR="3744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a:effectLst/>
                          <a:latin typeface="Times New Roman" panose="02020603050405020304" pitchFamily="18" charset="0"/>
                          <a:cs typeface="Times New Roman" panose="02020603050405020304" pitchFamily="18" charset="0"/>
                        </a:rPr>
                        <a:t>Does not apply</a:t>
                      </a:r>
                      <a:endParaRPr lang="en-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41" marR="3744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effectLst/>
                          <a:latin typeface="Times New Roman" panose="02020603050405020304" pitchFamily="18" charset="0"/>
                          <a:cs typeface="Times New Roman" panose="02020603050405020304" pitchFamily="18" charset="0"/>
                        </a:rPr>
                        <a:t>The student is not able to answer all the questions. However, there is no evidence of cheating.</a:t>
                      </a:r>
                      <a:endParaRPr lang="en-MX"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41" marR="3744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b="1" dirty="0">
                          <a:solidFill>
                            <a:srgbClr val="FF0000"/>
                          </a:solidFill>
                          <a:effectLst/>
                          <a:latin typeface="Times New Roman" panose="02020603050405020304" pitchFamily="18" charset="0"/>
                          <a:cs typeface="Times New Roman" panose="02020603050405020304" pitchFamily="18" charset="0"/>
                        </a:rPr>
                        <a:t>Cheating</a:t>
                      </a:r>
                      <a:endParaRPr lang="en-MX"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41" marR="3744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effectLst/>
                          <a:latin typeface="Times New Roman" panose="02020603050405020304" pitchFamily="18" charset="0"/>
                          <a:cs typeface="Times New Roman" panose="02020603050405020304" pitchFamily="18" charset="0"/>
                        </a:rPr>
                        <a:t>10</a:t>
                      </a:r>
                      <a:endParaRPr lang="en-MX"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41" marR="3744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2227006"/>
                  </a:ext>
                </a:extLst>
              </a:tr>
            </a:tbl>
          </a:graphicData>
        </a:graphic>
      </p:graphicFrame>
      <p:sp>
        <p:nvSpPr>
          <p:cNvPr id="11" name="Content Placeholder 2">
            <a:extLst>
              <a:ext uri="{FF2B5EF4-FFF2-40B4-BE49-F238E27FC236}">
                <a16:creationId xmlns:a16="http://schemas.microsoft.com/office/drawing/2014/main" id="{CEFA283C-1FBF-DB64-CCE8-D8DF35239AF1}"/>
              </a:ext>
            </a:extLst>
          </p:cNvPr>
          <p:cNvSpPr txBox="1">
            <a:spLocks/>
          </p:cNvSpPr>
          <p:nvPr/>
        </p:nvSpPr>
        <p:spPr>
          <a:xfrm>
            <a:off x="221415" y="5865666"/>
            <a:ext cx="8036671" cy="716791"/>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u="sng" dirty="0">
                <a:solidFill>
                  <a:srgbClr val="0000FF"/>
                </a:solidFill>
                <a:effectLst/>
                <a:latin typeface="Times New Roman" panose="02020603050405020304" pitchFamily="18" charset="0"/>
                <a:ea typeface="Times New Roman" panose="02020603050405020304" pitchFamily="18" charset="0"/>
              </a:rPr>
              <a:t>Important Remarks</a:t>
            </a:r>
            <a:endParaRPr lang="en-MX" sz="1400" dirty="0">
              <a:effectLst/>
              <a:latin typeface="Times New Roman" panose="02020603050405020304" pitchFamily="18" charset="0"/>
              <a:ea typeface="Times New Roman" panose="02020603050405020304" pitchFamily="18" charset="0"/>
            </a:endParaRPr>
          </a:p>
          <a:p>
            <a:pPr marL="234900" lvl="0" indent="-234900">
              <a:buFont typeface="Symbol" pitchFamily="2" charset="2"/>
              <a:buChar char=""/>
              <a:tabLst>
                <a:tab pos="457200" algn="l"/>
              </a:tabLst>
            </a:pPr>
            <a:r>
              <a:rPr lang="en-US" sz="1400" b="1" dirty="0">
                <a:effectLst/>
                <a:latin typeface="Times New Roman" panose="02020603050405020304" pitchFamily="18" charset="0"/>
                <a:ea typeface="Times New Roman" panose="02020603050405020304" pitchFamily="18" charset="0"/>
              </a:rPr>
              <a:t>The above points are maximum margins. The 100 will obtained if and only if all the items are satisfied in an excellent manner accordingly to the professor criteria.</a:t>
            </a:r>
            <a:endParaRPr lang="en-MX" sz="1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6912418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04895F-1F3A-C736-DEFE-E486B0D0B4C0}"/>
              </a:ext>
            </a:extLst>
          </p:cNvPr>
          <p:cNvSpPr>
            <a:spLocks noGrp="1"/>
          </p:cNvSpPr>
          <p:nvPr>
            <p:ph idx="1"/>
          </p:nvPr>
        </p:nvSpPr>
        <p:spPr>
          <a:xfrm>
            <a:off x="327259" y="77000"/>
            <a:ext cx="8499107" cy="6652589"/>
          </a:xfrm>
        </p:spPr>
        <p:txBody>
          <a:bodyPr anchor="ctr">
            <a:noAutofit/>
          </a:bodyPr>
          <a:lstStyle/>
          <a:p>
            <a:pPr marL="615600" lvl="0" indent="-615600" algn="just">
              <a:buFont typeface="+mj-lt"/>
              <a:buAutoNum type="romanUcPeriod" startAt="6"/>
            </a:pPr>
            <a:r>
              <a:rPr lang="en-US" sz="2400" b="1" u="sng" dirty="0">
                <a:solidFill>
                  <a:srgbClr val="000000"/>
                </a:solidFill>
                <a:effectLst/>
                <a:latin typeface="Times"/>
                <a:ea typeface="Times New Roman" panose="02020603050405020304" pitchFamily="18" charset="0"/>
                <a:cs typeface="Times New Roman" panose="02020603050405020304" pitchFamily="18" charset="0"/>
              </a:rPr>
              <a:t>Written Report</a:t>
            </a:r>
          </a:p>
          <a:p>
            <a:pPr marL="0" lvl="0" indent="0" algn="just">
              <a:buNone/>
            </a:pPr>
            <a:r>
              <a:rPr lang="en-US" sz="1200" dirty="0">
                <a:effectLst/>
                <a:latin typeface="Times New Roman" panose="02020603050405020304" pitchFamily="18" charset="0"/>
                <a:ea typeface="Times New Roman" panose="02020603050405020304" pitchFamily="18" charset="0"/>
              </a:rPr>
              <a:t>     Once all the previous problem’s features are being clearly and concisely formulated and stated as seen during lectures, the following step is to implement the development of the software system project process model. All development process models include in one way or another the following phases: </a:t>
            </a:r>
            <a:r>
              <a:rPr lang="en-US" sz="1200" b="1" i="1" dirty="0">
                <a:effectLst/>
                <a:latin typeface="Times New Roman" panose="02020603050405020304" pitchFamily="18" charset="0"/>
                <a:ea typeface="Times New Roman" panose="02020603050405020304" pitchFamily="18" charset="0"/>
              </a:rPr>
              <a:t>Analysis</a:t>
            </a:r>
            <a:r>
              <a:rPr lang="en-US" sz="1200" dirty="0">
                <a:effectLst/>
                <a:latin typeface="Times New Roman" panose="02020603050405020304" pitchFamily="18" charset="0"/>
                <a:ea typeface="Times New Roman" panose="02020603050405020304" pitchFamily="18" charset="0"/>
              </a:rPr>
              <a:t>, </a:t>
            </a:r>
            <a:r>
              <a:rPr lang="en-US" sz="1200" b="1" i="1" dirty="0">
                <a:effectLst/>
                <a:latin typeface="Times New Roman" panose="02020603050405020304" pitchFamily="18" charset="0"/>
                <a:ea typeface="Times New Roman" panose="02020603050405020304" pitchFamily="18" charset="0"/>
              </a:rPr>
              <a:t>Design</a:t>
            </a:r>
            <a:r>
              <a:rPr lang="en-US" sz="1200" dirty="0">
                <a:effectLst/>
                <a:latin typeface="Times New Roman" panose="02020603050405020304" pitchFamily="18" charset="0"/>
                <a:ea typeface="Times New Roman" panose="02020603050405020304" pitchFamily="18" charset="0"/>
              </a:rPr>
              <a:t>, </a:t>
            </a:r>
            <a:r>
              <a:rPr lang="en-US" sz="1200" b="1" i="1" dirty="0">
                <a:effectLst/>
                <a:latin typeface="Times New Roman" panose="02020603050405020304" pitchFamily="18" charset="0"/>
                <a:ea typeface="Times New Roman" panose="02020603050405020304" pitchFamily="18" charset="0"/>
              </a:rPr>
              <a:t>Implementation</a:t>
            </a:r>
            <a:r>
              <a:rPr lang="en-US" sz="1200" dirty="0">
                <a:effectLst/>
                <a:latin typeface="Times New Roman" panose="02020603050405020304" pitchFamily="18" charset="0"/>
                <a:ea typeface="Times New Roman" panose="02020603050405020304" pitchFamily="18" charset="0"/>
              </a:rPr>
              <a:t>, </a:t>
            </a:r>
            <a:r>
              <a:rPr lang="en-US" sz="1200" b="1" i="1" dirty="0">
                <a:effectLst/>
                <a:latin typeface="Times New Roman" panose="02020603050405020304" pitchFamily="18" charset="0"/>
                <a:ea typeface="Times New Roman" panose="02020603050405020304" pitchFamily="18" charset="0"/>
              </a:rPr>
              <a:t>Testing</a:t>
            </a:r>
            <a:r>
              <a:rPr lang="en-US" sz="1200" dirty="0">
                <a:effectLst/>
                <a:latin typeface="Times New Roman" panose="02020603050405020304" pitchFamily="18" charset="0"/>
                <a:ea typeface="Times New Roman" panose="02020603050405020304" pitchFamily="18" charset="0"/>
              </a:rPr>
              <a:t>, and </a:t>
            </a:r>
            <a:r>
              <a:rPr lang="en-US" sz="1200" b="1" i="1" dirty="0">
                <a:effectLst/>
                <a:latin typeface="Times New Roman" panose="02020603050405020304" pitchFamily="18" charset="0"/>
                <a:ea typeface="Times New Roman" panose="02020603050405020304" pitchFamily="18" charset="0"/>
              </a:rPr>
              <a:t>Deployment</a:t>
            </a:r>
            <a:r>
              <a:rPr lang="en-US" sz="1200" dirty="0">
                <a:effectLst/>
                <a:latin typeface="Times New Roman" panose="02020603050405020304" pitchFamily="18" charset="0"/>
                <a:ea typeface="Times New Roman" panose="02020603050405020304" pitchFamily="18" charset="0"/>
              </a:rPr>
              <a:t>. The development of the scanner should be based on the IEEE-830 standard.</a:t>
            </a:r>
            <a:endParaRPr lang="en-MX" sz="1200" dirty="0">
              <a:effectLst/>
              <a:latin typeface="Times New Roman" panose="02020603050405020304" pitchFamily="18" charset="0"/>
              <a:ea typeface="Times New Roman" panose="02020603050405020304" pitchFamily="18" charset="0"/>
            </a:endParaRPr>
          </a:p>
          <a:p>
            <a:pPr marL="0" indent="0" algn="just">
              <a:buNone/>
            </a:pPr>
            <a:r>
              <a:rPr lang="en-US" sz="1200" dirty="0">
                <a:effectLst/>
                <a:latin typeface="Times New Roman" panose="02020603050405020304" pitchFamily="18" charset="0"/>
                <a:ea typeface="Times New Roman" panose="02020603050405020304" pitchFamily="18" charset="0"/>
              </a:rPr>
              <a:t>The structure of report for the scanner must include the following sections:</a:t>
            </a:r>
            <a:endParaRPr lang="en-MX" sz="1200" dirty="0">
              <a:effectLst/>
              <a:latin typeface="Times New Roman" panose="02020603050405020304" pitchFamily="18" charset="0"/>
              <a:ea typeface="Times New Roman" panose="02020603050405020304" pitchFamily="18" charset="0"/>
            </a:endParaRPr>
          </a:p>
          <a:p>
            <a:pPr marL="342900" lvl="0" indent="-342900" algn="just">
              <a:buFont typeface="+mj-lt"/>
              <a:buAutoNum type="arabicPeriod"/>
              <a:tabLst>
                <a:tab pos="457200" algn="l"/>
              </a:tabLst>
            </a:pPr>
            <a:r>
              <a:rPr lang="en-US" sz="1200" b="1" dirty="0">
                <a:effectLst/>
                <a:latin typeface="Times New Roman" panose="02020603050405020304" pitchFamily="18" charset="0"/>
                <a:ea typeface="Times New Roman" panose="02020603050405020304" pitchFamily="18" charset="0"/>
              </a:rPr>
              <a:t>Introduction</a:t>
            </a:r>
            <a:endParaRPr lang="en-MX" sz="1200" dirty="0">
              <a:effectLst/>
              <a:latin typeface="Times New Roman" panose="02020603050405020304" pitchFamily="18" charset="0"/>
              <a:ea typeface="Times New Roman" panose="02020603050405020304" pitchFamily="18" charset="0"/>
            </a:endParaRPr>
          </a:p>
          <a:p>
            <a:pPr marL="457200" lvl="1" indent="0" algn="just">
              <a:buNone/>
              <a:tabLst>
                <a:tab pos="1051560" algn="l"/>
              </a:tabLst>
            </a:pPr>
            <a:r>
              <a:rPr lang="en-US" sz="1200" b="1" dirty="0">
                <a:effectLst/>
                <a:latin typeface="Times New Roman" panose="02020603050405020304" pitchFamily="18" charset="0"/>
                <a:ea typeface="Times New Roman" panose="02020603050405020304" pitchFamily="18" charset="0"/>
              </a:rPr>
              <a:t>1.1.- Summary</a:t>
            </a:r>
            <a:endParaRPr lang="en-MX" sz="1200" b="1" dirty="0">
              <a:latin typeface="Times New Roman" panose="02020603050405020304" pitchFamily="18" charset="0"/>
              <a:ea typeface="Times New Roman" panose="02020603050405020304" pitchFamily="18" charset="0"/>
            </a:endParaRPr>
          </a:p>
          <a:p>
            <a:pPr marL="457200" lvl="1" indent="0" algn="just">
              <a:buNone/>
              <a:tabLst>
                <a:tab pos="1051560" algn="l"/>
              </a:tabLst>
            </a:pPr>
            <a:r>
              <a:rPr lang="en-US" sz="1200" dirty="0">
                <a:effectLst/>
                <a:latin typeface="Times New Roman" panose="02020603050405020304" pitchFamily="18" charset="0"/>
                <a:ea typeface="Times New Roman" panose="02020603050405020304" pitchFamily="18" charset="0"/>
              </a:rPr>
              <a:t>         Brief description of the contents of this report.</a:t>
            </a:r>
            <a:endParaRPr lang="en-MX" sz="1200" dirty="0">
              <a:effectLst/>
              <a:latin typeface="Times New Roman" panose="02020603050405020304" pitchFamily="18" charset="0"/>
              <a:ea typeface="Times New Roman" panose="02020603050405020304" pitchFamily="18" charset="0"/>
            </a:endParaRPr>
          </a:p>
          <a:p>
            <a:pPr marL="457200" lvl="1" indent="0" algn="just">
              <a:buNone/>
              <a:tabLst>
                <a:tab pos="1051560" algn="l"/>
              </a:tabLst>
            </a:pPr>
            <a:r>
              <a:rPr lang="en-US" sz="1200" b="1" dirty="0">
                <a:effectLst/>
                <a:latin typeface="Times New Roman" panose="02020603050405020304" pitchFamily="18" charset="0"/>
                <a:ea typeface="Times New Roman" panose="02020603050405020304" pitchFamily="18" charset="0"/>
              </a:rPr>
              <a:t>1.2.- Notation</a:t>
            </a:r>
            <a:endParaRPr lang="en-MX" sz="1200" b="1" dirty="0">
              <a:latin typeface="Times New Roman" panose="02020603050405020304" pitchFamily="18" charset="0"/>
              <a:ea typeface="Times New Roman" panose="02020603050405020304" pitchFamily="18" charset="0"/>
            </a:endParaRPr>
          </a:p>
          <a:p>
            <a:pPr marL="457200" lvl="1" indent="0" algn="just">
              <a:buNone/>
              <a:tabLst>
                <a:tab pos="1051560" algn="l"/>
              </a:tabLst>
            </a:pPr>
            <a:r>
              <a:rPr lang="en-MX" sz="1200" b="1" dirty="0">
                <a:effectLst/>
                <a:latin typeface="Times New Roman" panose="02020603050405020304" pitchFamily="18" charset="0"/>
                <a:ea typeface="Times New Roman" panose="02020603050405020304" pitchFamily="18" charset="0"/>
              </a:rPr>
              <a:t>        </a:t>
            </a:r>
            <a:r>
              <a:rPr lang="en-MX" sz="1200" b="1" dirty="0">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Give a brief description of finite state machines, regular expressions, and transition tables:</a:t>
            </a:r>
            <a:endParaRPr lang="en-MX" sz="1200" dirty="0">
              <a:effectLst/>
              <a:latin typeface="Times New Roman" panose="02020603050405020304" pitchFamily="18" charset="0"/>
              <a:ea typeface="Times New Roman" panose="02020603050405020304" pitchFamily="18" charset="0"/>
            </a:endParaRPr>
          </a:p>
          <a:p>
            <a:pPr marL="1143000" lvl="2" indent="-228600" algn="just">
              <a:buFont typeface="Symbol" pitchFamily="2" charset="2"/>
              <a:buChar char=""/>
              <a:tabLst>
                <a:tab pos="1485900" algn="l"/>
              </a:tabLst>
            </a:pPr>
            <a:r>
              <a:rPr lang="en-US" sz="1200" dirty="0">
                <a:effectLst/>
                <a:latin typeface="Times New Roman" panose="02020603050405020304" pitchFamily="18" charset="0"/>
                <a:ea typeface="Times New Roman" panose="02020603050405020304" pitchFamily="18" charset="0"/>
              </a:rPr>
              <a:t>Explain about the model used for the development of the analysis and design phases. </a:t>
            </a:r>
            <a:endParaRPr lang="en-MX" sz="1200" dirty="0">
              <a:effectLst/>
              <a:latin typeface="Times New Roman" panose="02020603050405020304" pitchFamily="18" charset="0"/>
              <a:ea typeface="Times New Roman" panose="02020603050405020304" pitchFamily="18" charset="0"/>
            </a:endParaRPr>
          </a:p>
          <a:p>
            <a:pPr marL="1143000" lvl="2" indent="-228600" algn="just">
              <a:buFont typeface="Symbol" pitchFamily="2" charset="2"/>
              <a:buChar char=""/>
              <a:tabLst>
                <a:tab pos="1485900" algn="l"/>
              </a:tabLst>
            </a:pPr>
            <a:r>
              <a:rPr lang="en-US" sz="1200" dirty="0">
                <a:effectLst/>
                <a:latin typeface="Times New Roman" panose="02020603050405020304" pitchFamily="18" charset="0"/>
                <a:ea typeface="Times New Roman" panose="02020603050405020304" pitchFamily="18" charset="0"/>
              </a:rPr>
              <a:t>Justification regarding the selected model.</a:t>
            </a:r>
            <a:endParaRPr lang="en-MX" sz="1200" dirty="0">
              <a:effectLst/>
              <a:latin typeface="Times New Roman" panose="02020603050405020304" pitchFamily="18" charset="0"/>
              <a:ea typeface="Times New Roman" panose="02020603050405020304" pitchFamily="18" charset="0"/>
            </a:endParaRPr>
          </a:p>
          <a:p>
            <a:pPr marL="1143000" lvl="2" indent="-228600" algn="just">
              <a:buFont typeface="Symbol" pitchFamily="2" charset="2"/>
              <a:buChar char=""/>
              <a:tabLst>
                <a:tab pos="1485900" algn="l"/>
              </a:tabLst>
            </a:pPr>
            <a:r>
              <a:rPr lang="en-US" sz="1200" dirty="0">
                <a:effectLst/>
                <a:latin typeface="Times New Roman" panose="02020603050405020304" pitchFamily="18" charset="0"/>
                <a:ea typeface="Times New Roman" panose="02020603050405020304" pitchFamily="18" charset="0"/>
              </a:rPr>
              <a:t>Explanation and justification of the programming language used for the implementation, in this case the </a:t>
            </a:r>
            <a:r>
              <a:rPr lang="en-US" sz="1200" b="1" dirty="0">
                <a:effectLst/>
                <a:latin typeface="Times New Roman" panose="02020603050405020304" pitchFamily="18" charset="0"/>
                <a:ea typeface="Times New Roman" panose="02020603050405020304" pitchFamily="18" charset="0"/>
              </a:rPr>
              <a:t>lex</a:t>
            </a:r>
            <a:r>
              <a:rPr lang="en-US" sz="1200" dirty="0">
                <a:effectLst/>
                <a:latin typeface="Times New Roman" panose="02020603050405020304" pitchFamily="18" charset="0"/>
                <a:ea typeface="Times New Roman" panose="02020603050405020304" pitchFamily="18" charset="0"/>
              </a:rPr>
              <a:t> tool.</a:t>
            </a:r>
            <a:endParaRPr lang="en-MX" sz="1200" dirty="0">
              <a:effectLst/>
              <a:latin typeface="Times New Roman" panose="02020603050405020304" pitchFamily="18" charset="0"/>
              <a:ea typeface="Times New Roman" panose="02020603050405020304" pitchFamily="18" charset="0"/>
            </a:endParaRPr>
          </a:p>
          <a:p>
            <a:pPr marL="342900" lvl="0" indent="-342900" algn="just">
              <a:buFont typeface="+mj-lt"/>
              <a:buAutoNum type="arabicPeriod"/>
              <a:tabLst>
                <a:tab pos="457200" algn="l"/>
              </a:tabLst>
            </a:pPr>
            <a:r>
              <a:rPr lang="en-US" sz="1200" b="1" dirty="0">
                <a:effectLst/>
                <a:latin typeface="Times New Roman" panose="02020603050405020304" pitchFamily="18" charset="0"/>
                <a:ea typeface="Times New Roman" panose="02020603050405020304" pitchFamily="18" charset="0"/>
              </a:rPr>
              <a:t>Analysis</a:t>
            </a:r>
            <a:endParaRPr lang="en-MX" sz="1200" dirty="0">
              <a:effectLst/>
              <a:latin typeface="Times New Roman" panose="02020603050405020304" pitchFamily="18" charset="0"/>
              <a:ea typeface="Times New Roman" panose="02020603050405020304" pitchFamily="18" charset="0"/>
            </a:endParaRPr>
          </a:p>
          <a:p>
            <a:pPr marL="457200" indent="0" algn="just">
              <a:buNone/>
            </a:pPr>
            <a:r>
              <a:rPr lang="en-US" sz="1200" dirty="0">
                <a:effectLst/>
                <a:latin typeface="Times New Roman" panose="02020603050405020304" pitchFamily="18" charset="0"/>
                <a:ea typeface="Times New Roman" panose="02020603050405020304" pitchFamily="18" charset="0"/>
              </a:rPr>
              <a:t>     The analysis model it’s a bridge between the system level description that describes overall system’s functionalities and the system design. The primary focus of this model is on the </a:t>
            </a:r>
            <a:r>
              <a:rPr lang="en-US" sz="1200" b="1" i="1" dirty="0" err="1">
                <a:effectLst/>
                <a:latin typeface="Times New Roman" panose="02020603050405020304" pitchFamily="18" charset="0"/>
                <a:ea typeface="Times New Roman" panose="02020603050405020304" pitchFamily="18" charset="0"/>
              </a:rPr>
              <a:t>whats</a:t>
            </a:r>
            <a:r>
              <a:rPr lang="en-US" sz="1200" b="1" i="1" dirty="0">
                <a:effectLst/>
                <a:latin typeface="Times New Roman" panose="02020603050405020304" pitchFamily="18" charset="0"/>
                <a:ea typeface="Times New Roman" panose="02020603050405020304" pitchFamily="18" charset="0"/>
              </a:rPr>
              <a:t> not the </a:t>
            </a:r>
            <a:r>
              <a:rPr lang="en-US" sz="1200" b="1" i="1" dirty="0" err="1">
                <a:effectLst/>
                <a:latin typeface="Times New Roman" panose="02020603050405020304" pitchFamily="18" charset="0"/>
                <a:ea typeface="Times New Roman" panose="02020603050405020304" pitchFamily="18" charset="0"/>
              </a:rPr>
              <a:t>hows</a:t>
            </a:r>
            <a:r>
              <a:rPr lang="en-US" sz="1200" dirty="0">
                <a:effectLst/>
                <a:latin typeface="Times New Roman" panose="02020603050405020304" pitchFamily="18" charset="0"/>
                <a:ea typeface="Times New Roman" panose="02020603050405020304" pitchFamily="18" charset="0"/>
              </a:rPr>
              <a:t>. What I/O the system manipulates (data), what functions the system must perform, what are the behaviors that the system exhibit, what interfaces are defined, and what constraints apply. The analysis model shall achieve three primary objectives: 1) describe </a:t>
            </a:r>
            <a:r>
              <a:rPr lang="en-US" sz="1200" b="1" i="1" dirty="0">
                <a:effectLst/>
                <a:latin typeface="Times New Roman" panose="02020603050405020304" pitchFamily="18" charset="0"/>
                <a:ea typeface="Times New Roman" panose="02020603050405020304" pitchFamily="18" charset="0"/>
              </a:rPr>
              <a:t>what</a:t>
            </a:r>
            <a:r>
              <a:rPr lang="en-US" sz="1200" dirty="0">
                <a:effectLst/>
                <a:latin typeface="Times New Roman" panose="02020603050405020304" pitchFamily="18" charset="0"/>
                <a:ea typeface="Times New Roman" panose="02020603050405020304" pitchFamily="18" charset="0"/>
              </a:rPr>
              <a:t> the customer requires, 2) establish the basis for the creation of the software system design, and 3) define a set of requirements that can be validated (tested) once the software system is built.</a:t>
            </a:r>
            <a:endParaRPr lang="en-MX" sz="800" dirty="0">
              <a:effectLst/>
              <a:latin typeface="Times New Roman" panose="02020603050405020304" pitchFamily="18" charset="0"/>
              <a:ea typeface="Times New Roman" panose="02020603050405020304" pitchFamily="18" charset="0"/>
            </a:endParaRPr>
          </a:p>
          <a:p>
            <a:pPr marL="457200" indent="0" algn="just">
              <a:buNone/>
            </a:pPr>
            <a:r>
              <a:rPr lang="en-US" sz="1200" dirty="0">
                <a:effectLst/>
                <a:latin typeface="Times New Roman" panose="02020603050405020304" pitchFamily="18" charset="0"/>
                <a:ea typeface="Times New Roman" panose="02020603050405020304" pitchFamily="18" charset="0"/>
              </a:rPr>
              <a:t>     In this section, the student shall describe the requirements of the system which are represented by the eight deliverables for the scanner. It must include all the steps that are required to generate the complete set of formal specifications for them. It must include a concise and precise explanation of every step of the process, by making clear “what is required to do” and “why”.</a:t>
            </a:r>
            <a:endParaRPr lang="en-MX" sz="800" dirty="0">
              <a:effectLst/>
              <a:latin typeface="Times New Roman" panose="02020603050405020304" pitchFamily="18" charset="0"/>
              <a:ea typeface="Times New Roman" panose="02020603050405020304" pitchFamily="18" charset="0"/>
            </a:endParaRPr>
          </a:p>
          <a:p>
            <a:pPr marL="457200" indent="0" algn="just">
              <a:buNone/>
            </a:pPr>
            <a:r>
              <a:rPr lang="en-US" sz="1200" dirty="0">
                <a:effectLst/>
                <a:latin typeface="Times New Roman" panose="02020603050405020304" pitchFamily="18" charset="0"/>
                <a:ea typeface="Times New Roman" panose="02020603050405020304" pitchFamily="18" charset="0"/>
              </a:rPr>
              <a:t>     In summary, this section shall provide a brief description and explanation of the lexical components required to achieve the goal. It shall include the informal lexical description of the language, and the formal specification in the form of </a:t>
            </a:r>
            <a:r>
              <a:rPr lang="en-US" sz="1200" b="1" i="1" dirty="0">
                <a:effectLst/>
                <a:latin typeface="Times New Roman" panose="02020603050405020304" pitchFamily="18" charset="0"/>
                <a:ea typeface="Times New Roman" panose="02020603050405020304" pitchFamily="18" charset="0"/>
              </a:rPr>
              <a:t>regular expression </a:t>
            </a:r>
            <a:r>
              <a:rPr lang="en-US" sz="1200" dirty="0">
                <a:effectLst/>
                <a:latin typeface="Times New Roman" panose="02020603050405020304" pitchFamily="18" charset="0"/>
                <a:ea typeface="Times New Roman" panose="02020603050405020304" pitchFamily="18" charset="0"/>
              </a:rPr>
              <a:t>for each kind of token. You must describe all the considerations taken in order to develop these models. Be sure to explain every </a:t>
            </a:r>
            <a:r>
              <a:rPr lang="en-US" sz="1200" b="1" i="1" dirty="0">
                <a:effectLst/>
                <a:latin typeface="Times New Roman" panose="02020603050405020304" pitchFamily="18" charset="0"/>
                <a:ea typeface="Times New Roman" panose="02020603050405020304" pitchFamily="18" charset="0"/>
              </a:rPr>
              <a:t>regular expression </a:t>
            </a:r>
            <a:r>
              <a:rPr lang="en-US" sz="1200" dirty="0">
                <a:effectLst/>
                <a:latin typeface="Times New Roman" panose="02020603050405020304" pitchFamily="18" charset="0"/>
                <a:ea typeface="Times New Roman" panose="02020603050405020304" pitchFamily="18" charset="0"/>
              </a:rPr>
              <a:t>and how they comply with the Lexical Definition of the </a:t>
            </a:r>
            <a:r>
              <a:rPr lang="en-US" sz="1200" dirty="0">
                <a:latin typeface="Times New Roman" panose="02020603050405020304" pitchFamily="18" charset="0"/>
                <a:ea typeface="Times New Roman" panose="02020603050405020304" pitchFamily="18" charset="0"/>
              </a:rPr>
              <a:t>challenge’s</a:t>
            </a:r>
            <a:r>
              <a:rPr lang="en-US" sz="1200" dirty="0">
                <a:effectLst/>
                <a:latin typeface="Times New Roman" panose="02020603050405020304" pitchFamily="18" charset="0"/>
                <a:ea typeface="Times New Roman" panose="02020603050405020304" pitchFamily="18" charset="0"/>
              </a:rPr>
              <a:t> goal.</a:t>
            </a:r>
            <a:endParaRPr lang="en-MX" sz="1200" dirty="0">
              <a:effectLst/>
              <a:latin typeface="Times"/>
              <a:ea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E0618D98-820E-2A12-A4D9-B3D596008BED}"/>
              </a:ext>
            </a:extLst>
          </p:cNvPr>
          <p:cNvSpPr>
            <a:spLocks noGrp="1"/>
          </p:cNvSpPr>
          <p:nvPr>
            <p:ph type="sldNum" sz="quarter" idx="12"/>
          </p:nvPr>
        </p:nvSpPr>
        <p:spPr>
          <a:xfrm>
            <a:off x="6457950" y="6356350"/>
            <a:ext cx="2057400" cy="365125"/>
          </a:xfrm>
        </p:spPr>
        <p:txBody>
          <a:bodyPr>
            <a:normAutofit/>
          </a:bodyPr>
          <a:lstStyle/>
          <a:p>
            <a:pPr>
              <a:spcAft>
                <a:spcPts val="600"/>
              </a:spcAft>
            </a:pPr>
            <a:fld id="{87BA9580-FE5B-E14E-B782-A387CF7F7228}" type="slidenum">
              <a:rPr lang="en-MX" smtClean="0"/>
              <a:pPr>
                <a:spcAft>
                  <a:spcPts val="600"/>
                </a:spcAft>
              </a:pPr>
              <a:t>8</a:t>
            </a:fld>
            <a:endParaRPr lang="en-MX"/>
          </a:p>
        </p:txBody>
      </p:sp>
    </p:spTree>
    <p:extLst>
      <p:ext uri="{BB962C8B-B14F-4D97-AF65-F5344CB8AC3E}">
        <p14:creationId xmlns:p14="http://schemas.microsoft.com/office/powerpoint/2010/main" val="3703770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04895F-1F3A-C736-DEFE-E486B0D0B4C0}"/>
              </a:ext>
            </a:extLst>
          </p:cNvPr>
          <p:cNvSpPr>
            <a:spLocks noGrp="1"/>
          </p:cNvSpPr>
          <p:nvPr>
            <p:ph idx="1"/>
          </p:nvPr>
        </p:nvSpPr>
        <p:spPr>
          <a:xfrm>
            <a:off x="322446" y="136525"/>
            <a:ext cx="8499107" cy="5633339"/>
          </a:xfrm>
        </p:spPr>
        <p:txBody>
          <a:bodyPr anchor="ctr">
            <a:noAutofit/>
          </a:bodyPr>
          <a:lstStyle/>
          <a:p>
            <a:pPr marL="342900" lvl="0" indent="-342900" algn="just">
              <a:buFont typeface="+mj-lt"/>
              <a:buAutoNum type="arabicPeriod" startAt="3"/>
              <a:tabLst>
                <a:tab pos="457200" algn="l"/>
              </a:tabLst>
            </a:pPr>
            <a:r>
              <a:rPr lang="en-US" sz="1200" b="1" dirty="0">
                <a:effectLst/>
                <a:latin typeface="Times New Roman" panose="02020603050405020304" pitchFamily="18" charset="0"/>
                <a:ea typeface="Times New Roman" panose="02020603050405020304" pitchFamily="18" charset="0"/>
              </a:rPr>
              <a:t>Design</a:t>
            </a:r>
            <a:endParaRPr lang="en-MX" sz="1200" dirty="0">
              <a:effectLst/>
              <a:latin typeface="Times New Roman" panose="02020603050405020304" pitchFamily="18" charset="0"/>
              <a:ea typeface="Times New Roman" panose="02020603050405020304" pitchFamily="18" charset="0"/>
            </a:endParaRPr>
          </a:p>
          <a:p>
            <a:pPr marL="457200" indent="0" algn="just">
              <a:buNone/>
            </a:pPr>
            <a:r>
              <a:rPr lang="en-US" sz="1200" dirty="0">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Design and development represent the process of turning the specification (analysis model) into reality (the product). It’s an iterative process through which the requirements are translated into a “blueprint” of “how” to construct the system.</a:t>
            </a:r>
            <a:endParaRPr lang="en-MX" sz="1200" dirty="0">
              <a:effectLst/>
              <a:latin typeface="Times New Roman" panose="02020603050405020304" pitchFamily="18" charset="0"/>
              <a:ea typeface="Times New Roman" panose="02020603050405020304" pitchFamily="18" charset="0"/>
            </a:endParaRPr>
          </a:p>
          <a:p>
            <a:pPr marL="457200" indent="0" algn="just">
              <a:buNone/>
            </a:pPr>
            <a:r>
              <a:rPr lang="en-US" sz="1200" dirty="0">
                <a:effectLst/>
                <a:latin typeface="Times New Roman" panose="02020603050405020304" pitchFamily="18" charset="0"/>
                <a:ea typeface="Times New Roman" panose="02020603050405020304" pitchFamily="18" charset="0"/>
              </a:rPr>
              <a:t>There are several characteristics that represent a good design:</a:t>
            </a:r>
            <a:endParaRPr lang="en-MX" sz="1200" dirty="0">
              <a:effectLst/>
              <a:latin typeface="Times New Roman" panose="02020603050405020304" pitchFamily="18" charset="0"/>
              <a:ea typeface="Times New Roman" panose="02020603050405020304" pitchFamily="18" charset="0"/>
            </a:endParaRPr>
          </a:p>
          <a:p>
            <a:pPr lvl="1" algn="just"/>
            <a:r>
              <a:rPr lang="en-US" sz="1200" dirty="0">
                <a:effectLst/>
                <a:latin typeface="Times New Roman" panose="02020603050405020304" pitchFamily="18" charset="0"/>
                <a:ea typeface="Times New Roman" panose="02020603050405020304" pitchFamily="18" charset="0"/>
              </a:rPr>
              <a:t>The design must implement all the explicit requirements contained in the analysis model.</a:t>
            </a:r>
            <a:endParaRPr lang="en-MX" sz="1200" dirty="0">
              <a:effectLst/>
              <a:latin typeface="Times New Roman" panose="02020603050405020304" pitchFamily="18" charset="0"/>
              <a:ea typeface="Times New Roman" panose="02020603050405020304" pitchFamily="18" charset="0"/>
            </a:endParaRPr>
          </a:p>
          <a:p>
            <a:pPr lvl="1" algn="just"/>
            <a:r>
              <a:rPr lang="en-US" sz="1200" dirty="0">
                <a:effectLst/>
                <a:latin typeface="Times New Roman" panose="02020603050405020304" pitchFamily="18" charset="0"/>
                <a:ea typeface="Times New Roman" panose="02020603050405020304" pitchFamily="18" charset="0"/>
              </a:rPr>
              <a:t>The design must be a readable and understandable guide for the developers and testers.</a:t>
            </a:r>
            <a:endParaRPr lang="en-MX" sz="1200" dirty="0">
              <a:effectLst/>
              <a:latin typeface="Times New Roman" panose="02020603050405020304" pitchFamily="18" charset="0"/>
              <a:ea typeface="Times New Roman" panose="02020603050405020304" pitchFamily="18" charset="0"/>
            </a:endParaRPr>
          </a:p>
          <a:p>
            <a:pPr lvl="1" algn="just"/>
            <a:r>
              <a:rPr lang="en-US" sz="1200" dirty="0">
                <a:effectLst/>
                <a:latin typeface="Times New Roman" panose="02020603050405020304" pitchFamily="18" charset="0"/>
                <a:ea typeface="Times New Roman" panose="02020603050405020304" pitchFamily="18" charset="0"/>
              </a:rPr>
              <a:t>The design must provide a complete </a:t>
            </a:r>
            <a:r>
              <a:rPr lang="en-US" sz="1200" b="1" i="1" dirty="0">
                <a:effectLst/>
                <a:latin typeface="Times New Roman" panose="02020603050405020304" pitchFamily="18" charset="0"/>
                <a:ea typeface="Times New Roman" panose="02020603050405020304" pitchFamily="18" charset="0"/>
              </a:rPr>
              <a:t>“picture”</a:t>
            </a:r>
            <a:r>
              <a:rPr lang="en-US" sz="1200" dirty="0">
                <a:effectLst/>
                <a:latin typeface="Times New Roman" panose="02020603050405020304" pitchFamily="18" charset="0"/>
                <a:ea typeface="Times New Roman" panose="02020603050405020304" pitchFamily="18" charset="0"/>
              </a:rPr>
              <a:t> of the system, addressing the data, functional, and behavioral domains from an implementation perspective.</a:t>
            </a:r>
            <a:endParaRPr lang="en-MX" sz="1200" dirty="0">
              <a:effectLst/>
              <a:latin typeface="Times New Roman" panose="02020603050405020304" pitchFamily="18" charset="0"/>
              <a:ea typeface="Times New Roman" panose="02020603050405020304" pitchFamily="18" charset="0"/>
            </a:endParaRPr>
          </a:p>
          <a:p>
            <a:pPr lvl="1" algn="just"/>
            <a:r>
              <a:rPr lang="en-US" sz="1200" dirty="0">
                <a:effectLst/>
                <a:latin typeface="Times New Roman" panose="02020603050405020304" pitchFamily="18" charset="0"/>
                <a:ea typeface="Times New Roman" panose="02020603050405020304" pitchFamily="18" charset="0"/>
              </a:rPr>
              <a:t>A design should exhibit an architecture that depicts its modularity, that is, it must show how the system is subdivided into subsystems, how the different requirements are assigned to these subsystems, and which system functionalities are attached to hardware and which to software.</a:t>
            </a:r>
            <a:endParaRPr lang="en-MX" sz="1200" dirty="0">
              <a:effectLst/>
              <a:latin typeface="Times New Roman" panose="02020603050405020304" pitchFamily="18" charset="0"/>
              <a:ea typeface="Times New Roman" panose="02020603050405020304" pitchFamily="18" charset="0"/>
            </a:endParaRPr>
          </a:p>
          <a:p>
            <a:pPr marL="457200" indent="0" algn="just">
              <a:buNone/>
            </a:pPr>
            <a:r>
              <a:rPr lang="en-US" sz="1200" dirty="0">
                <a:effectLst/>
                <a:latin typeface="Times New Roman" panose="02020603050405020304" pitchFamily="18" charset="0"/>
                <a:ea typeface="Times New Roman" panose="02020603050405020304" pitchFamily="18" charset="0"/>
              </a:rPr>
              <a:t>     The design </a:t>
            </a:r>
            <a:r>
              <a:rPr lang="en-US" sz="1200" b="1" u="sng" dirty="0">
                <a:effectLst/>
                <a:latin typeface="Times New Roman" panose="02020603050405020304" pitchFamily="18" charset="0"/>
                <a:ea typeface="Times New Roman" panose="02020603050405020304" pitchFamily="18" charset="0"/>
              </a:rPr>
              <a:t>MUST</a:t>
            </a:r>
            <a:r>
              <a:rPr lang="en-US" sz="1200" dirty="0">
                <a:effectLst/>
                <a:latin typeface="Times New Roman" panose="02020603050405020304" pitchFamily="18" charset="0"/>
                <a:ea typeface="Times New Roman" panose="02020603050405020304" pitchFamily="18" charset="0"/>
              </a:rPr>
              <a:t> be conformed by a complete and consistent set of design diagrams (</a:t>
            </a:r>
            <a:r>
              <a:rPr lang="en-US" sz="1200" b="1" i="1" dirty="0">
                <a:effectLst/>
                <a:latin typeface="Times New Roman" panose="02020603050405020304" pitchFamily="18" charset="0"/>
                <a:ea typeface="Times New Roman" panose="02020603050405020304" pitchFamily="18" charset="0"/>
              </a:rPr>
              <a:t>state</a:t>
            </a:r>
            <a:r>
              <a:rPr lang="en-US" sz="1200" dirty="0">
                <a:effectLst/>
                <a:latin typeface="Times New Roman" panose="02020603050405020304" pitchFamily="18" charset="0"/>
                <a:ea typeface="Times New Roman" panose="02020603050405020304" pitchFamily="18" charset="0"/>
              </a:rPr>
              <a:t> and </a:t>
            </a:r>
            <a:r>
              <a:rPr lang="en-US" sz="1200" b="1" i="1" dirty="0">
                <a:effectLst/>
                <a:latin typeface="Times New Roman" panose="02020603050405020304" pitchFamily="18" charset="0"/>
                <a:ea typeface="Times New Roman" panose="02020603050405020304" pitchFamily="18" charset="0"/>
              </a:rPr>
              <a:t>flow diagrams</a:t>
            </a:r>
            <a:r>
              <a:rPr lang="en-US" sz="1200" dirty="0">
                <a:effectLst/>
                <a:latin typeface="Times New Roman" panose="02020603050405020304" pitchFamily="18" charset="0"/>
                <a:ea typeface="Times New Roman" panose="02020603050405020304" pitchFamily="18" charset="0"/>
              </a:rPr>
              <a:t>, </a:t>
            </a:r>
            <a:r>
              <a:rPr lang="en-US" sz="1200" b="1" i="1" dirty="0">
                <a:effectLst/>
                <a:latin typeface="Times New Roman" panose="02020603050405020304" pitchFamily="18" charset="0"/>
                <a:ea typeface="Times New Roman" panose="02020603050405020304" pitchFamily="18" charset="0"/>
              </a:rPr>
              <a:t>module diagrams</a:t>
            </a:r>
            <a:r>
              <a:rPr lang="en-US" sz="1200" dirty="0">
                <a:effectLst/>
                <a:latin typeface="Times New Roman" panose="02020603050405020304" pitchFamily="18" charset="0"/>
                <a:ea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rPr>
              <a:t>etc</a:t>
            </a:r>
            <a:r>
              <a:rPr lang="en-US" sz="1200" dirty="0">
                <a:effectLst/>
                <a:latin typeface="Times New Roman" panose="02020603050405020304" pitchFamily="18" charset="0"/>
                <a:ea typeface="Times New Roman" panose="02020603050405020304" pitchFamily="18" charset="0"/>
              </a:rPr>
              <a:t>). </a:t>
            </a:r>
            <a:r>
              <a:rPr lang="en-US" sz="1200" b="1" i="1" dirty="0">
                <a:effectLst/>
                <a:latin typeface="Times New Roman" panose="02020603050405020304" pitchFamily="18" charset="0"/>
                <a:ea typeface="Times New Roman" panose="02020603050405020304" pitchFamily="18" charset="0"/>
              </a:rPr>
              <a:t>Pseudo code</a:t>
            </a:r>
            <a:r>
              <a:rPr lang="en-US" sz="1200" dirty="0">
                <a:effectLst/>
                <a:latin typeface="Times New Roman" panose="02020603050405020304" pitchFamily="18" charset="0"/>
                <a:ea typeface="Times New Roman" panose="02020603050405020304" pitchFamily="18" charset="0"/>
              </a:rPr>
              <a:t> </a:t>
            </a:r>
            <a:r>
              <a:rPr lang="en-US" sz="1200" b="1" u="sng" dirty="0">
                <a:effectLst/>
                <a:latin typeface="Times New Roman" panose="02020603050405020304" pitchFamily="18" charset="0"/>
                <a:ea typeface="Times New Roman" panose="02020603050405020304" pitchFamily="18" charset="0"/>
              </a:rPr>
              <a:t>MUST</a:t>
            </a:r>
            <a:r>
              <a:rPr lang="en-US" sz="1200" dirty="0">
                <a:effectLst/>
                <a:latin typeface="Times New Roman" panose="02020603050405020304" pitchFamily="18" charset="0"/>
                <a:ea typeface="Times New Roman" panose="02020603050405020304" pitchFamily="18" charset="0"/>
              </a:rPr>
              <a:t> be used to complement state and flow diagrams. </a:t>
            </a:r>
            <a:endParaRPr lang="en-MX" sz="800" dirty="0">
              <a:effectLst/>
              <a:latin typeface="Times New Roman" panose="02020603050405020304" pitchFamily="18" charset="0"/>
              <a:ea typeface="Times New Roman" panose="02020603050405020304" pitchFamily="18" charset="0"/>
            </a:endParaRPr>
          </a:p>
          <a:p>
            <a:pPr marL="457200" indent="0" algn="just">
              <a:buNone/>
            </a:pPr>
            <a:r>
              <a:rPr lang="en-US" sz="1200" dirty="0">
                <a:effectLst/>
                <a:latin typeface="Times New Roman" panose="02020603050405020304" pitchFamily="18" charset="0"/>
                <a:ea typeface="Times New Roman" panose="02020603050405020304" pitchFamily="18" charset="0"/>
              </a:rPr>
              <a:t>     Furthermore, the design model </a:t>
            </a:r>
            <a:r>
              <a:rPr lang="en-US" sz="1200" b="1" u="sng" dirty="0">
                <a:effectLst/>
                <a:latin typeface="Times New Roman" panose="02020603050405020304" pitchFamily="18" charset="0"/>
                <a:ea typeface="Times New Roman" panose="02020603050405020304" pitchFamily="18" charset="0"/>
              </a:rPr>
              <a:t>MUST BE TRACEABLE TO THE ANALYSIS MODEL</a:t>
            </a:r>
            <a:r>
              <a:rPr lang="en-US" sz="1200" dirty="0">
                <a:effectLst/>
                <a:latin typeface="Times New Roman" panose="02020603050405020304" pitchFamily="18" charset="0"/>
                <a:ea typeface="Times New Roman" panose="02020603050405020304" pitchFamily="18" charset="0"/>
              </a:rPr>
              <a:t>, that is, for every functional requirement specified during analysis, the design model shall explicitly describe </a:t>
            </a:r>
            <a:r>
              <a:rPr lang="en-US" sz="1200" b="1" i="1" dirty="0">
                <a:effectLst/>
                <a:latin typeface="Times New Roman" panose="02020603050405020304" pitchFamily="18" charset="0"/>
                <a:ea typeface="Times New Roman" panose="02020603050405020304" pitchFamily="18" charset="0"/>
              </a:rPr>
              <a:t>“how”</a:t>
            </a:r>
            <a:r>
              <a:rPr lang="en-US" sz="1200" dirty="0">
                <a:effectLst/>
                <a:latin typeface="Times New Roman" panose="02020603050405020304" pitchFamily="18" charset="0"/>
                <a:ea typeface="Times New Roman" panose="02020603050405020304" pitchFamily="18" charset="0"/>
              </a:rPr>
              <a:t> this requirement will be implemented. Therefore, the design model becomes the blueprints of how the software system will be implemented. It must be a self sufficient, complete, accurate, consistent, traceable, and maintainable document, whose purpose is to guide and tell the programmer how to develop the code. </a:t>
            </a:r>
            <a:endParaRPr lang="en-MX" sz="800" dirty="0">
              <a:effectLst/>
              <a:latin typeface="Times New Roman" panose="02020603050405020304" pitchFamily="18" charset="0"/>
              <a:ea typeface="Times New Roman" panose="02020603050405020304" pitchFamily="18" charset="0"/>
            </a:endParaRPr>
          </a:p>
          <a:p>
            <a:pPr marL="457200" indent="0" algn="just">
              <a:buNone/>
            </a:pPr>
            <a:r>
              <a:rPr lang="en-US" sz="1200" dirty="0">
                <a:effectLst/>
                <a:latin typeface="Times New Roman" panose="02020603050405020304" pitchFamily="18" charset="0"/>
                <a:ea typeface="Times New Roman" panose="02020603050405020304" pitchFamily="18" charset="0"/>
              </a:rPr>
              <a:t>     The implementation </a:t>
            </a:r>
            <a:r>
              <a:rPr lang="en-US" sz="1200" b="1" u="sng" dirty="0">
                <a:effectLst/>
                <a:latin typeface="Times New Roman" panose="02020603050405020304" pitchFamily="18" charset="0"/>
                <a:ea typeface="Times New Roman" panose="02020603050405020304" pitchFamily="18" charset="0"/>
              </a:rPr>
              <a:t>MUST</a:t>
            </a:r>
            <a:r>
              <a:rPr lang="en-US" sz="1200" dirty="0">
                <a:effectLst/>
                <a:latin typeface="Times New Roman" panose="02020603050405020304" pitchFamily="18" charset="0"/>
                <a:ea typeface="Times New Roman" panose="02020603050405020304" pitchFamily="18" charset="0"/>
              </a:rPr>
              <a:t> be completely based on the design, and traceable to it. The </a:t>
            </a:r>
            <a:r>
              <a:rPr lang="en-US" sz="1200" b="1" i="1" dirty="0">
                <a:effectLst/>
                <a:latin typeface="Times New Roman" panose="02020603050405020304" pitchFamily="18" charset="0"/>
                <a:ea typeface="Times New Roman" panose="02020603050405020304" pitchFamily="18" charset="0"/>
              </a:rPr>
              <a:t>“acid test”</a:t>
            </a:r>
            <a:r>
              <a:rPr lang="en-US" sz="1200" dirty="0">
                <a:effectLst/>
                <a:latin typeface="Times New Roman" panose="02020603050405020304" pitchFamily="18" charset="0"/>
                <a:ea typeface="Times New Roman" panose="02020603050405020304" pitchFamily="18" charset="0"/>
              </a:rPr>
              <a:t> for the design is to consider that if you deliver your design to a completely different developer team, each member of the new team will be able to understand your document and use it to generate the code with out further interaction with you.</a:t>
            </a:r>
            <a:endParaRPr lang="en-MX" sz="800" dirty="0">
              <a:effectLst/>
              <a:latin typeface="Times New Roman" panose="02020603050405020304" pitchFamily="18" charset="0"/>
              <a:ea typeface="Times New Roman" panose="02020603050405020304" pitchFamily="18" charset="0"/>
            </a:endParaRPr>
          </a:p>
          <a:p>
            <a:pPr marL="457200" indent="0" algn="just">
              <a:buNone/>
            </a:pPr>
            <a:r>
              <a:rPr lang="en-US" sz="1200" dirty="0">
                <a:effectLst/>
                <a:latin typeface="Times New Roman" panose="02020603050405020304" pitchFamily="18" charset="0"/>
                <a:ea typeface="Times New Roman" panose="02020603050405020304" pitchFamily="18" charset="0"/>
              </a:rPr>
              <a:t> In summary, </a:t>
            </a:r>
            <a:r>
              <a:rPr lang="en-US" sz="1200" dirty="0">
                <a:latin typeface="Times New Roman" panose="02020603050405020304" pitchFamily="18" charset="0"/>
                <a:ea typeface="Times New Roman" panose="02020603050405020304" pitchFamily="18" charset="0"/>
              </a:rPr>
              <a:t>i</a:t>
            </a:r>
            <a:r>
              <a:rPr lang="en-US" sz="1200" dirty="0">
                <a:effectLst/>
                <a:latin typeface="Times New Roman" panose="02020603050405020304" pitchFamily="18" charset="0"/>
                <a:ea typeface="Times New Roman" panose="02020603050405020304" pitchFamily="18" charset="0"/>
              </a:rPr>
              <a:t>n this section, the student shall generate a precise </a:t>
            </a:r>
            <a:r>
              <a:rPr lang="en-US" sz="1200" b="1" i="1" dirty="0">
                <a:effectLst/>
                <a:latin typeface="Times New Roman" panose="02020603050405020304" pitchFamily="18" charset="0"/>
                <a:ea typeface="Times New Roman" panose="02020603050405020304" pitchFamily="18" charset="0"/>
              </a:rPr>
              <a:t>DFA</a:t>
            </a:r>
            <a:r>
              <a:rPr lang="en-US" sz="1200" dirty="0">
                <a:effectLst/>
                <a:latin typeface="Times New Roman" panose="02020603050405020304" pitchFamily="18" charset="0"/>
                <a:ea typeface="Times New Roman" panose="02020603050405020304" pitchFamily="18" charset="0"/>
              </a:rPr>
              <a:t> that recognize all the tokens enumerated in the analysis phase, and provide the most efficient </a:t>
            </a:r>
            <a:r>
              <a:rPr lang="en-US" sz="1200" b="1" i="1" dirty="0">
                <a:effectLst/>
                <a:latin typeface="Times New Roman" panose="02020603050405020304" pitchFamily="18" charset="0"/>
                <a:ea typeface="Times New Roman" panose="02020603050405020304" pitchFamily="18" charset="0"/>
              </a:rPr>
              <a:t>Transition Table</a:t>
            </a:r>
            <a:r>
              <a:rPr lang="en-US" sz="1200" dirty="0">
                <a:effectLst/>
                <a:latin typeface="Times New Roman" panose="02020603050405020304" pitchFamily="18" charset="0"/>
                <a:ea typeface="Times New Roman" panose="02020603050405020304" pitchFamily="18" charset="0"/>
              </a:rPr>
              <a:t>. The design must include the </a:t>
            </a:r>
            <a:r>
              <a:rPr lang="en-US" sz="1200" b="1" i="1" dirty="0">
                <a:effectLst/>
                <a:latin typeface="Times New Roman" panose="02020603050405020304" pitchFamily="18" charset="0"/>
                <a:ea typeface="Times New Roman" panose="02020603050405020304" pitchFamily="18" charset="0"/>
              </a:rPr>
              <a:t>Token IDs</a:t>
            </a:r>
            <a:r>
              <a:rPr lang="en-US" sz="1200" dirty="0">
                <a:effectLst/>
                <a:latin typeface="Times New Roman" panose="02020603050405020304" pitchFamily="18" charset="0"/>
                <a:ea typeface="Times New Roman" panose="02020603050405020304" pitchFamily="18" charset="0"/>
              </a:rPr>
              <a:t>. </a:t>
            </a:r>
            <a:r>
              <a:rPr lang="en-US" sz="1200" dirty="0">
                <a:latin typeface="Times New Roman" panose="02020603050405020304" pitchFamily="18" charset="0"/>
                <a:ea typeface="Times New Roman" panose="02020603050405020304" pitchFamily="18" charset="0"/>
              </a:rPr>
              <a:t>In addition, it shall provide an</a:t>
            </a:r>
            <a:r>
              <a:rPr lang="en-US" sz="1200" dirty="0">
                <a:effectLst/>
                <a:latin typeface="Times New Roman" panose="02020603050405020304" pitchFamily="18" charset="0"/>
                <a:ea typeface="Times New Roman" panose="02020603050405020304" pitchFamily="18" charset="0"/>
              </a:rPr>
              <a:t> algorithmic description as well as the data structures required to implement the main components of the scanner, i.e., how the </a:t>
            </a:r>
            <a:r>
              <a:rPr lang="en-US" sz="1200" b="1" i="1" dirty="0">
                <a:effectLst/>
                <a:latin typeface="Times New Roman" panose="02020603050405020304" pitchFamily="18" charset="0"/>
                <a:ea typeface="Times New Roman" panose="02020603050405020304" pitchFamily="18" charset="0"/>
              </a:rPr>
              <a:t>Symbol Tables </a:t>
            </a:r>
            <a:r>
              <a:rPr lang="en-US" sz="1200" dirty="0">
                <a:effectLst/>
                <a:latin typeface="Times New Roman" panose="02020603050405020304" pitchFamily="18" charset="0"/>
                <a:ea typeface="Times New Roman" panose="02020603050405020304" pitchFamily="18" charset="0"/>
              </a:rPr>
              <a:t>are implemented.</a:t>
            </a:r>
            <a:endParaRPr lang="en-MX" sz="1200" dirty="0">
              <a:effectLst/>
              <a:latin typeface="Times New Roman" panose="02020603050405020304" pitchFamily="18" charset="0"/>
              <a:ea typeface="Times New Roman" panose="02020603050405020304" pitchFamily="18" charset="0"/>
            </a:endParaRPr>
          </a:p>
        </p:txBody>
      </p:sp>
      <p:sp>
        <p:nvSpPr>
          <p:cNvPr id="2" name="Slide Number Placeholder 1">
            <a:extLst>
              <a:ext uri="{FF2B5EF4-FFF2-40B4-BE49-F238E27FC236}">
                <a16:creationId xmlns:a16="http://schemas.microsoft.com/office/drawing/2014/main" id="{E0618D98-820E-2A12-A4D9-B3D596008BED}"/>
              </a:ext>
            </a:extLst>
          </p:cNvPr>
          <p:cNvSpPr>
            <a:spLocks noGrp="1"/>
          </p:cNvSpPr>
          <p:nvPr>
            <p:ph type="sldNum" sz="quarter" idx="12"/>
          </p:nvPr>
        </p:nvSpPr>
        <p:spPr>
          <a:xfrm>
            <a:off x="6457950" y="6356350"/>
            <a:ext cx="2057400" cy="365125"/>
          </a:xfrm>
        </p:spPr>
        <p:txBody>
          <a:bodyPr>
            <a:normAutofit/>
          </a:bodyPr>
          <a:lstStyle/>
          <a:p>
            <a:pPr>
              <a:spcAft>
                <a:spcPts val="600"/>
              </a:spcAft>
            </a:pPr>
            <a:fld id="{87BA9580-FE5B-E14E-B782-A387CF7F7228}" type="slidenum">
              <a:rPr lang="en-MX" smtClean="0"/>
              <a:pPr>
                <a:spcAft>
                  <a:spcPts val="600"/>
                </a:spcAft>
              </a:pPr>
              <a:t>9</a:t>
            </a:fld>
            <a:endParaRPr lang="en-MX"/>
          </a:p>
        </p:txBody>
      </p:sp>
    </p:spTree>
    <p:extLst>
      <p:ext uri="{BB962C8B-B14F-4D97-AF65-F5344CB8AC3E}">
        <p14:creationId xmlns:p14="http://schemas.microsoft.com/office/powerpoint/2010/main" val="20726165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04895F-1F3A-C736-DEFE-E486B0D0B4C0}"/>
              </a:ext>
            </a:extLst>
          </p:cNvPr>
          <p:cNvSpPr>
            <a:spLocks noGrp="1"/>
          </p:cNvSpPr>
          <p:nvPr>
            <p:ph idx="1"/>
          </p:nvPr>
        </p:nvSpPr>
        <p:spPr>
          <a:xfrm>
            <a:off x="322446" y="351692"/>
            <a:ext cx="8499107" cy="5734802"/>
          </a:xfrm>
        </p:spPr>
        <p:txBody>
          <a:bodyPr anchor="ctr">
            <a:noAutofit/>
          </a:bodyPr>
          <a:lstStyle/>
          <a:p>
            <a:pPr marL="342900" lvl="0" indent="-342900" algn="just">
              <a:buFont typeface="+mj-lt"/>
              <a:buAutoNum type="arabicPeriod" startAt="4"/>
              <a:tabLst>
                <a:tab pos="457200" algn="l"/>
              </a:tabLst>
            </a:pPr>
            <a:r>
              <a:rPr lang="en-US" sz="1200" b="1" dirty="0">
                <a:effectLst/>
                <a:latin typeface="Times New Roman" panose="02020603050405020304" pitchFamily="18" charset="0"/>
                <a:ea typeface="Times New Roman" panose="02020603050405020304" pitchFamily="18" charset="0"/>
              </a:rPr>
              <a:t>Implementation</a:t>
            </a:r>
            <a:endParaRPr lang="en-MX" sz="1200" dirty="0">
              <a:effectLst/>
              <a:latin typeface="Times New Roman" panose="02020603050405020304" pitchFamily="18" charset="0"/>
              <a:ea typeface="Times New Roman" panose="02020603050405020304" pitchFamily="18" charset="0"/>
            </a:endParaRPr>
          </a:p>
          <a:p>
            <a:pPr marL="457200" indent="0" algn="just">
              <a:buNone/>
            </a:pPr>
            <a:r>
              <a:rPr lang="en-US" sz="1200" dirty="0">
                <a:latin typeface="Times New Roman" panose="02020603050405020304" pitchFamily="18" charset="0"/>
                <a:ea typeface="Times New Roman" panose="02020603050405020304" pitchFamily="18" charset="0"/>
              </a:rPr>
              <a:t>     In this section, a</a:t>
            </a:r>
            <a:r>
              <a:rPr lang="en-US" sz="1200" dirty="0">
                <a:effectLst/>
                <a:latin typeface="Times New Roman" panose="02020603050405020304" pitchFamily="18" charset="0"/>
                <a:ea typeface="Times New Roman" panose="02020603050405020304" pitchFamily="18" charset="0"/>
              </a:rPr>
              <a:t> complete printout of the </a:t>
            </a:r>
            <a:r>
              <a:rPr lang="en-US" sz="1200" b="1" dirty="0">
                <a:effectLst/>
                <a:latin typeface="Times New Roman" panose="02020603050405020304" pitchFamily="18" charset="0"/>
                <a:ea typeface="Times New Roman" panose="02020603050405020304" pitchFamily="18" charset="0"/>
              </a:rPr>
              <a:t>lex</a:t>
            </a:r>
            <a:r>
              <a:rPr lang="en-US" sz="1200" dirty="0">
                <a:effectLst/>
                <a:latin typeface="Times New Roman" panose="02020603050405020304" pitchFamily="18" charset="0"/>
                <a:ea typeface="Times New Roman" panose="02020603050405020304" pitchFamily="18" charset="0"/>
              </a:rPr>
              <a:t> file for the scanner must be provided, completely explaining each code element of the three sections that constituite the </a:t>
            </a:r>
            <a:r>
              <a:rPr lang="en-US" sz="1200" b="1" dirty="0">
                <a:latin typeface="Times New Roman" panose="02020603050405020304" pitchFamily="18" charset="0"/>
                <a:ea typeface="Times New Roman" panose="02020603050405020304" pitchFamily="18" charset="0"/>
              </a:rPr>
              <a:t>lex</a:t>
            </a:r>
            <a:r>
              <a:rPr lang="en-US" sz="1200" dirty="0">
                <a:effectLst/>
                <a:latin typeface="Times New Roman" panose="02020603050405020304" pitchFamily="18" charset="0"/>
                <a:ea typeface="Times New Roman" panose="02020603050405020304" pitchFamily="18" charset="0"/>
              </a:rPr>
              <a:t> file in comprehensive and coherent narrrative: </a:t>
            </a:r>
          </a:p>
          <a:p>
            <a:pPr marL="1143000" lvl="1" algn="just">
              <a:buFont typeface="+mj-lt"/>
              <a:buAutoNum type="alphaLcParenR"/>
            </a:pPr>
            <a:r>
              <a:rPr lang="en-US" sz="1200" dirty="0">
                <a:effectLst/>
                <a:latin typeface="Times New Roman" panose="02020603050405020304" pitchFamily="18" charset="0"/>
                <a:ea typeface="Times New Roman" panose="02020603050405020304" pitchFamily="18" charset="0"/>
              </a:rPr>
              <a:t>Definion Section.</a:t>
            </a:r>
          </a:p>
          <a:p>
            <a:pPr marL="1143000" lvl="1" algn="just">
              <a:buFont typeface="+mj-lt"/>
              <a:buAutoNum type="alphaLcParenR"/>
            </a:pPr>
            <a:r>
              <a:rPr lang="en-US" sz="1200" dirty="0">
                <a:effectLst/>
                <a:latin typeface="Times New Roman" panose="02020603050405020304" pitchFamily="18" charset="0"/>
                <a:ea typeface="Times New Roman" panose="02020603050405020304" pitchFamily="18" charset="0"/>
              </a:rPr>
              <a:t>Rules Section.</a:t>
            </a:r>
          </a:p>
          <a:p>
            <a:pPr marL="1143000" lvl="1" algn="just">
              <a:buFont typeface="+mj-lt"/>
              <a:buAutoNum type="alphaLcParenR"/>
            </a:pPr>
            <a:r>
              <a:rPr lang="en-US" sz="1200" dirty="0">
                <a:latin typeface="Times New Roman" panose="02020603050405020304" pitchFamily="18" charset="0"/>
                <a:ea typeface="Times New Roman" panose="02020603050405020304" pitchFamily="18" charset="0"/>
              </a:rPr>
              <a:t>User Code Section</a:t>
            </a:r>
            <a:endParaRPr lang="en-MX" sz="800" dirty="0">
              <a:effectLst/>
              <a:latin typeface="Times New Roman" panose="02020603050405020304" pitchFamily="18" charset="0"/>
              <a:ea typeface="Times New Roman" panose="02020603050405020304" pitchFamily="18" charset="0"/>
            </a:endParaRPr>
          </a:p>
          <a:p>
            <a:pPr marL="342900" lvl="0" indent="-342900" algn="just">
              <a:buFont typeface="+mj-lt"/>
              <a:buAutoNum type="arabicPeriod" startAt="5"/>
              <a:tabLst>
                <a:tab pos="457200" algn="l"/>
              </a:tabLst>
            </a:pPr>
            <a:r>
              <a:rPr lang="en-US" sz="1200" b="1" dirty="0">
                <a:effectLst/>
                <a:latin typeface="Times New Roman" panose="02020603050405020304" pitchFamily="18" charset="0"/>
                <a:ea typeface="Times New Roman" panose="02020603050405020304" pitchFamily="18" charset="0"/>
              </a:rPr>
              <a:t>Verification and Validation</a:t>
            </a:r>
            <a:endParaRPr lang="en-MX" sz="1200" dirty="0">
              <a:effectLst/>
              <a:latin typeface="Times New Roman" panose="02020603050405020304" pitchFamily="18" charset="0"/>
              <a:ea typeface="Times New Roman" panose="02020603050405020304" pitchFamily="18" charset="0"/>
            </a:endParaRPr>
          </a:p>
          <a:p>
            <a:pPr marL="457200" indent="0" algn="just">
              <a:buNone/>
            </a:pPr>
            <a:r>
              <a:rPr lang="en-US" sz="1200" dirty="0">
                <a:effectLst/>
                <a:latin typeface="Times New Roman" panose="02020603050405020304" pitchFamily="18" charset="0"/>
                <a:ea typeface="Times New Roman" panose="02020603050405020304" pitchFamily="18" charset="0"/>
              </a:rPr>
              <a:t>     The student must present a Test model. The test model consists of the set of test cases that are developed during the test case design.</a:t>
            </a:r>
            <a:endParaRPr lang="en-MX" sz="1200" dirty="0">
              <a:effectLst/>
              <a:latin typeface="Times New Roman" panose="02020603050405020304" pitchFamily="18" charset="0"/>
              <a:ea typeface="Times New Roman" panose="02020603050405020304" pitchFamily="18" charset="0"/>
            </a:endParaRPr>
          </a:p>
          <a:p>
            <a:pPr marL="457200" indent="0" algn="just">
              <a:buNone/>
            </a:pPr>
            <a:r>
              <a:rPr lang="en-US" sz="1200" dirty="0">
                <a:effectLst/>
                <a:latin typeface="Times New Roman" panose="02020603050405020304" pitchFamily="18" charset="0"/>
                <a:ea typeface="Times New Roman" panose="02020603050405020304" pitchFamily="18" charset="0"/>
              </a:rPr>
              <a:t>     During and after the implementation process, the system being developed must be checked to ensure that it meets its specification and delivers the functionality expected by the customer. Verification and Validation (V&amp;V) is the name given to these checking processes. V&amp;V starts with requirements reviews and continues through design reviews and hardware and code inspections up to product testing.</a:t>
            </a:r>
            <a:endParaRPr lang="en-MX" sz="1200" dirty="0">
              <a:effectLst/>
              <a:latin typeface="Times New Roman" panose="02020603050405020304" pitchFamily="18" charset="0"/>
              <a:ea typeface="Times New Roman" panose="02020603050405020304" pitchFamily="18" charset="0"/>
            </a:endParaRPr>
          </a:p>
          <a:p>
            <a:pPr marL="457200" indent="0" algn="just">
              <a:buNone/>
            </a:pPr>
            <a:r>
              <a:rPr lang="en-US" sz="1200" dirty="0">
                <a:effectLst/>
                <a:latin typeface="Times New Roman" panose="02020603050405020304" pitchFamily="18" charset="0"/>
                <a:ea typeface="Times New Roman" panose="02020603050405020304" pitchFamily="18" charset="0"/>
              </a:rPr>
              <a:t>     Verification and validation is not the same thing, verification deals with “</a:t>
            </a:r>
            <a:r>
              <a:rPr lang="en-US" sz="1200" b="1" i="1" dirty="0">
                <a:effectLst/>
                <a:latin typeface="Times New Roman" panose="02020603050405020304" pitchFamily="18" charset="0"/>
                <a:ea typeface="Times New Roman" panose="02020603050405020304" pitchFamily="18" charset="0"/>
              </a:rPr>
              <a:t>are we building the product right?</a:t>
            </a:r>
            <a:r>
              <a:rPr lang="en-US" sz="1200" dirty="0">
                <a:effectLst/>
                <a:latin typeface="Times New Roman" panose="02020603050405020304" pitchFamily="18" charset="0"/>
                <a:ea typeface="Times New Roman" panose="02020603050405020304" pitchFamily="18" charset="0"/>
              </a:rPr>
              <a:t>” while validation deals with “</a:t>
            </a:r>
            <a:r>
              <a:rPr lang="en-US" sz="1200" b="1" i="1" dirty="0">
                <a:effectLst/>
                <a:latin typeface="Times New Roman" panose="02020603050405020304" pitchFamily="18" charset="0"/>
                <a:ea typeface="Times New Roman" panose="02020603050405020304" pitchFamily="18" charset="0"/>
              </a:rPr>
              <a:t>are we building the right product?</a:t>
            </a:r>
            <a:r>
              <a:rPr lang="en-US" sz="1200" dirty="0">
                <a:effectLst/>
                <a:latin typeface="Times New Roman" panose="02020603050405020304" pitchFamily="18" charset="0"/>
                <a:ea typeface="Times New Roman" panose="02020603050405020304" pitchFamily="18" charset="0"/>
              </a:rPr>
              <a:t>” Verification involves checking that the system conforms to its specification. The developer must check that it meets its specified functional and non-functional requirements. However, validation aims to ensure that the system meets the expectation of the customer. The ultimate goal of the V&amp;V process is to establish confidence that the system is good enough for its intended use.</a:t>
            </a:r>
            <a:endParaRPr lang="en-MX" sz="1200" dirty="0">
              <a:effectLst/>
              <a:latin typeface="Times New Roman" panose="02020603050405020304" pitchFamily="18" charset="0"/>
              <a:ea typeface="Times New Roman" panose="02020603050405020304" pitchFamily="18" charset="0"/>
            </a:endParaRPr>
          </a:p>
          <a:p>
            <a:pPr marL="457200" indent="0" algn="just">
              <a:buNone/>
            </a:pPr>
            <a:r>
              <a:rPr lang="en-US" sz="1200" dirty="0">
                <a:effectLst/>
                <a:latin typeface="Times New Roman" panose="02020603050405020304" pitchFamily="18" charset="0"/>
                <a:ea typeface="Times New Roman" panose="02020603050405020304" pitchFamily="18" charset="0"/>
              </a:rPr>
              <a:t>     In order to perform the V&amp;V, the developer must implement a Test Case Design phase. The test cases are part of system and component testing where the developer designs the test cases (inputs and predicted outputs) that test the system. The goal of this phase is to create a set of test cases that are effective in discovering hardware and software defects and showing that the system meets its requirements. To design a test case, the developer must select a particular feature of the system or component that is to be tested. Then, the developer must select a set of inputs that execute that feature, document the corresponding outputs, and check that the actual and expected outputs are the same.</a:t>
            </a:r>
            <a:endParaRPr lang="en-MX" sz="1200" dirty="0">
              <a:effectLst/>
              <a:latin typeface="Times New Roman" panose="02020603050405020304" pitchFamily="18" charset="0"/>
              <a:ea typeface="Times New Roman" panose="02020603050405020304" pitchFamily="18" charset="0"/>
            </a:endParaRPr>
          </a:p>
          <a:p>
            <a:pPr marL="457200" indent="0" algn="just">
              <a:buNone/>
            </a:pPr>
            <a:r>
              <a:rPr lang="en-US" sz="1200" dirty="0">
                <a:effectLst/>
                <a:latin typeface="Times New Roman" panose="02020603050405020304" pitchFamily="18" charset="0"/>
                <a:ea typeface="Times New Roman" panose="02020603050405020304" pitchFamily="18" charset="0"/>
              </a:rPr>
              <a:t>     Provide your own set of test files and their expected results. Your implementation MUST pass your test files as well as the professor’s test cases. Be sure to include snapshots of the Scanner’s output for your test cases, together with the corresponding explanation.</a:t>
            </a:r>
            <a:endParaRPr lang="en-MX" sz="1200" dirty="0">
              <a:effectLst/>
              <a:latin typeface="Times New Roman" panose="02020603050405020304" pitchFamily="18" charset="0"/>
              <a:ea typeface="Times New Roman" panose="02020603050405020304" pitchFamily="18" charset="0"/>
            </a:endParaRPr>
          </a:p>
        </p:txBody>
      </p:sp>
      <p:sp>
        <p:nvSpPr>
          <p:cNvPr id="2" name="Slide Number Placeholder 1">
            <a:extLst>
              <a:ext uri="{FF2B5EF4-FFF2-40B4-BE49-F238E27FC236}">
                <a16:creationId xmlns:a16="http://schemas.microsoft.com/office/drawing/2014/main" id="{E0618D98-820E-2A12-A4D9-B3D596008BED}"/>
              </a:ext>
            </a:extLst>
          </p:cNvPr>
          <p:cNvSpPr>
            <a:spLocks noGrp="1"/>
          </p:cNvSpPr>
          <p:nvPr>
            <p:ph type="sldNum" sz="quarter" idx="12"/>
          </p:nvPr>
        </p:nvSpPr>
        <p:spPr>
          <a:xfrm>
            <a:off x="6457950" y="6356350"/>
            <a:ext cx="2057400" cy="365125"/>
          </a:xfrm>
        </p:spPr>
        <p:txBody>
          <a:bodyPr>
            <a:normAutofit/>
          </a:bodyPr>
          <a:lstStyle/>
          <a:p>
            <a:pPr>
              <a:spcAft>
                <a:spcPts val="600"/>
              </a:spcAft>
            </a:pPr>
            <a:fld id="{87BA9580-FE5B-E14E-B782-A387CF7F7228}" type="slidenum">
              <a:rPr lang="en-MX" smtClean="0"/>
              <a:pPr>
                <a:spcAft>
                  <a:spcPts val="600"/>
                </a:spcAft>
              </a:pPr>
              <a:t>10</a:t>
            </a:fld>
            <a:endParaRPr lang="en-MX"/>
          </a:p>
        </p:txBody>
      </p:sp>
    </p:spTree>
    <p:extLst>
      <p:ext uri="{BB962C8B-B14F-4D97-AF65-F5344CB8AC3E}">
        <p14:creationId xmlns:p14="http://schemas.microsoft.com/office/powerpoint/2010/main" val="14763087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04895F-1F3A-C736-DEFE-E486B0D0B4C0}"/>
              </a:ext>
            </a:extLst>
          </p:cNvPr>
          <p:cNvSpPr>
            <a:spLocks noGrp="1"/>
          </p:cNvSpPr>
          <p:nvPr>
            <p:ph idx="1"/>
          </p:nvPr>
        </p:nvSpPr>
        <p:spPr>
          <a:xfrm>
            <a:off x="327259" y="136526"/>
            <a:ext cx="8499107" cy="6593064"/>
          </a:xfrm>
        </p:spPr>
        <p:txBody>
          <a:bodyPr anchor="ctr">
            <a:noAutofit/>
          </a:bodyPr>
          <a:lstStyle/>
          <a:p>
            <a:pPr marL="342900" lvl="0" indent="-342900" algn="just">
              <a:buFont typeface="+mj-lt"/>
              <a:buAutoNum type="arabicPeriod" startAt="6"/>
              <a:tabLst>
                <a:tab pos="457200" algn="l"/>
              </a:tabLst>
            </a:pPr>
            <a:r>
              <a:rPr lang="en-US" sz="1200" b="1" dirty="0">
                <a:effectLst/>
                <a:latin typeface="Times New Roman" panose="02020603050405020304" pitchFamily="18" charset="0"/>
                <a:ea typeface="Times New Roman" panose="02020603050405020304" pitchFamily="18" charset="0"/>
              </a:rPr>
              <a:t>References</a:t>
            </a:r>
            <a:endParaRPr lang="en-MX" sz="1200" dirty="0">
              <a:effectLst/>
              <a:latin typeface="Times New Roman" panose="02020603050405020304" pitchFamily="18" charset="0"/>
              <a:ea typeface="Times New Roman" panose="02020603050405020304" pitchFamily="18" charset="0"/>
            </a:endParaRPr>
          </a:p>
          <a:p>
            <a:pPr marL="382560" indent="0">
              <a:buNone/>
            </a:pPr>
            <a:r>
              <a:rPr lang="en-US" sz="1200" dirty="0">
                <a:solidFill>
                  <a:srgbClr val="000000"/>
                </a:solidFill>
                <a:effectLst/>
                <a:latin typeface="Times New Roman" panose="02020603050405020304" pitchFamily="18" charset="0"/>
                <a:ea typeface="Times New Roman" panose="02020603050405020304" pitchFamily="18" charset="0"/>
              </a:rPr>
              <a:t>Any information that is used to develop this document must be listed on a standard bibliography format.</a:t>
            </a:r>
            <a:endParaRPr lang="en-MX" sz="1200" dirty="0">
              <a:effectLst/>
              <a:latin typeface="Times New Roman" panose="02020603050405020304" pitchFamily="18" charset="0"/>
              <a:ea typeface="Times New Roman" panose="02020603050405020304" pitchFamily="18" charset="0"/>
            </a:endParaRPr>
          </a:p>
          <a:p>
            <a:pPr marL="382560" indent="0" algn="just">
              <a:buNone/>
            </a:pPr>
            <a:r>
              <a:rPr lang="en-US" sz="1200" dirty="0">
                <a:effectLst/>
                <a:latin typeface="Times New Roman" panose="02020603050405020304" pitchFamily="18" charset="0"/>
                <a:ea typeface="Times New Roman" panose="02020603050405020304" pitchFamily="18" charset="0"/>
              </a:rPr>
              <a:t>With respect to </a:t>
            </a:r>
            <a:r>
              <a:rPr lang="en-US" sz="1200" b="1" u="sng" dirty="0">
                <a:solidFill>
                  <a:srgbClr val="0000FF"/>
                </a:solidFill>
                <a:effectLst/>
                <a:latin typeface="Times New Roman" panose="02020603050405020304" pitchFamily="18" charset="0"/>
                <a:ea typeface="Times New Roman" panose="02020603050405020304" pitchFamily="18" charset="0"/>
              </a:rPr>
              <a:t>bibliography</a:t>
            </a:r>
            <a:r>
              <a:rPr lang="en-US" sz="1200" dirty="0">
                <a:effectLst/>
                <a:latin typeface="Times New Roman" panose="02020603050405020304" pitchFamily="18" charset="0"/>
                <a:ea typeface="Times New Roman" panose="02020603050405020304" pitchFamily="18" charset="0"/>
              </a:rPr>
              <a:t>, the </a:t>
            </a:r>
            <a:r>
              <a:rPr lang="en-US" sz="1200" b="1" i="1" dirty="0">
                <a:effectLst/>
                <a:latin typeface="Times New Roman" panose="02020603050405020304" pitchFamily="18" charset="0"/>
                <a:ea typeface="Times New Roman" panose="02020603050405020304" pitchFamily="18" charset="0"/>
              </a:rPr>
              <a:t>IEEE Reference Style</a:t>
            </a:r>
            <a:r>
              <a:rPr lang="en-US" sz="1200" dirty="0">
                <a:effectLst/>
                <a:latin typeface="Times New Roman" panose="02020603050405020304" pitchFamily="18" charset="0"/>
                <a:ea typeface="Times New Roman" panose="02020603050405020304" pitchFamily="18" charset="0"/>
              </a:rPr>
              <a:t> </a:t>
            </a:r>
            <a:r>
              <a:rPr lang="en-US" sz="1200" b="1" dirty="0">
                <a:solidFill>
                  <a:srgbClr val="FF0000"/>
                </a:solidFill>
                <a:effectLst/>
                <a:latin typeface="Times New Roman" panose="02020603050405020304" pitchFamily="18" charset="0"/>
                <a:ea typeface="Times New Roman" panose="02020603050405020304" pitchFamily="18" charset="0"/>
              </a:rPr>
              <a:t>must be used</a:t>
            </a:r>
            <a:r>
              <a:rPr lang="en-US" sz="1200" dirty="0">
                <a:effectLst/>
                <a:latin typeface="Times New Roman" panose="02020603050405020304" pitchFamily="18" charset="0"/>
                <a:ea typeface="Times New Roman" panose="02020603050405020304" pitchFamily="18" charset="0"/>
              </a:rPr>
              <a:t>. This style incorporates common practices of bibliographic references of the scientific and technical fields. This style uses numeric references enclosed on square brackets inserted into the text, whenever the writer needs to link the text to a bibliography entry. The bibliography list must include all the references used on the text. The general structure of an input on the bibliography list is the following: </a:t>
            </a:r>
            <a:endParaRPr lang="en-MX" sz="1200" dirty="0">
              <a:effectLst/>
              <a:latin typeface="Times New Roman" panose="02020603050405020304" pitchFamily="18" charset="0"/>
              <a:ea typeface="Times New Roman" panose="02020603050405020304" pitchFamily="18" charset="0"/>
            </a:endParaRPr>
          </a:p>
          <a:p>
            <a:pPr lvl="1" algn="just">
              <a:buFont typeface="Courier New" panose="02070309020205020404" pitchFamily="49" charset="0"/>
              <a:buChar char="o"/>
            </a:pPr>
            <a:r>
              <a:rPr lang="en-US" sz="1200" b="1" dirty="0">
                <a:effectLst/>
                <a:latin typeface="Times New Roman" panose="02020603050405020304" pitchFamily="18" charset="0"/>
                <a:ea typeface="Times New Roman" panose="02020603050405020304" pitchFamily="18" charset="0"/>
              </a:rPr>
              <a:t>Author</a:t>
            </a:r>
            <a:r>
              <a:rPr lang="en-US" sz="1200" dirty="0">
                <a:effectLst/>
                <a:latin typeface="Times New Roman" panose="02020603050405020304" pitchFamily="18" charset="0"/>
                <a:ea typeface="Times New Roman" panose="02020603050405020304" pitchFamily="18" charset="0"/>
              </a:rPr>
              <a:t> or </a:t>
            </a:r>
            <a:r>
              <a:rPr lang="en-US" sz="1200" b="1" dirty="0">
                <a:effectLst/>
                <a:latin typeface="Times New Roman" panose="02020603050405020304" pitchFamily="18" charset="0"/>
                <a:ea typeface="Times New Roman" panose="02020603050405020304" pitchFamily="18" charset="0"/>
              </a:rPr>
              <a:t>authors</a:t>
            </a:r>
            <a:r>
              <a:rPr lang="en-US" sz="1200" dirty="0">
                <a:effectLst/>
                <a:latin typeface="Times New Roman" panose="02020603050405020304" pitchFamily="18" charset="0"/>
                <a:ea typeface="Times New Roman" panose="02020603050405020304" pitchFamily="18" charset="0"/>
              </a:rPr>
              <a:t>, begins with the first name followed by the last.</a:t>
            </a:r>
            <a:endParaRPr lang="en-MX" sz="1200" dirty="0">
              <a:effectLst/>
              <a:latin typeface="Times New Roman" panose="02020603050405020304" pitchFamily="18" charset="0"/>
              <a:ea typeface="Times New Roman" panose="02020603050405020304" pitchFamily="18" charset="0"/>
            </a:endParaRPr>
          </a:p>
          <a:p>
            <a:pPr lvl="1" algn="just">
              <a:buFont typeface="Courier New" panose="02070309020205020404" pitchFamily="49" charset="0"/>
              <a:buChar char="o"/>
            </a:pPr>
            <a:r>
              <a:rPr lang="en-US" sz="1200" b="1" dirty="0">
                <a:effectLst/>
                <a:latin typeface="Times New Roman" panose="02020603050405020304" pitchFamily="18" charset="0"/>
                <a:ea typeface="Times New Roman" panose="02020603050405020304" pitchFamily="18" charset="0"/>
              </a:rPr>
              <a:t>Title</a:t>
            </a:r>
            <a:r>
              <a:rPr lang="en-US" sz="1200" dirty="0">
                <a:effectLst/>
                <a:latin typeface="Times New Roman" panose="02020603050405020304" pitchFamily="18" charset="0"/>
                <a:ea typeface="Times New Roman" panose="02020603050405020304" pitchFamily="18" charset="0"/>
              </a:rPr>
              <a:t>: Every main word starts with a capital letter and all are italic. If the source is not a book or an article, a description of the source must be included.</a:t>
            </a:r>
            <a:endParaRPr lang="en-MX" sz="1200" dirty="0">
              <a:effectLst/>
              <a:latin typeface="Times New Roman" panose="02020603050405020304" pitchFamily="18" charset="0"/>
              <a:ea typeface="Times New Roman" panose="02020603050405020304" pitchFamily="18" charset="0"/>
            </a:endParaRPr>
          </a:p>
          <a:p>
            <a:pPr lvl="1" algn="just">
              <a:buFont typeface="Courier New" panose="02070309020205020404" pitchFamily="49" charset="0"/>
              <a:buChar char="o"/>
            </a:pPr>
            <a:r>
              <a:rPr lang="en-US" sz="1200" b="1" dirty="0">
                <a:effectLst/>
                <a:latin typeface="Times New Roman" panose="02020603050405020304" pitchFamily="18" charset="0"/>
                <a:ea typeface="Times New Roman" panose="02020603050405020304" pitchFamily="18" charset="0"/>
              </a:rPr>
              <a:t>Publisher information</a:t>
            </a:r>
            <a:r>
              <a:rPr lang="en-US" sz="1200" dirty="0">
                <a:effectLst/>
                <a:latin typeface="Times New Roman" panose="02020603050405020304" pitchFamily="18" charset="0"/>
                <a:ea typeface="Times New Roman" panose="02020603050405020304" pitchFamily="18" charset="0"/>
              </a:rPr>
              <a:t>: editor and year.</a:t>
            </a:r>
            <a:endParaRPr lang="en-MX" sz="1200" dirty="0">
              <a:effectLst/>
              <a:latin typeface="Times New Roman" panose="02020603050405020304" pitchFamily="18" charset="0"/>
              <a:ea typeface="Times New Roman" panose="02020603050405020304" pitchFamily="18" charset="0"/>
            </a:endParaRPr>
          </a:p>
          <a:p>
            <a:pPr lvl="1" algn="just">
              <a:buFont typeface="Courier New" panose="02070309020205020404" pitchFamily="49" charset="0"/>
              <a:buChar char="o"/>
            </a:pPr>
            <a:r>
              <a:rPr lang="en-US" sz="1200" b="1" dirty="0">
                <a:effectLst/>
                <a:latin typeface="Times New Roman" panose="02020603050405020304" pitchFamily="18" charset="0"/>
                <a:ea typeface="Times New Roman" panose="02020603050405020304" pitchFamily="18" charset="0"/>
              </a:rPr>
              <a:t>Page numbers</a:t>
            </a:r>
            <a:r>
              <a:rPr lang="en-US" sz="1200" dirty="0">
                <a:effectLst/>
                <a:latin typeface="Times New Roman" panose="02020603050405020304" pitchFamily="18" charset="0"/>
                <a:ea typeface="Times New Roman" panose="02020603050405020304" pitchFamily="18" charset="0"/>
              </a:rPr>
              <a:t>:</a:t>
            </a:r>
            <a:endParaRPr lang="en-MX" sz="1200" dirty="0">
              <a:effectLst/>
              <a:latin typeface="Times New Roman" panose="02020603050405020304" pitchFamily="18" charset="0"/>
              <a:ea typeface="Times New Roman" panose="02020603050405020304" pitchFamily="18" charset="0"/>
            </a:endParaRPr>
          </a:p>
          <a:p>
            <a:pPr marL="382560" indent="0">
              <a:buNone/>
            </a:pPr>
            <a:r>
              <a:rPr lang="en-US" sz="1200" dirty="0">
                <a:effectLst/>
                <a:latin typeface="Times New Roman" panose="02020603050405020304" pitchFamily="18" charset="0"/>
                <a:ea typeface="Times New Roman" panose="02020603050405020304" pitchFamily="18" charset="0"/>
              </a:rPr>
              <a:t>In case of articles from scientific journals, the name of the author is followed by the title of the article. The title of the article must be enclosed between quotation marks. Following, the complete name of the journal must be written in italics. Immediately, the volume number as well as the issue number must be included. Finally, the date enclosed in parenthesis, and followed by colon and the pages numbers. </a:t>
            </a:r>
            <a:endParaRPr lang="en-MX" sz="1200" dirty="0">
              <a:effectLst/>
              <a:latin typeface="Times New Roman" panose="02020603050405020304" pitchFamily="18" charset="0"/>
              <a:ea typeface="Times New Roman" panose="02020603050405020304" pitchFamily="18" charset="0"/>
            </a:endParaRPr>
          </a:p>
          <a:p>
            <a:pPr marL="382560" indent="0">
              <a:buNone/>
            </a:pPr>
            <a:r>
              <a:rPr lang="en-US" sz="1200" dirty="0">
                <a:effectLst/>
                <a:latin typeface="Times New Roman" panose="02020603050405020304" pitchFamily="18" charset="0"/>
                <a:ea typeface="Times New Roman" panose="02020603050405020304" pitchFamily="18" charset="0"/>
              </a:rPr>
              <a:t>Example of a book entry to the bibliography list:</a:t>
            </a:r>
            <a:endParaRPr lang="en-MX" sz="1200" dirty="0">
              <a:effectLst/>
              <a:latin typeface="Times New Roman" panose="02020603050405020304" pitchFamily="18" charset="0"/>
              <a:ea typeface="Times New Roman" panose="02020603050405020304" pitchFamily="18" charset="0"/>
            </a:endParaRPr>
          </a:p>
          <a:p>
            <a:pPr marL="1257300" lvl="2" indent="-342900">
              <a:buFont typeface="+mj-lt"/>
              <a:buAutoNum type="arabicPeriod"/>
              <a:tabLst>
                <a:tab pos="1796415" algn="l"/>
              </a:tabLst>
            </a:pPr>
            <a:r>
              <a:rPr lang="en-US" sz="1200" dirty="0">
                <a:effectLst/>
                <a:latin typeface="Times New Roman" panose="02020603050405020304" pitchFamily="18" charset="0"/>
                <a:ea typeface="Times New Roman" panose="02020603050405020304" pitchFamily="18" charset="0"/>
              </a:rPr>
              <a:t>Noam Chomsky and Morris Halle, </a:t>
            </a:r>
            <a:r>
              <a:rPr lang="en-US" sz="1200" i="1" dirty="0">
                <a:effectLst/>
                <a:latin typeface="Times New Roman" panose="02020603050405020304" pitchFamily="18" charset="0"/>
                <a:ea typeface="Times New Roman" panose="02020603050405020304" pitchFamily="18" charset="0"/>
              </a:rPr>
              <a:t>The Sound Pattern of English</a:t>
            </a:r>
            <a:r>
              <a:rPr lang="en-US" sz="1200" dirty="0">
                <a:effectLst/>
                <a:latin typeface="Times New Roman" panose="02020603050405020304" pitchFamily="18" charset="0"/>
                <a:ea typeface="Times New Roman" panose="02020603050405020304" pitchFamily="18" charset="0"/>
              </a:rPr>
              <a:t>, (Prentice Hall, 1968), 77-81</a:t>
            </a:r>
            <a:endParaRPr lang="en-MX" sz="1200" dirty="0">
              <a:effectLst/>
              <a:latin typeface="Times New Roman" panose="02020603050405020304" pitchFamily="18" charset="0"/>
              <a:ea typeface="Times New Roman" panose="02020603050405020304" pitchFamily="18" charset="0"/>
            </a:endParaRPr>
          </a:p>
          <a:p>
            <a:pPr marL="382560" indent="0">
              <a:buNone/>
            </a:pPr>
            <a:r>
              <a:rPr lang="en-US" sz="1200" dirty="0">
                <a:effectLst/>
                <a:latin typeface="Times New Roman" panose="02020603050405020304" pitchFamily="18" charset="0"/>
                <a:ea typeface="Times New Roman" panose="02020603050405020304" pitchFamily="18" charset="0"/>
              </a:rPr>
              <a:t>Example of a journal article entry to the bibliography list:</a:t>
            </a:r>
            <a:endParaRPr lang="en-MX" sz="1200" dirty="0">
              <a:effectLst/>
              <a:latin typeface="Times New Roman" panose="02020603050405020304" pitchFamily="18" charset="0"/>
              <a:ea typeface="Times New Roman" panose="02020603050405020304" pitchFamily="18" charset="0"/>
            </a:endParaRPr>
          </a:p>
          <a:p>
            <a:pPr marL="1257300" lvl="2" indent="-342900">
              <a:buFont typeface="+mj-lt"/>
              <a:buAutoNum type="arabicPeriod" startAt="2"/>
              <a:tabLst>
                <a:tab pos="1796415" algn="l"/>
              </a:tabLst>
            </a:pPr>
            <a:r>
              <a:rPr lang="en-US" sz="1200" dirty="0">
                <a:effectLst/>
                <a:latin typeface="Times New Roman" panose="02020603050405020304" pitchFamily="18" charset="0"/>
                <a:ea typeface="Times New Roman" panose="02020603050405020304" pitchFamily="18" charset="0"/>
              </a:rPr>
              <a:t>Keith A. Nelson, R.J Swayne Millar, and Michael D. </a:t>
            </a:r>
            <a:r>
              <a:rPr lang="en-US" sz="1200" dirty="0" err="1">
                <a:effectLst/>
                <a:latin typeface="Times New Roman" panose="02020603050405020304" pitchFamily="18" charset="0"/>
                <a:ea typeface="Times New Roman" panose="02020603050405020304" pitchFamily="18" charset="0"/>
              </a:rPr>
              <a:t>Fayer</a:t>
            </a:r>
            <a:r>
              <a:rPr lang="en-US" sz="1200" dirty="0">
                <a:effectLst/>
                <a:latin typeface="Times New Roman" panose="02020603050405020304" pitchFamily="18" charset="0"/>
                <a:ea typeface="Times New Roman" panose="02020603050405020304" pitchFamily="18" charset="0"/>
              </a:rPr>
              <a:t>, “Optical Generation of Tunable Ultrasonic Waves”, </a:t>
            </a:r>
            <a:r>
              <a:rPr lang="en-US" sz="1200" i="1" dirty="0">
                <a:effectLst/>
                <a:latin typeface="Times New Roman" panose="02020603050405020304" pitchFamily="18" charset="0"/>
                <a:ea typeface="Times New Roman" panose="02020603050405020304" pitchFamily="18" charset="0"/>
              </a:rPr>
              <a:t>Journal of Applied Physics</a:t>
            </a:r>
            <a:r>
              <a:rPr lang="en-US" sz="1200" dirty="0">
                <a:effectLst/>
                <a:latin typeface="Times New Roman" panose="02020603050405020304" pitchFamily="18" charset="0"/>
                <a:ea typeface="Times New Roman" panose="02020603050405020304" pitchFamily="18" charset="0"/>
              </a:rPr>
              <a:t> 53, no 2 (February 1982): 11-29.</a:t>
            </a:r>
            <a:endParaRPr lang="en-MX" sz="1200" dirty="0">
              <a:effectLst/>
              <a:latin typeface="Times New Roman" panose="02020603050405020304" pitchFamily="18" charset="0"/>
              <a:ea typeface="Times New Roman" panose="02020603050405020304" pitchFamily="18" charset="0"/>
            </a:endParaRPr>
          </a:p>
          <a:p>
            <a:pPr marL="382560" indent="0">
              <a:buNone/>
            </a:pPr>
            <a:r>
              <a:rPr lang="en-US" sz="1200" dirty="0">
                <a:effectLst/>
                <a:latin typeface="Times New Roman" panose="02020603050405020304" pitchFamily="18" charset="0"/>
                <a:ea typeface="Times New Roman" panose="02020603050405020304" pitchFamily="18" charset="0"/>
              </a:rPr>
              <a:t>Example of internet references entries to the bibliography list:</a:t>
            </a:r>
            <a:endParaRPr lang="en-MX" sz="1200" dirty="0">
              <a:effectLst/>
              <a:latin typeface="Times New Roman" panose="02020603050405020304" pitchFamily="18" charset="0"/>
              <a:ea typeface="Times New Roman" panose="02020603050405020304" pitchFamily="18" charset="0"/>
            </a:endParaRPr>
          </a:p>
          <a:p>
            <a:pPr marL="1257300" lvl="2" indent="-342900">
              <a:buFont typeface="+mj-lt"/>
              <a:buAutoNum type="arabicPeriod" startAt="3"/>
              <a:tabLst>
                <a:tab pos="1796415" algn="l"/>
              </a:tabLst>
            </a:pPr>
            <a:r>
              <a:rPr lang="en-US" sz="1200" dirty="0">
                <a:effectLst/>
                <a:latin typeface="Times New Roman" panose="02020603050405020304" pitchFamily="18" charset="0"/>
                <a:ea typeface="Times New Roman" panose="02020603050405020304" pitchFamily="18" charset="0"/>
              </a:rPr>
              <a:t>William J. Mitchel, </a:t>
            </a:r>
            <a:r>
              <a:rPr lang="en-US" sz="1200" i="1" dirty="0">
                <a:effectLst/>
                <a:latin typeface="Times New Roman" panose="02020603050405020304" pitchFamily="18" charset="0"/>
                <a:ea typeface="Times New Roman" panose="02020603050405020304" pitchFamily="18" charset="0"/>
              </a:rPr>
              <a:t>City of Bits: Space, Place, and the Infobahn</a:t>
            </a:r>
            <a:r>
              <a:rPr lang="en-US" sz="1200" dirty="0">
                <a:effectLst/>
                <a:latin typeface="Times New Roman" panose="02020603050405020304" pitchFamily="18" charset="0"/>
                <a:ea typeface="Times New Roman" panose="02020603050405020304" pitchFamily="18" charset="0"/>
              </a:rPr>
              <a:t> [book on-line] (Cambridge, Mass: MIT press, 1995, accessed 29 September 1995); available from http://www-mitpress.mit.edu:80/</a:t>
            </a:r>
            <a:r>
              <a:rPr lang="en-US" sz="1200" dirty="0" err="1">
                <a:effectLst/>
                <a:latin typeface="Times New Roman" panose="02020603050405020304" pitchFamily="18" charset="0"/>
                <a:ea typeface="Times New Roman" panose="02020603050405020304" pitchFamily="18" charset="0"/>
              </a:rPr>
              <a:t>city_of_Bits</a:t>
            </a:r>
            <a:r>
              <a:rPr lang="en-US" sz="1200" dirty="0">
                <a:effectLst/>
                <a:latin typeface="Times New Roman" panose="02020603050405020304" pitchFamily="18" charset="0"/>
                <a:ea typeface="Times New Roman" panose="02020603050405020304" pitchFamily="18" charset="0"/>
              </a:rPr>
              <a:t>/</a:t>
            </a:r>
            <a:r>
              <a:rPr lang="en-US" sz="1200" dirty="0" err="1">
                <a:effectLst/>
                <a:latin typeface="Times New Roman" panose="02020603050405020304" pitchFamily="18" charset="0"/>
                <a:ea typeface="Times New Roman" panose="02020603050405020304" pitchFamily="18" charset="0"/>
              </a:rPr>
              <a:t>Pulling_Glass</a:t>
            </a:r>
            <a:r>
              <a:rPr lang="en-US" sz="1200" dirty="0">
                <a:effectLst/>
                <a:latin typeface="Times New Roman" panose="02020603050405020304" pitchFamily="18" charset="0"/>
                <a:ea typeface="Times New Roman" panose="02020603050405020304" pitchFamily="18" charset="0"/>
              </a:rPr>
              <a:t>/</a:t>
            </a:r>
            <a:r>
              <a:rPr lang="en-US" sz="1200" dirty="0" err="1">
                <a:effectLst/>
                <a:latin typeface="Times New Roman" panose="02020603050405020304" pitchFamily="18" charset="0"/>
                <a:ea typeface="Times New Roman" panose="02020603050405020304" pitchFamily="18" charset="0"/>
              </a:rPr>
              <a:t>Index.html</a:t>
            </a:r>
            <a:r>
              <a:rPr lang="en-US" sz="1200" dirty="0">
                <a:effectLst/>
                <a:latin typeface="Times New Roman" panose="02020603050405020304" pitchFamily="18" charset="0"/>
                <a:ea typeface="Times New Roman" panose="02020603050405020304" pitchFamily="18" charset="0"/>
              </a:rPr>
              <a:t>; Internet.</a:t>
            </a:r>
            <a:endParaRPr lang="en-MX" sz="1200" dirty="0">
              <a:effectLst/>
              <a:latin typeface="Times New Roman" panose="02020603050405020304" pitchFamily="18" charset="0"/>
              <a:ea typeface="Times New Roman" panose="02020603050405020304" pitchFamily="18" charset="0"/>
            </a:endParaRPr>
          </a:p>
          <a:p>
            <a:pPr marL="1257300" lvl="2" indent="-342900">
              <a:buFont typeface="+mj-lt"/>
              <a:buAutoNum type="arabicPeriod" startAt="3"/>
              <a:tabLst>
                <a:tab pos="1796415" algn="l"/>
              </a:tabLst>
            </a:pPr>
            <a:r>
              <a:rPr lang="en-US" sz="1200" dirty="0">
                <a:effectLst/>
                <a:latin typeface="Times New Roman" panose="02020603050405020304" pitchFamily="18" charset="0"/>
                <a:ea typeface="Times New Roman" panose="02020603050405020304" pitchFamily="18" charset="0"/>
              </a:rPr>
              <a:t>Joanne C. Baker and Richard W. </a:t>
            </a:r>
            <a:r>
              <a:rPr lang="en-US" sz="1200" dirty="0" err="1">
                <a:effectLst/>
                <a:latin typeface="Times New Roman" panose="02020603050405020304" pitchFamily="18" charset="0"/>
                <a:ea typeface="Times New Roman" panose="02020603050405020304" pitchFamily="18" charset="0"/>
              </a:rPr>
              <a:t>Hunstead</a:t>
            </a:r>
            <a:r>
              <a:rPr lang="en-US" sz="1200" dirty="0">
                <a:effectLst/>
                <a:latin typeface="Times New Roman" panose="02020603050405020304" pitchFamily="18" charset="0"/>
                <a:ea typeface="Times New Roman" panose="02020603050405020304" pitchFamily="18" charset="0"/>
              </a:rPr>
              <a:t>, “Revealing the effects of Orientation in Composite Quasar Spectra”, </a:t>
            </a:r>
            <a:r>
              <a:rPr lang="en-US" sz="1200" i="1" dirty="0">
                <a:effectLst/>
                <a:latin typeface="Times New Roman" panose="02020603050405020304" pitchFamily="18" charset="0"/>
                <a:ea typeface="Times New Roman" panose="02020603050405020304" pitchFamily="18" charset="0"/>
              </a:rPr>
              <a:t>Astrophysical Journal</a:t>
            </a:r>
            <a:r>
              <a:rPr lang="en-US" sz="1200" dirty="0">
                <a:effectLst/>
                <a:latin typeface="Times New Roman" panose="02020603050405020304" pitchFamily="18" charset="0"/>
                <a:ea typeface="Times New Roman" panose="02020603050405020304" pitchFamily="18" charset="0"/>
              </a:rPr>
              <a:t> 452, 20 October 1995 [journal on-line]; available from http://</a:t>
            </a:r>
            <a:r>
              <a:rPr lang="en-US" sz="1200" dirty="0" err="1">
                <a:effectLst/>
                <a:latin typeface="Times New Roman" panose="02020603050405020304" pitchFamily="18" charset="0"/>
                <a:ea typeface="Times New Roman" panose="02020603050405020304" pitchFamily="18" charset="0"/>
              </a:rPr>
              <a:t>www.aas.org</a:t>
            </a:r>
            <a:r>
              <a:rPr lang="en-US" sz="1200" dirty="0">
                <a:effectLst/>
                <a:latin typeface="Times New Roman" panose="02020603050405020304" pitchFamily="18" charset="0"/>
                <a:ea typeface="Times New Roman" panose="02020603050405020304" pitchFamily="18" charset="0"/>
              </a:rPr>
              <a:t>/</a:t>
            </a:r>
            <a:r>
              <a:rPr lang="en-US" sz="1200" dirty="0" err="1">
                <a:effectLst/>
                <a:latin typeface="Times New Roman" panose="02020603050405020304" pitchFamily="18" charset="0"/>
                <a:ea typeface="Times New Roman" panose="02020603050405020304" pitchFamily="18" charset="0"/>
              </a:rPr>
              <a:t>ApJ</a:t>
            </a:r>
            <a:r>
              <a:rPr lang="en-US" sz="1200" dirty="0">
                <a:effectLst/>
                <a:latin typeface="Times New Roman" panose="02020603050405020304" pitchFamily="18" charset="0"/>
                <a:ea typeface="Times New Roman" panose="02020603050405020304" pitchFamily="18" charset="0"/>
              </a:rPr>
              <a:t>/v452n2/5309/5309.html; Internet; accessed 29 September 1995.</a:t>
            </a:r>
            <a:endParaRPr lang="en-US" sz="1200" dirty="0">
              <a:latin typeface="Times New Roman" panose="02020603050405020304" pitchFamily="18" charset="0"/>
              <a:ea typeface="Times New Roman" panose="02020603050405020304" pitchFamily="18" charset="0"/>
            </a:endParaRPr>
          </a:p>
          <a:p>
            <a:pPr marL="382560" indent="0">
              <a:buNone/>
            </a:pPr>
            <a:r>
              <a:rPr lang="en-US" sz="1200" dirty="0">
                <a:effectLst/>
                <a:latin typeface="Times New Roman" panose="02020603050405020304" pitchFamily="18" charset="0"/>
                <a:ea typeface="Times New Roman" panose="02020603050405020304" pitchFamily="18" charset="0"/>
              </a:rPr>
              <a:t>Example of lecture notes references entry to the bibliography list:</a:t>
            </a:r>
            <a:endParaRPr lang="en-MX" sz="1200" dirty="0">
              <a:effectLst/>
              <a:latin typeface="Times New Roman" panose="02020603050405020304" pitchFamily="18" charset="0"/>
              <a:ea typeface="Times New Roman" panose="02020603050405020304" pitchFamily="18" charset="0"/>
            </a:endParaRPr>
          </a:p>
          <a:p>
            <a:pPr marL="1257300" lvl="2" indent="-342900">
              <a:buFont typeface="+mj-lt"/>
              <a:buAutoNum type="arabicPeriod" startAt="5"/>
              <a:tabLst>
                <a:tab pos="1796415" algn="l"/>
              </a:tabLst>
            </a:pPr>
            <a:r>
              <a:rPr lang="en-US" sz="1200" dirty="0">
                <a:effectLst/>
                <a:latin typeface="Times New Roman" panose="02020603050405020304" pitchFamily="18" charset="0"/>
                <a:ea typeface="Times New Roman" panose="02020603050405020304" pitchFamily="18" charset="0"/>
              </a:rPr>
              <a:t>R. </a:t>
            </a:r>
            <a:r>
              <a:rPr lang="en-US" sz="1200" dirty="0" err="1">
                <a:effectLst/>
                <a:latin typeface="Times New Roman" panose="02020603050405020304" pitchFamily="18" charset="0"/>
                <a:ea typeface="Times New Roman" panose="02020603050405020304" pitchFamily="18" charset="0"/>
              </a:rPr>
              <a:t>Castelló</a:t>
            </a:r>
            <a:r>
              <a:rPr lang="en-US" sz="1200" dirty="0">
                <a:effectLst/>
                <a:latin typeface="Times New Roman" panose="02020603050405020304" pitchFamily="18" charset="0"/>
                <a:ea typeface="Times New Roman" panose="02020603050405020304" pitchFamily="18" charset="0"/>
              </a:rPr>
              <a:t>, Class Lecture, Topic: “Chapter 2 – Lexical Analysis.” TC3048, School of Engineering and Science, ITESM, Chihuahua, </a:t>
            </a:r>
            <a:r>
              <a:rPr lang="en-US" sz="1200" dirty="0" err="1">
                <a:effectLst/>
                <a:latin typeface="Times New Roman" panose="02020603050405020304" pitchFamily="18" charset="0"/>
                <a:ea typeface="Times New Roman" panose="02020603050405020304" pitchFamily="18" charset="0"/>
              </a:rPr>
              <a:t>Chih</a:t>
            </a:r>
            <a:r>
              <a:rPr lang="en-US" sz="1200" dirty="0">
                <a:effectLst/>
                <a:latin typeface="Times New Roman" panose="02020603050405020304" pitchFamily="18" charset="0"/>
                <a:ea typeface="Times New Roman" panose="02020603050405020304" pitchFamily="18" charset="0"/>
              </a:rPr>
              <a:t>, April, 2020. </a:t>
            </a:r>
            <a:endParaRPr lang="en-MX" sz="1200" dirty="0">
              <a:effectLst/>
              <a:latin typeface="Times New Roman" panose="02020603050405020304" pitchFamily="18" charset="0"/>
              <a:ea typeface="Times New Roman" panose="02020603050405020304" pitchFamily="18" charset="0"/>
            </a:endParaRPr>
          </a:p>
          <a:p>
            <a:pPr marL="914400" lvl="2" indent="0">
              <a:buNone/>
              <a:tabLst>
                <a:tab pos="1796415" algn="l"/>
              </a:tabLst>
            </a:pPr>
            <a:endParaRPr lang="en-MX" sz="1200" dirty="0">
              <a:effectLst/>
              <a:latin typeface="Times New Roman" panose="02020603050405020304" pitchFamily="18" charset="0"/>
              <a:ea typeface="Times New Roman" panose="02020603050405020304" pitchFamily="18" charset="0"/>
            </a:endParaRPr>
          </a:p>
        </p:txBody>
      </p:sp>
      <p:sp>
        <p:nvSpPr>
          <p:cNvPr id="2" name="Slide Number Placeholder 1">
            <a:extLst>
              <a:ext uri="{FF2B5EF4-FFF2-40B4-BE49-F238E27FC236}">
                <a16:creationId xmlns:a16="http://schemas.microsoft.com/office/drawing/2014/main" id="{E0618D98-820E-2A12-A4D9-B3D596008BED}"/>
              </a:ext>
            </a:extLst>
          </p:cNvPr>
          <p:cNvSpPr>
            <a:spLocks noGrp="1"/>
          </p:cNvSpPr>
          <p:nvPr>
            <p:ph type="sldNum" sz="quarter" idx="12"/>
          </p:nvPr>
        </p:nvSpPr>
        <p:spPr>
          <a:xfrm>
            <a:off x="6457950" y="6356350"/>
            <a:ext cx="2057400" cy="365125"/>
          </a:xfrm>
        </p:spPr>
        <p:txBody>
          <a:bodyPr>
            <a:normAutofit/>
          </a:bodyPr>
          <a:lstStyle/>
          <a:p>
            <a:pPr>
              <a:spcAft>
                <a:spcPts val="600"/>
              </a:spcAft>
            </a:pPr>
            <a:fld id="{87BA9580-FE5B-E14E-B782-A387CF7F7228}" type="slidenum">
              <a:rPr lang="en-MX" smtClean="0"/>
              <a:pPr>
                <a:spcAft>
                  <a:spcPts val="600"/>
                </a:spcAft>
              </a:pPr>
              <a:t>11</a:t>
            </a:fld>
            <a:endParaRPr lang="en-MX"/>
          </a:p>
        </p:txBody>
      </p:sp>
    </p:spTree>
    <p:extLst>
      <p:ext uri="{BB962C8B-B14F-4D97-AF65-F5344CB8AC3E}">
        <p14:creationId xmlns:p14="http://schemas.microsoft.com/office/powerpoint/2010/main" val="28095576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04895F-1F3A-C736-DEFE-E486B0D0B4C0}"/>
              </a:ext>
            </a:extLst>
          </p:cNvPr>
          <p:cNvSpPr>
            <a:spLocks noGrp="1"/>
          </p:cNvSpPr>
          <p:nvPr>
            <p:ph idx="1"/>
          </p:nvPr>
        </p:nvSpPr>
        <p:spPr>
          <a:xfrm>
            <a:off x="244880" y="136526"/>
            <a:ext cx="8499107" cy="6159242"/>
          </a:xfrm>
        </p:spPr>
        <p:txBody>
          <a:bodyPr anchor="ctr">
            <a:noAutofit/>
          </a:bodyPr>
          <a:lstStyle/>
          <a:p>
            <a:pPr marL="670560" indent="0">
              <a:buNone/>
            </a:pPr>
            <a:endParaRPr lang="en-MX" sz="1200" dirty="0">
              <a:effectLst/>
              <a:latin typeface="Times New Roman" panose="02020603050405020304" pitchFamily="18" charset="0"/>
              <a:ea typeface="Times New Roman" panose="02020603050405020304" pitchFamily="18" charset="0"/>
            </a:endParaRPr>
          </a:p>
          <a:p>
            <a:pPr marL="670560" indent="0">
              <a:buNone/>
            </a:pPr>
            <a:r>
              <a:rPr lang="en-US" sz="1200" b="1" dirty="0">
                <a:effectLst/>
                <a:latin typeface="Times New Roman" panose="02020603050405020304" pitchFamily="18" charset="0"/>
                <a:ea typeface="Times New Roman" panose="02020603050405020304" pitchFamily="18" charset="0"/>
              </a:rPr>
              <a:t>Example of text’s citation/reference:</a:t>
            </a:r>
            <a:endParaRPr lang="en-MX" sz="1200" dirty="0">
              <a:effectLst/>
              <a:latin typeface="Times New Roman" panose="02020603050405020304" pitchFamily="18" charset="0"/>
              <a:ea typeface="Times New Roman" panose="02020603050405020304" pitchFamily="18" charset="0"/>
            </a:endParaRPr>
          </a:p>
          <a:p>
            <a:pPr marL="899160" indent="0">
              <a:buNone/>
            </a:pPr>
            <a:r>
              <a:rPr lang="en-US" sz="1200" b="1" dirty="0">
                <a:solidFill>
                  <a:srgbClr val="1A1A1A"/>
                </a:solidFill>
                <a:effectLst/>
                <a:latin typeface="Times New Roman" panose="02020603050405020304" pitchFamily="18" charset="0"/>
                <a:ea typeface="Times New Roman" panose="02020603050405020304" pitchFamily="18" charset="0"/>
              </a:rPr>
              <a:t>TEXT:</a:t>
            </a:r>
            <a:endParaRPr lang="en-MX" sz="1200" dirty="0">
              <a:latin typeface="Times New Roman" panose="02020603050405020304" pitchFamily="18" charset="0"/>
              <a:ea typeface="Times New Roman" panose="02020603050405020304" pitchFamily="18" charset="0"/>
            </a:endParaRPr>
          </a:p>
          <a:p>
            <a:pPr marL="899160" indent="0">
              <a:buNone/>
            </a:pPr>
            <a:r>
              <a:rPr lang="en-US" sz="1200" b="1" dirty="0">
                <a:solidFill>
                  <a:srgbClr val="1A1A1A"/>
                </a:solidFill>
                <a:effectLst/>
                <a:latin typeface="Times New Roman" panose="02020603050405020304" pitchFamily="18" charset="0"/>
                <a:ea typeface="Times New Roman" panose="02020603050405020304" pitchFamily="18" charset="0"/>
              </a:rPr>
              <a:t>_________________________________________________________________________________________________</a:t>
            </a:r>
            <a:endParaRPr lang="en-MX" sz="1200" b="1" dirty="0">
              <a:latin typeface="Times New Roman" panose="02020603050405020304" pitchFamily="18" charset="0"/>
              <a:ea typeface="Times New Roman" panose="02020603050405020304" pitchFamily="18" charset="0"/>
            </a:endParaRPr>
          </a:p>
          <a:p>
            <a:pPr marL="899160" indent="0">
              <a:buNone/>
            </a:pPr>
            <a:r>
              <a:rPr lang="en-US" sz="1200" dirty="0">
                <a:solidFill>
                  <a:srgbClr val="1A1A1A"/>
                </a:solidFill>
                <a:effectLst/>
                <a:latin typeface="Times New Roman" panose="02020603050405020304" pitchFamily="18" charset="0"/>
                <a:ea typeface="Times New Roman" panose="02020603050405020304" pitchFamily="18" charset="0"/>
              </a:rPr>
              <a:t>The hardest single part of building a software system is deciding precisely </a:t>
            </a:r>
            <a:r>
              <a:rPr lang="en-US" sz="1200" u="sng" dirty="0">
                <a:solidFill>
                  <a:srgbClr val="1A1A1A"/>
                </a:solidFill>
                <a:effectLst/>
                <a:latin typeface="Times New Roman" panose="02020603050405020304" pitchFamily="18" charset="0"/>
                <a:ea typeface="Times New Roman" panose="02020603050405020304" pitchFamily="18" charset="0"/>
              </a:rPr>
              <a:t>what</a:t>
            </a:r>
            <a:r>
              <a:rPr lang="en-US" sz="1200" dirty="0">
                <a:solidFill>
                  <a:srgbClr val="1A1A1A"/>
                </a:solidFill>
                <a:effectLst/>
                <a:latin typeface="Times New Roman" panose="02020603050405020304" pitchFamily="18" charset="0"/>
                <a:ea typeface="Times New Roman" panose="02020603050405020304" pitchFamily="18" charset="0"/>
              </a:rPr>
              <a:t> to build. No other part of the conceptual work is as difficult as establishing the detailed technical requirements. No other part of the work so cripples the resulting system if done wrong. </a:t>
            </a:r>
            <a:r>
              <a:rPr lang="en-MX" sz="1200" dirty="0">
                <a:solidFill>
                  <a:srgbClr val="1A1A1A"/>
                </a:solidFill>
                <a:effectLst/>
                <a:latin typeface="Times New Roman" panose="02020603050405020304" pitchFamily="18" charset="0"/>
                <a:ea typeface="Times New Roman" panose="02020603050405020304" pitchFamily="18" charset="0"/>
              </a:rPr>
              <a:t>No other part is as difficult to rectify later. [2]</a:t>
            </a:r>
            <a:endParaRPr lang="en-MX" sz="1200" dirty="0">
              <a:effectLst/>
              <a:latin typeface="Times New Roman" panose="02020603050405020304" pitchFamily="18" charset="0"/>
              <a:ea typeface="Times New Roman" panose="02020603050405020304" pitchFamily="18" charset="0"/>
            </a:endParaRPr>
          </a:p>
          <a:p>
            <a:pPr marL="914400" lvl="2" indent="0">
              <a:buNone/>
              <a:tabLst>
                <a:tab pos="1127760" algn="l"/>
              </a:tabLst>
            </a:pPr>
            <a:r>
              <a:rPr lang="en-US" sz="1200" b="1" dirty="0">
                <a:solidFill>
                  <a:srgbClr val="1A1A1A"/>
                </a:solidFill>
                <a:effectLst/>
                <a:latin typeface="Times New Roman" panose="02020603050405020304" pitchFamily="18" charset="0"/>
                <a:ea typeface="Times New Roman" panose="02020603050405020304" pitchFamily="18" charset="0"/>
              </a:rPr>
              <a:t>_________________________________________________________________________________________________</a:t>
            </a:r>
            <a:endParaRPr lang="en-MX" sz="1200" dirty="0">
              <a:effectLst/>
              <a:latin typeface="Times New Roman" panose="02020603050405020304" pitchFamily="18" charset="0"/>
              <a:ea typeface="Times New Roman" panose="02020603050405020304" pitchFamily="18" charset="0"/>
            </a:endParaRPr>
          </a:p>
          <a:p>
            <a:pPr marL="0" lvl="0" indent="0">
              <a:buNone/>
              <a:tabLst>
                <a:tab pos="1127760" algn="l"/>
              </a:tabLst>
            </a:pPr>
            <a:endParaRPr lang="en-MX" sz="1200" dirty="0">
              <a:effectLst/>
              <a:latin typeface="Times New Roman" panose="02020603050405020304" pitchFamily="18" charset="0"/>
              <a:ea typeface="Times New Roman" panose="02020603050405020304" pitchFamily="18" charset="0"/>
            </a:endParaRPr>
          </a:p>
          <a:p>
            <a:pPr marL="899160" indent="0">
              <a:buNone/>
            </a:pPr>
            <a:r>
              <a:rPr lang="en-US" sz="1200" b="1" dirty="0">
                <a:solidFill>
                  <a:srgbClr val="1A1A1A"/>
                </a:solidFill>
                <a:effectLst/>
                <a:latin typeface="Times New Roman" panose="02020603050405020304" pitchFamily="18" charset="0"/>
                <a:ea typeface="Times New Roman" panose="02020603050405020304" pitchFamily="18" charset="0"/>
              </a:rPr>
              <a:t>Bibliography:</a:t>
            </a:r>
            <a:endParaRPr lang="en-MX" sz="1200" dirty="0">
              <a:effectLst/>
              <a:latin typeface="Times New Roman" panose="02020603050405020304" pitchFamily="18" charset="0"/>
              <a:ea typeface="Times New Roman" panose="02020603050405020304" pitchFamily="18" charset="0"/>
            </a:endParaRPr>
          </a:p>
          <a:p>
            <a:pPr marL="1257300" lvl="2" indent="-342900">
              <a:buFont typeface="+mj-lt"/>
              <a:buAutoNum type="arabicPeriod"/>
              <a:tabLst>
                <a:tab pos="1796415" algn="l"/>
              </a:tabLst>
            </a:pPr>
            <a:r>
              <a:rPr lang="en-US" sz="1200" dirty="0">
                <a:effectLst/>
                <a:latin typeface="Times New Roman" panose="02020603050405020304" pitchFamily="18" charset="0"/>
                <a:ea typeface="Times New Roman" panose="02020603050405020304" pitchFamily="18" charset="0"/>
              </a:rPr>
              <a:t>Noam Chomsky and Morris Halle, </a:t>
            </a:r>
            <a:r>
              <a:rPr lang="en-US" sz="1200" i="1" dirty="0">
                <a:effectLst/>
                <a:latin typeface="Times New Roman" panose="02020603050405020304" pitchFamily="18" charset="0"/>
                <a:ea typeface="Times New Roman" panose="02020603050405020304" pitchFamily="18" charset="0"/>
              </a:rPr>
              <a:t>The Sound Pattern of English</a:t>
            </a:r>
            <a:r>
              <a:rPr lang="en-US" sz="1200" dirty="0">
                <a:effectLst/>
                <a:latin typeface="Times New Roman" panose="02020603050405020304" pitchFamily="18" charset="0"/>
                <a:ea typeface="Times New Roman" panose="02020603050405020304" pitchFamily="18" charset="0"/>
              </a:rPr>
              <a:t>, (Prentice Hall, 1968), 77-81</a:t>
            </a:r>
            <a:endParaRPr lang="en-MX" sz="1200" dirty="0">
              <a:effectLst/>
              <a:latin typeface="Times New Roman" panose="02020603050405020304" pitchFamily="18" charset="0"/>
              <a:ea typeface="Times New Roman" panose="02020603050405020304" pitchFamily="18" charset="0"/>
            </a:endParaRPr>
          </a:p>
          <a:p>
            <a:pPr marL="1257300" lvl="2" indent="-342900">
              <a:buFont typeface="+mj-lt"/>
              <a:buAutoNum type="arabicPeriod"/>
              <a:tabLst>
                <a:tab pos="1796415" algn="l"/>
              </a:tabLst>
            </a:pPr>
            <a:r>
              <a:rPr lang="en-US" sz="1200" dirty="0">
                <a:effectLst/>
                <a:latin typeface="Times New Roman" panose="02020603050405020304" pitchFamily="18" charset="0"/>
                <a:ea typeface="Times New Roman" panose="02020603050405020304" pitchFamily="18" charset="0"/>
              </a:rPr>
              <a:t>Frederick P. Brooks, Jr. </a:t>
            </a:r>
            <a:r>
              <a:rPr lang="en-US" sz="1200" i="1" dirty="0">
                <a:effectLst/>
                <a:latin typeface="Times New Roman" panose="02020603050405020304" pitchFamily="18" charset="0"/>
                <a:ea typeface="Times New Roman" panose="02020603050405020304" pitchFamily="18" charset="0"/>
              </a:rPr>
              <a:t>The Mythical Man-Month</a:t>
            </a:r>
            <a:r>
              <a:rPr lang="en-US" sz="1200" dirty="0">
                <a:effectLst/>
                <a:latin typeface="Times New Roman" panose="02020603050405020304" pitchFamily="18" charset="0"/>
                <a:ea typeface="Times New Roman" panose="02020603050405020304" pitchFamily="18" charset="0"/>
              </a:rPr>
              <a:t>, Addison Wesley, 1995.</a:t>
            </a:r>
            <a:endParaRPr lang="en-MX" sz="1200" dirty="0">
              <a:latin typeface="Times New Roman" panose="02020603050405020304" pitchFamily="18" charset="0"/>
              <a:ea typeface="Times New Roman" panose="02020603050405020304" pitchFamily="18" charset="0"/>
            </a:endParaRPr>
          </a:p>
          <a:p>
            <a:pPr marL="914400" lvl="2" indent="0">
              <a:buNone/>
              <a:tabLst>
                <a:tab pos="1796415" algn="l"/>
              </a:tabLst>
            </a:pPr>
            <a:r>
              <a:rPr lang="en-US" sz="1200" b="1" dirty="0">
                <a:solidFill>
                  <a:srgbClr val="1A1A1A"/>
                </a:solidFill>
                <a:effectLst/>
                <a:latin typeface="Times New Roman" panose="02020603050405020304" pitchFamily="18" charset="0"/>
                <a:ea typeface="Times New Roman" panose="02020603050405020304" pitchFamily="18" charset="0"/>
              </a:rPr>
              <a:t>________________________________________________________________________________________________</a:t>
            </a:r>
            <a:endParaRPr lang="en-MX" sz="1200" dirty="0">
              <a:effectLst/>
              <a:latin typeface="Times New Roman" panose="02020603050405020304" pitchFamily="18" charset="0"/>
              <a:ea typeface="Times New Roman" panose="02020603050405020304" pitchFamily="18" charset="0"/>
            </a:endParaRPr>
          </a:p>
          <a:p>
            <a:pPr marL="0" indent="0" algn="ctr">
              <a:buNone/>
            </a:pPr>
            <a:r>
              <a:rPr lang="en-US" sz="1200" b="1" u="none" strike="noStrike" kern="0" dirty="0">
                <a:solidFill>
                  <a:srgbClr val="FF0000"/>
                </a:solidFill>
                <a:effectLst/>
                <a:latin typeface="Times New Roman" panose="02020603050405020304" pitchFamily="18" charset="0"/>
              </a:rPr>
              <a:t> </a:t>
            </a:r>
          </a:p>
          <a:p>
            <a:pPr marL="0" indent="0" algn="ctr">
              <a:buNone/>
            </a:pPr>
            <a:endParaRPr lang="en-US" sz="1200" b="1" kern="0" dirty="0">
              <a:solidFill>
                <a:srgbClr val="FF0000"/>
              </a:solidFill>
              <a:latin typeface="Times New Roman" panose="02020603050405020304" pitchFamily="18" charset="0"/>
              <a:ea typeface="Times New Roman" panose="02020603050405020304" pitchFamily="18" charset="0"/>
            </a:endParaRPr>
          </a:p>
          <a:p>
            <a:pPr marL="0" indent="0" algn="ctr">
              <a:buNone/>
            </a:pPr>
            <a:endParaRPr lang="en-US" sz="1200" b="1" kern="0" dirty="0">
              <a:solidFill>
                <a:srgbClr val="FF0000"/>
              </a:solidFill>
              <a:latin typeface="Times New Roman" panose="02020603050405020304" pitchFamily="18" charset="0"/>
              <a:ea typeface="Times New Roman" panose="02020603050405020304" pitchFamily="18" charset="0"/>
            </a:endParaRPr>
          </a:p>
          <a:p>
            <a:pPr marL="0" indent="0" algn="ctr">
              <a:buNone/>
            </a:pPr>
            <a:endParaRPr lang="en-US" sz="1200" b="1" kern="0" dirty="0">
              <a:solidFill>
                <a:srgbClr val="FF0000"/>
              </a:solidFill>
              <a:effectLst/>
              <a:latin typeface="Times New Roman" panose="02020603050405020304" pitchFamily="18" charset="0"/>
              <a:ea typeface="Times New Roman" panose="02020603050405020304" pitchFamily="18" charset="0"/>
            </a:endParaRPr>
          </a:p>
          <a:p>
            <a:pPr marL="0" indent="0" algn="ctr">
              <a:buNone/>
            </a:pPr>
            <a:endParaRPr lang="en-US" sz="1200" b="1" kern="0" dirty="0">
              <a:solidFill>
                <a:srgbClr val="FF0000"/>
              </a:solidFill>
              <a:latin typeface="Times New Roman" panose="02020603050405020304" pitchFamily="18" charset="0"/>
              <a:ea typeface="Times New Roman" panose="02020603050405020304" pitchFamily="18" charset="0"/>
            </a:endParaRPr>
          </a:p>
          <a:p>
            <a:pPr algn="ctr"/>
            <a:endParaRPr lang="en-MX" sz="1200" dirty="0">
              <a:effectLst/>
              <a:latin typeface="Times New Roman" panose="02020603050405020304" pitchFamily="18" charset="0"/>
              <a:ea typeface="Times New Roman" panose="02020603050405020304" pitchFamily="18" charset="0"/>
            </a:endParaRPr>
          </a:p>
          <a:p>
            <a:pPr marL="670560" indent="0">
              <a:buNone/>
            </a:pPr>
            <a:r>
              <a:rPr lang="en-US" sz="1200" dirty="0">
                <a:solidFill>
                  <a:srgbClr val="000000"/>
                </a:solidFill>
                <a:effectLst/>
                <a:latin typeface="Times New Roman" panose="02020603050405020304" pitchFamily="18" charset="0"/>
                <a:ea typeface="Times New Roman" panose="02020603050405020304" pitchFamily="18" charset="0"/>
              </a:rPr>
              <a:t>You can find the complete IEEE Reference Style guide, in the following web pages:</a:t>
            </a:r>
            <a:endParaRPr lang="en-MX" sz="1200" dirty="0">
              <a:effectLst/>
              <a:latin typeface="Times New Roman" panose="02020603050405020304" pitchFamily="18" charset="0"/>
              <a:ea typeface="Times New Roman" panose="02020603050405020304" pitchFamily="18" charset="0"/>
            </a:endParaRPr>
          </a:p>
          <a:p>
            <a:pPr marL="1257300" lvl="2" indent="-342900">
              <a:buFont typeface="Symbol" pitchFamily="2" charset="2"/>
              <a:buChar char="-"/>
            </a:pPr>
            <a:r>
              <a:rPr lang="en-US" sz="1200" u="sng" dirty="0">
                <a:solidFill>
                  <a:srgbClr val="0000FF"/>
                </a:solidFill>
                <a:effectLst/>
                <a:latin typeface="Times"/>
                <a:ea typeface="Times New Roman" panose="02020603050405020304" pitchFamily="18" charset="0"/>
                <a:cs typeface="Symbol" pitchFamily="2" charset="2"/>
                <a:hlinkClick r:id="rId2"/>
              </a:rPr>
              <a:t>http://libraryguides.vu.edu.au/ieeereferencing/home</a:t>
            </a:r>
            <a:endParaRPr lang="en-MX" sz="1200" dirty="0">
              <a:effectLst/>
              <a:latin typeface="Times"/>
              <a:ea typeface="Times New Roman" panose="02020603050405020304" pitchFamily="18" charset="0"/>
              <a:cs typeface="Symbol" pitchFamily="2" charset="2"/>
            </a:endParaRPr>
          </a:p>
          <a:p>
            <a:pPr marL="1257300" lvl="2" indent="-342900">
              <a:buFont typeface="Symbol" pitchFamily="2" charset="2"/>
              <a:buChar char="-"/>
            </a:pPr>
            <a:r>
              <a:rPr lang="en-US" sz="1200" u="sng" dirty="0">
                <a:solidFill>
                  <a:srgbClr val="0563C1"/>
                </a:solidFill>
                <a:effectLst/>
                <a:latin typeface="Times"/>
                <a:ea typeface="Times New Roman" panose="02020603050405020304" pitchFamily="18" charset="0"/>
                <a:cs typeface="Symbol" pitchFamily="2" charset="2"/>
                <a:hlinkClick r:id="rId3"/>
              </a:rPr>
              <a:t>https://ieeeauthorcenter.ieee.org/wp-content/uploads/IEEE-Reference-Guide.pdf</a:t>
            </a:r>
            <a:endParaRPr lang="en-MX" sz="1200" dirty="0">
              <a:effectLst/>
              <a:latin typeface="Times"/>
              <a:ea typeface="Times New Roman" panose="02020603050405020304" pitchFamily="18" charset="0"/>
              <a:cs typeface="Symbol" pitchFamily="2" charset="2"/>
            </a:endParaRPr>
          </a:p>
        </p:txBody>
      </p:sp>
      <p:sp>
        <p:nvSpPr>
          <p:cNvPr id="2" name="Slide Number Placeholder 1">
            <a:extLst>
              <a:ext uri="{FF2B5EF4-FFF2-40B4-BE49-F238E27FC236}">
                <a16:creationId xmlns:a16="http://schemas.microsoft.com/office/drawing/2014/main" id="{E0618D98-820E-2A12-A4D9-B3D596008BED}"/>
              </a:ext>
            </a:extLst>
          </p:cNvPr>
          <p:cNvSpPr>
            <a:spLocks noGrp="1"/>
          </p:cNvSpPr>
          <p:nvPr>
            <p:ph type="sldNum" sz="quarter" idx="12"/>
          </p:nvPr>
        </p:nvSpPr>
        <p:spPr>
          <a:xfrm>
            <a:off x="6457950" y="6356350"/>
            <a:ext cx="2057400" cy="365125"/>
          </a:xfrm>
        </p:spPr>
        <p:txBody>
          <a:bodyPr>
            <a:normAutofit/>
          </a:bodyPr>
          <a:lstStyle/>
          <a:p>
            <a:pPr>
              <a:spcAft>
                <a:spcPts val="600"/>
              </a:spcAft>
            </a:pPr>
            <a:fld id="{87BA9580-FE5B-E14E-B782-A387CF7F7228}" type="slidenum">
              <a:rPr lang="en-MX" smtClean="0"/>
              <a:pPr>
                <a:spcAft>
                  <a:spcPts val="600"/>
                </a:spcAft>
              </a:pPr>
              <a:t>12</a:t>
            </a:fld>
            <a:endParaRPr lang="en-MX"/>
          </a:p>
        </p:txBody>
      </p:sp>
    </p:spTree>
    <p:extLst>
      <p:ext uri="{BB962C8B-B14F-4D97-AF65-F5344CB8AC3E}">
        <p14:creationId xmlns:p14="http://schemas.microsoft.com/office/powerpoint/2010/main" val="2317603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4E51CA1-D506-FD6F-6975-1A11D2E23969}"/>
              </a:ext>
            </a:extLst>
          </p:cNvPr>
          <p:cNvSpPr>
            <a:spLocks noGrp="1"/>
          </p:cNvSpPr>
          <p:nvPr>
            <p:ph type="sldNum" sz="quarter" idx="12"/>
          </p:nvPr>
        </p:nvSpPr>
        <p:spPr/>
        <p:txBody>
          <a:bodyPr/>
          <a:lstStyle/>
          <a:p>
            <a:fld id="{87BA9580-FE5B-E14E-B782-A387CF7F7228}" type="slidenum">
              <a:rPr lang="en-MX" smtClean="0"/>
              <a:t>13</a:t>
            </a:fld>
            <a:endParaRPr lang="en-MX"/>
          </a:p>
        </p:txBody>
      </p:sp>
      <p:sp>
        <p:nvSpPr>
          <p:cNvPr id="5" name="Content Placeholder 2">
            <a:extLst>
              <a:ext uri="{FF2B5EF4-FFF2-40B4-BE49-F238E27FC236}">
                <a16:creationId xmlns:a16="http://schemas.microsoft.com/office/drawing/2014/main" id="{9059A5E2-74CB-7F3E-F353-4F5FC29DF71A}"/>
              </a:ext>
            </a:extLst>
          </p:cNvPr>
          <p:cNvSpPr>
            <a:spLocks noGrp="1"/>
          </p:cNvSpPr>
          <p:nvPr>
            <p:ph idx="1"/>
          </p:nvPr>
        </p:nvSpPr>
        <p:spPr>
          <a:xfrm>
            <a:off x="626365" y="145950"/>
            <a:ext cx="7631722" cy="463650"/>
          </a:xfrm>
        </p:spPr>
        <p:txBody>
          <a:bodyPr anchor="ctr">
            <a:normAutofit/>
          </a:bodyPr>
          <a:lstStyle/>
          <a:p>
            <a:pPr marL="0" lvl="0" indent="0" algn="ctr">
              <a:buNone/>
            </a:pPr>
            <a:r>
              <a:rPr lang="en-US" sz="1800" b="1" u="sng">
                <a:solidFill>
                  <a:srgbClr val="000000"/>
                </a:solidFill>
                <a:effectLst/>
                <a:latin typeface="Times"/>
                <a:ea typeface="Times New Roman" panose="02020603050405020304" pitchFamily="18" charset="0"/>
                <a:cs typeface="Times New Roman" panose="02020603050405020304" pitchFamily="18" charset="0"/>
              </a:rPr>
              <a:t>Writen Report Evaluation Metrics</a:t>
            </a:r>
            <a:endParaRPr lang="en-MX" sz="1800" dirty="0">
              <a:effectLst/>
              <a:latin typeface="Times"/>
              <a:ea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A4471738-340D-3123-8F3E-6F19C6AECDD6}"/>
              </a:ext>
            </a:extLst>
          </p:cNvPr>
          <p:cNvGraphicFramePr>
            <a:graphicFrameLocks noGrp="1"/>
          </p:cNvGraphicFramePr>
          <p:nvPr>
            <p:extLst>
              <p:ext uri="{D42A27DB-BD31-4B8C-83A1-F6EECF244321}">
                <p14:modId xmlns:p14="http://schemas.microsoft.com/office/powerpoint/2010/main" val="2581607431"/>
              </p:ext>
            </p:extLst>
          </p:nvPr>
        </p:nvGraphicFramePr>
        <p:xfrm>
          <a:off x="251173" y="609600"/>
          <a:ext cx="8596263" cy="5760720"/>
        </p:xfrm>
        <a:graphic>
          <a:graphicData uri="http://schemas.openxmlformats.org/drawingml/2006/table">
            <a:tbl>
              <a:tblPr>
                <a:tableStyleId>{5C22544A-7EE6-4342-B048-85BDC9FD1C3A}</a:tableStyleId>
              </a:tblPr>
              <a:tblGrid>
                <a:gridCol w="940670">
                  <a:extLst>
                    <a:ext uri="{9D8B030D-6E8A-4147-A177-3AD203B41FA5}">
                      <a16:colId xmlns:a16="http://schemas.microsoft.com/office/drawing/2014/main" val="2656102942"/>
                    </a:ext>
                  </a:extLst>
                </a:gridCol>
                <a:gridCol w="2177433">
                  <a:extLst>
                    <a:ext uri="{9D8B030D-6E8A-4147-A177-3AD203B41FA5}">
                      <a16:colId xmlns:a16="http://schemas.microsoft.com/office/drawing/2014/main" val="2914367332"/>
                    </a:ext>
                  </a:extLst>
                </a:gridCol>
                <a:gridCol w="1128583">
                  <a:extLst>
                    <a:ext uri="{9D8B030D-6E8A-4147-A177-3AD203B41FA5}">
                      <a16:colId xmlns:a16="http://schemas.microsoft.com/office/drawing/2014/main" val="3159579583"/>
                    </a:ext>
                  </a:extLst>
                </a:gridCol>
                <a:gridCol w="1027068">
                  <a:extLst>
                    <a:ext uri="{9D8B030D-6E8A-4147-A177-3AD203B41FA5}">
                      <a16:colId xmlns:a16="http://schemas.microsoft.com/office/drawing/2014/main" val="603912454"/>
                    </a:ext>
                  </a:extLst>
                </a:gridCol>
                <a:gridCol w="1062941">
                  <a:extLst>
                    <a:ext uri="{9D8B030D-6E8A-4147-A177-3AD203B41FA5}">
                      <a16:colId xmlns:a16="http://schemas.microsoft.com/office/drawing/2014/main" val="1844688899"/>
                    </a:ext>
                  </a:extLst>
                </a:gridCol>
                <a:gridCol w="943555">
                  <a:extLst>
                    <a:ext uri="{9D8B030D-6E8A-4147-A177-3AD203B41FA5}">
                      <a16:colId xmlns:a16="http://schemas.microsoft.com/office/drawing/2014/main" val="3010839813"/>
                    </a:ext>
                  </a:extLst>
                </a:gridCol>
                <a:gridCol w="803287">
                  <a:extLst>
                    <a:ext uri="{9D8B030D-6E8A-4147-A177-3AD203B41FA5}">
                      <a16:colId xmlns:a16="http://schemas.microsoft.com/office/drawing/2014/main" val="483333656"/>
                    </a:ext>
                  </a:extLst>
                </a:gridCol>
                <a:gridCol w="512726">
                  <a:extLst>
                    <a:ext uri="{9D8B030D-6E8A-4147-A177-3AD203B41FA5}">
                      <a16:colId xmlns:a16="http://schemas.microsoft.com/office/drawing/2014/main" val="38421314"/>
                    </a:ext>
                  </a:extLst>
                </a:gridCol>
              </a:tblGrid>
              <a:tr h="127981">
                <a:tc>
                  <a:txBody>
                    <a:bodyPr/>
                    <a:lstStyle/>
                    <a:p>
                      <a:r>
                        <a:rPr lang="en-US" sz="1050" dirty="0">
                          <a:effectLst/>
                          <a:latin typeface="Times New Roman" panose="02020603050405020304" pitchFamily="18" charset="0"/>
                          <a:cs typeface="Times New Roman" panose="02020603050405020304" pitchFamily="18" charset="0"/>
                        </a:rPr>
                        <a:t> </a:t>
                      </a:r>
                      <a:endParaRPr lang="en-MX"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B w="12700" cap="flat" cmpd="sng" algn="ctr">
                      <a:solidFill>
                        <a:schemeClr val="tx1"/>
                      </a:solidFill>
                      <a:prstDash val="solid"/>
                      <a:round/>
                      <a:headEnd type="none" w="med" len="med"/>
                      <a:tailEnd type="none" w="med" len="med"/>
                    </a:lnB>
                    <a:noFill/>
                  </a:tcPr>
                </a:tc>
                <a:tc gridSpan="7">
                  <a:txBody>
                    <a:bodyPr/>
                    <a:lstStyle/>
                    <a:p>
                      <a:pPr algn="ctr"/>
                      <a:r>
                        <a:rPr lang="en-US" sz="1050" dirty="0">
                          <a:effectLst/>
                          <a:latin typeface="Times New Roman" panose="02020603050405020304" pitchFamily="18" charset="0"/>
                          <a:cs typeface="Times New Roman" panose="02020603050405020304" pitchFamily="18" charset="0"/>
                        </a:rPr>
                        <a:t>Points</a:t>
                      </a:r>
                      <a:endParaRPr lang="en-MX"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B w="12700" cap="flat" cmpd="sng" algn="ctr">
                      <a:solidFill>
                        <a:schemeClr val="tx1"/>
                      </a:solidFill>
                      <a:prstDash val="solid"/>
                      <a:round/>
                      <a:headEnd type="none" w="med" len="med"/>
                      <a:tailEnd type="none" w="med" len="med"/>
                    </a:lnB>
                    <a:noFill/>
                  </a:tcPr>
                </a:tc>
                <a:tc hMerge="1">
                  <a:txBody>
                    <a:bodyPr/>
                    <a:lstStyle/>
                    <a:p>
                      <a:endParaRPr lang="en-MX"/>
                    </a:p>
                  </a:txBody>
                  <a:tcPr/>
                </a:tc>
                <a:tc hMerge="1">
                  <a:txBody>
                    <a:bodyPr/>
                    <a:lstStyle/>
                    <a:p>
                      <a:endParaRPr lang="en-MX"/>
                    </a:p>
                  </a:txBody>
                  <a:tcPr/>
                </a:tc>
                <a:tc hMerge="1">
                  <a:txBody>
                    <a:bodyPr/>
                    <a:lstStyle/>
                    <a:p>
                      <a:endParaRPr lang="en-MX"/>
                    </a:p>
                  </a:txBody>
                  <a:tcPr/>
                </a:tc>
                <a:tc hMerge="1">
                  <a:txBody>
                    <a:bodyPr/>
                    <a:lstStyle/>
                    <a:p>
                      <a:endParaRPr lang="en-MX"/>
                    </a:p>
                  </a:txBody>
                  <a:tcPr/>
                </a:tc>
                <a:tc hMerge="1">
                  <a:txBody>
                    <a:bodyPr/>
                    <a:lstStyle/>
                    <a:p>
                      <a:endParaRPr lang="en-MX"/>
                    </a:p>
                  </a:txBody>
                  <a:tcPr/>
                </a:tc>
                <a:tc hMerge="1">
                  <a:txBody>
                    <a:bodyPr/>
                    <a:lstStyle/>
                    <a:p>
                      <a:endParaRPr lang="en-MX"/>
                    </a:p>
                  </a:txBody>
                  <a:tcPr/>
                </a:tc>
                <a:extLst>
                  <a:ext uri="{0D108BD9-81ED-4DB2-BD59-A6C34878D82A}">
                    <a16:rowId xmlns:a16="http://schemas.microsoft.com/office/drawing/2014/main" val="1984332359"/>
                  </a:ext>
                </a:extLst>
              </a:tr>
              <a:tr h="127981">
                <a:tc>
                  <a:txBody>
                    <a:bodyPr/>
                    <a:lstStyle/>
                    <a:p>
                      <a:pPr algn="ctr"/>
                      <a:r>
                        <a:rPr lang="en-US" sz="1050" dirty="0">
                          <a:solidFill>
                            <a:schemeClr val="bg1"/>
                          </a:solidFill>
                          <a:effectLst/>
                          <a:latin typeface="Times New Roman" panose="02020603050405020304" pitchFamily="18" charset="0"/>
                          <a:cs typeface="Times New Roman" panose="02020603050405020304" pitchFamily="18" charset="0"/>
                        </a:rPr>
                        <a:t>Aspect</a:t>
                      </a:r>
                      <a:endParaRPr lang="en-MX" sz="105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1050" dirty="0">
                          <a:solidFill>
                            <a:schemeClr val="bg1"/>
                          </a:solidFill>
                          <a:effectLst/>
                          <a:latin typeface="Times New Roman" panose="02020603050405020304" pitchFamily="18" charset="0"/>
                          <a:cs typeface="Times New Roman" panose="02020603050405020304" pitchFamily="18" charset="0"/>
                        </a:rPr>
                        <a:t>100</a:t>
                      </a:r>
                      <a:endParaRPr lang="en-MX" sz="105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1050" dirty="0">
                          <a:solidFill>
                            <a:schemeClr val="bg1"/>
                          </a:solidFill>
                          <a:effectLst/>
                          <a:latin typeface="Times New Roman" panose="02020603050405020304" pitchFamily="18" charset="0"/>
                          <a:cs typeface="Times New Roman" panose="02020603050405020304" pitchFamily="18" charset="0"/>
                        </a:rPr>
                        <a:t>80</a:t>
                      </a:r>
                      <a:endParaRPr lang="en-MX" sz="105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1050" dirty="0">
                          <a:solidFill>
                            <a:schemeClr val="bg1"/>
                          </a:solidFill>
                          <a:effectLst/>
                          <a:latin typeface="Times New Roman" panose="02020603050405020304" pitchFamily="18" charset="0"/>
                          <a:cs typeface="Times New Roman" panose="02020603050405020304" pitchFamily="18" charset="0"/>
                        </a:rPr>
                        <a:t>60</a:t>
                      </a:r>
                      <a:endParaRPr lang="en-MX" sz="105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1050" dirty="0">
                          <a:solidFill>
                            <a:schemeClr val="bg1"/>
                          </a:solidFill>
                          <a:effectLst/>
                          <a:latin typeface="Times New Roman" panose="02020603050405020304" pitchFamily="18" charset="0"/>
                          <a:cs typeface="Times New Roman" panose="02020603050405020304" pitchFamily="18" charset="0"/>
                        </a:rPr>
                        <a:t>40</a:t>
                      </a:r>
                      <a:endParaRPr lang="en-MX" sz="105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1050" dirty="0">
                          <a:solidFill>
                            <a:schemeClr val="bg1"/>
                          </a:solidFill>
                          <a:effectLst/>
                          <a:latin typeface="Times New Roman" panose="02020603050405020304" pitchFamily="18" charset="0"/>
                          <a:cs typeface="Times New Roman" panose="02020603050405020304" pitchFamily="18" charset="0"/>
                        </a:rPr>
                        <a:t>20</a:t>
                      </a:r>
                      <a:endParaRPr lang="en-MX" sz="105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1050" dirty="0">
                          <a:solidFill>
                            <a:schemeClr val="bg1"/>
                          </a:solidFill>
                          <a:effectLst/>
                          <a:latin typeface="Times New Roman" panose="02020603050405020304" pitchFamily="18" charset="0"/>
                          <a:cs typeface="Times New Roman" panose="02020603050405020304" pitchFamily="18" charset="0"/>
                        </a:rPr>
                        <a:t>0</a:t>
                      </a:r>
                      <a:endParaRPr lang="en-MX" sz="105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1050" dirty="0">
                          <a:solidFill>
                            <a:schemeClr val="bg1"/>
                          </a:solidFill>
                          <a:effectLst/>
                          <a:latin typeface="Times New Roman" panose="02020603050405020304" pitchFamily="18" charset="0"/>
                          <a:cs typeface="Times New Roman" panose="02020603050405020304" pitchFamily="18" charset="0"/>
                        </a:rPr>
                        <a:t>Weight</a:t>
                      </a:r>
                      <a:endParaRPr lang="en-MX" sz="105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487832556"/>
                  </a:ext>
                </a:extLst>
              </a:tr>
              <a:tr h="895864">
                <a:tc>
                  <a:txBody>
                    <a:bodyPr/>
                    <a:lstStyle/>
                    <a:p>
                      <a:r>
                        <a:rPr lang="en-US" sz="1050" dirty="0">
                          <a:effectLst/>
                          <a:latin typeface="Times New Roman" panose="02020603050405020304" pitchFamily="18" charset="0"/>
                          <a:cs typeface="Times New Roman" panose="02020603050405020304" pitchFamily="18" charset="0"/>
                        </a:rPr>
                        <a:t>General aspects of the report</a:t>
                      </a:r>
                      <a:endParaRPr lang="en-MX"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342900" lvl="0" indent="-342900">
                        <a:buFont typeface="+mj-lt"/>
                        <a:buAutoNum type="arabicPeriod"/>
                        <a:tabLst>
                          <a:tab pos="228600" algn="l"/>
                        </a:tabLst>
                      </a:pPr>
                      <a:r>
                        <a:rPr lang="en-US" sz="1050" dirty="0">
                          <a:effectLst/>
                          <a:latin typeface="Times New Roman" panose="02020603050405020304" pitchFamily="18" charset="0"/>
                          <a:cs typeface="Times New Roman" panose="02020603050405020304" pitchFamily="18" charset="0"/>
                        </a:rPr>
                        <a:t>Title Page.</a:t>
                      </a:r>
                      <a:endParaRPr lang="en-MX" sz="1050" dirty="0">
                        <a:effectLst/>
                        <a:latin typeface="Times New Roman" panose="02020603050405020304" pitchFamily="18" charset="0"/>
                        <a:cs typeface="Times New Roman" panose="02020603050405020304" pitchFamily="18" charset="0"/>
                      </a:endParaRPr>
                    </a:p>
                    <a:p>
                      <a:pPr marL="342900" lvl="0" indent="-342900">
                        <a:buFont typeface="+mj-lt"/>
                        <a:buAutoNum type="arabicPeriod"/>
                        <a:tabLst>
                          <a:tab pos="228600" algn="l"/>
                        </a:tabLst>
                      </a:pPr>
                      <a:r>
                        <a:rPr lang="en-US" sz="1050" dirty="0">
                          <a:effectLst/>
                          <a:latin typeface="Times New Roman" panose="02020603050405020304" pitchFamily="18" charset="0"/>
                          <a:cs typeface="Times New Roman" panose="02020603050405020304" pitchFamily="18" charset="0"/>
                        </a:rPr>
                        <a:t>Introduction.</a:t>
                      </a:r>
                      <a:endParaRPr lang="en-MX" sz="1050" dirty="0">
                        <a:effectLst/>
                        <a:latin typeface="Times New Roman" panose="02020603050405020304" pitchFamily="18" charset="0"/>
                        <a:cs typeface="Times New Roman" panose="02020603050405020304" pitchFamily="18" charset="0"/>
                      </a:endParaRPr>
                    </a:p>
                    <a:p>
                      <a:pPr marL="342900" lvl="0" indent="-342900">
                        <a:buFont typeface="+mj-lt"/>
                        <a:buAutoNum type="arabicPeriod"/>
                        <a:tabLst>
                          <a:tab pos="228600" algn="l"/>
                        </a:tabLst>
                      </a:pPr>
                      <a:r>
                        <a:rPr lang="en-US" sz="1050" dirty="0">
                          <a:effectLst/>
                          <a:latin typeface="Times New Roman" panose="02020603050405020304" pitchFamily="18" charset="0"/>
                          <a:cs typeface="Times New Roman" panose="02020603050405020304" pitchFamily="18" charset="0"/>
                        </a:rPr>
                        <a:t>Analysis.</a:t>
                      </a:r>
                      <a:endParaRPr lang="en-MX" sz="1050" dirty="0">
                        <a:effectLst/>
                        <a:latin typeface="Times New Roman" panose="02020603050405020304" pitchFamily="18" charset="0"/>
                        <a:cs typeface="Times New Roman" panose="02020603050405020304" pitchFamily="18" charset="0"/>
                      </a:endParaRPr>
                    </a:p>
                    <a:p>
                      <a:pPr marL="342900" lvl="0" indent="-342900">
                        <a:buFont typeface="+mj-lt"/>
                        <a:buAutoNum type="arabicPeriod"/>
                        <a:tabLst>
                          <a:tab pos="228600" algn="l"/>
                        </a:tabLst>
                      </a:pPr>
                      <a:r>
                        <a:rPr lang="en-US" sz="1050" dirty="0">
                          <a:effectLst/>
                          <a:latin typeface="Times New Roman" panose="02020603050405020304" pitchFamily="18" charset="0"/>
                          <a:cs typeface="Times New Roman" panose="02020603050405020304" pitchFamily="18" charset="0"/>
                        </a:rPr>
                        <a:t>Design.</a:t>
                      </a:r>
                    </a:p>
                    <a:p>
                      <a:pPr marL="342900" lvl="0" indent="-342900">
                        <a:buFont typeface="+mj-lt"/>
                        <a:buAutoNum type="arabicPeriod"/>
                        <a:tabLst>
                          <a:tab pos="228600" algn="l"/>
                        </a:tabLst>
                      </a:pPr>
                      <a:r>
                        <a:rPr lang="en-US" sz="1050" dirty="0">
                          <a:effectLst/>
                          <a:latin typeface="Times New Roman" panose="02020603050405020304" pitchFamily="18" charset="0"/>
                          <a:cs typeface="Times New Roman" panose="02020603050405020304" pitchFamily="18" charset="0"/>
                        </a:rPr>
                        <a:t>Implentation</a:t>
                      </a:r>
                      <a:endParaRPr lang="en-MX" sz="1050" dirty="0">
                        <a:effectLst/>
                        <a:latin typeface="Times New Roman" panose="02020603050405020304" pitchFamily="18" charset="0"/>
                        <a:cs typeface="Times New Roman" panose="02020603050405020304" pitchFamily="18" charset="0"/>
                      </a:endParaRPr>
                    </a:p>
                    <a:p>
                      <a:pPr marL="342900" lvl="0" indent="-342900">
                        <a:buFont typeface="+mj-lt"/>
                        <a:buAutoNum type="arabicPeriod"/>
                        <a:tabLst>
                          <a:tab pos="228600" algn="l"/>
                        </a:tabLst>
                      </a:pPr>
                      <a:r>
                        <a:rPr lang="en-US" sz="1050" dirty="0">
                          <a:effectLst/>
                          <a:latin typeface="Times New Roman" panose="02020603050405020304" pitchFamily="18" charset="0"/>
                          <a:cs typeface="Times New Roman" panose="02020603050405020304" pitchFamily="18" charset="0"/>
                        </a:rPr>
                        <a:t>Testing. </a:t>
                      </a:r>
                      <a:endParaRPr lang="en-MX" sz="1050" dirty="0">
                        <a:effectLst/>
                        <a:latin typeface="Times New Roman" panose="02020603050405020304" pitchFamily="18" charset="0"/>
                        <a:cs typeface="Times New Roman" panose="02020603050405020304" pitchFamily="18" charset="0"/>
                      </a:endParaRPr>
                    </a:p>
                    <a:p>
                      <a:pPr marL="342900" lvl="0" indent="-342900">
                        <a:buFont typeface="+mj-lt"/>
                        <a:buAutoNum type="arabicPeriod"/>
                        <a:tabLst>
                          <a:tab pos="228600" algn="l"/>
                        </a:tabLst>
                      </a:pPr>
                      <a:r>
                        <a:rPr lang="en-US" sz="1050" dirty="0">
                          <a:effectLst/>
                          <a:latin typeface="Times New Roman" panose="02020603050405020304" pitchFamily="18" charset="0"/>
                          <a:cs typeface="Times New Roman" panose="02020603050405020304" pitchFamily="18" charset="0"/>
                        </a:rPr>
                        <a:t>Work Plan.</a:t>
                      </a:r>
                      <a:endParaRPr lang="en-MX" sz="1050" dirty="0">
                        <a:effectLst/>
                        <a:latin typeface="Times New Roman" panose="02020603050405020304" pitchFamily="18" charset="0"/>
                        <a:cs typeface="Times New Roman" panose="02020603050405020304" pitchFamily="18" charset="0"/>
                      </a:endParaRPr>
                    </a:p>
                    <a:p>
                      <a:pPr marL="342900" lvl="0" indent="-342900">
                        <a:buFont typeface="+mj-lt"/>
                        <a:buAutoNum type="arabicPeriod"/>
                        <a:tabLst>
                          <a:tab pos="228600" algn="l"/>
                        </a:tabLst>
                      </a:pPr>
                      <a:r>
                        <a:rPr lang="en-US" sz="1050" dirty="0">
                          <a:effectLst/>
                          <a:latin typeface="Times New Roman" panose="02020603050405020304" pitchFamily="18" charset="0"/>
                          <a:cs typeface="Times New Roman" panose="02020603050405020304" pitchFamily="18" charset="0"/>
                        </a:rPr>
                        <a:t>References.</a:t>
                      </a:r>
                      <a:endParaRPr lang="en-MX"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effectLst/>
                          <a:latin typeface="Times New Roman" panose="02020603050405020304" pitchFamily="18" charset="0"/>
                          <a:cs typeface="Times New Roman" panose="02020603050405020304" pitchFamily="18" charset="0"/>
                        </a:rPr>
                        <a:t>Does not apply</a:t>
                      </a:r>
                      <a:endParaRPr lang="en-MX"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dirty="0">
                          <a:effectLst/>
                          <a:latin typeface="Times New Roman" panose="02020603050405020304" pitchFamily="18" charset="0"/>
                          <a:cs typeface="Times New Roman" panose="02020603050405020304" pitchFamily="18" charset="0"/>
                        </a:rPr>
                        <a:t>Does not apply</a:t>
                      </a:r>
                      <a:endParaRPr lang="en-MX"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effectLst/>
                          <a:latin typeface="Times New Roman" panose="02020603050405020304" pitchFamily="18" charset="0"/>
                          <a:cs typeface="Times New Roman" panose="02020603050405020304" pitchFamily="18" charset="0"/>
                        </a:rPr>
                        <a:t>Does not apply</a:t>
                      </a:r>
                      <a:endParaRPr lang="en-MX"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dirty="0">
                          <a:effectLst/>
                          <a:latin typeface="Times New Roman" panose="02020603050405020304" pitchFamily="18" charset="0"/>
                          <a:cs typeface="Times New Roman" panose="02020603050405020304" pitchFamily="18" charset="0"/>
                        </a:rPr>
                        <a:t>Does not apply</a:t>
                      </a:r>
                      <a:endParaRPr lang="en-MX"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dirty="0">
                          <a:effectLst/>
                          <a:latin typeface="Times New Roman" panose="02020603050405020304" pitchFamily="18" charset="0"/>
                          <a:cs typeface="Times New Roman" panose="02020603050405020304" pitchFamily="18" charset="0"/>
                        </a:rPr>
                        <a:t>Incomplete Document</a:t>
                      </a:r>
                      <a:endParaRPr lang="en-MX" sz="1050" dirty="0">
                        <a:effectLst/>
                        <a:latin typeface="Times New Roman" panose="02020603050405020304" pitchFamily="18" charset="0"/>
                        <a:cs typeface="Times New Roman" panose="02020603050405020304" pitchFamily="18" charset="0"/>
                      </a:endParaRPr>
                    </a:p>
                    <a:p>
                      <a:r>
                        <a:rPr lang="en-US" sz="1050" dirty="0">
                          <a:effectLst/>
                          <a:latin typeface="Times New Roman" panose="02020603050405020304" pitchFamily="18" charset="0"/>
                          <a:cs typeface="Times New Roman" panose="02020603050405020304" pitchFamily="18" charset="0"/>
                        </a:rPr>
                        <a:t> </a:t>
                      </a:r>
                      <a:endParaRPr lang="en-MX"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50" dirty="0">
                          <a:effectLst/>
                          <a:latin typeface="Times New Roman" panose="02020603050405020304" pitchFamily="18" charset="0"/>
                          <a:cs typeface="Times New Roman" panose="02020603050405020304" pitchFamily="18" charset="0"/>
                        </a:rPr>
                        <a:t>2</a:t>
                      </a:r>
                      <a:endParaRPr lang="en-MX"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13513695"/>
                  </a:ext>
                </a:extLst>
              </a:tr>
              <a:tr h="2303649">
                <a:tc>
                  <a:txBody>
                    <a:bodyPr/>
                    <a:lstStyle/>
                    <a:p>
                      <a:pPr>
                        <a:tabLst>
                          <a:tab pos="2743200" algn="ctr"/>
                          <a:tab pos="5486400" algn="r"/>
                          <a:tab pos="457200" algn="l"/>
                        </a:tabLst>
                      </a:pPr>
                      <a:r>
                        <a:rPr lang="en-US" sz="1050" dirty="0">
                          <a:effectLst/>
                          <a:latin typeface="Times New Roman" panose="02020603050405020304" pitchFamily="18" charset="0"/>
                          <a:cs typeface="Times New Roman" panose="02020603050405020304" pitchFamily="18" charset="0"/>
                        </a:rPr>
                        <a:t>Document Presentation and Format</a:t>
                      </a:r>
                      <a:endParaRPr lang="en-MX"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342900" lvl="0" indent="-342900">
                        <a:buFont typeface="+mj-lt"/>
                        <a:buAutoNum type="arabicPeriod"/>
                        <a:tabLst>
                          <a:tab pos="228600" algn="l"/>
                        </a:tabLst>
                      </a:pPr>
                      <a:r>
                        <a:rPr lang="en-US" sz="1050" dirty="0">
                          <a:effectLst/>
                          <a:latin typeface="Times New Roman" panose="02020603050405020304" pitchFamily="18" charset="0"/>
                          <a:cs typeface="Times New Roman" panose="02020603050405020304" pitchFamily="18" charset="0"/>
                        </a:rPr>
                        <a:t>Computer edited.</a:t>
                      </a:r>
                      <a:endParaRPr lang="en-MX" sz="1050" dirty="0">
                        <a:effectLst/>
                        <a:latin typeface="Times New Roman" panose="02020603050405020304" pitchFamily="18" charset="0"/>
                        <a:cs typeface="Times New Roman" panose="02020603050405020304" pitchFamily="18" charset="0"/>
                      </a:endParaRPr>
                    </a:p>
                    <a:p>
                      <a:pPr marL="342900" lvl="0" indent="-342900">
                        <a:buFont typeface="+mj-lt"/>
                        <a:buAutoNum type="arabicPeriod"/>
                        <a:tabLst>
                          <a:tab pos="228600" algn="l"/>
                        </a:tabLst>
                      </a:pPr>
                      <a:r>
                        <a:rPr lang="en-US" sz="1050" dirty="0">
                          <a:effectLst/>
                          <a:latin typeface="Times New Roman" panose="02020603050405020304" pitchFamily="18" charset="0"/>
                          <a:cs typeface="Times New Roman" panose="02020603050405020304" pitchFamily="18" charset="0"/>
                        </a:rPr>
                        <a:t>Quality of printing.</a:t>
                      </a:r>
                      <a:endParaRPr lang="en-MX" sz="1050" dirty="0">
                        <a:effectLst/>
                        <a:latin typeface="Times New Roman" panose="02020603050405020304" pitchFamily="18" charset="0"/>
                        <a:cs typeface="Times New Roman" panose="02020603050405020304" pitchFamily="18" charset="0"/>
                      </a:endParaRPr>
                    </a:p>
                    <a:p>
                      <a:pPr marL="342900" lvl="0" indent="-342900">
                        <a:buFont typeface="+mj-lt"/>
                        <a:buAutoNum type="arabicPeriod"/>
                        <a:tabLst>
                          <a:tab pos="228600" algn="l"/>
                        </a:tabLst>
                      </a:pPr>
                      <a:r>
                        <a:rPr lang="en-US" sz="1050" dirty="0">
                          <a:effectLst/>
                          <a:latin typeface="Times New Roman" panose="02020603050405020304" pitchFamily="18" charset="0"/>
                          <a:cs typeface="Times New Roman" panose="02020603050405020304" pitchFamily="18" charset="0"/>
                        </a:rPr>
                        <a:t>Page number.</a:t>
                      </a:r>
                      <a:endParaRPr lang="en-MX" sz="1050" dirty="0">
                        <a:effectLst/>
                        <a:latin typeface="Times New Roman" panose="02020603050405020304" pitchFamily="18" charset="0"/>
                        <a:cs typeface="Times New Roman" panose="02020603050405020304" pitchFamily="18" charset="0"/>
                      </a:endParaRPr>
                    </a:p>
                    <a:p>
                      <a:pPr marL="342900" lvl="0" indent="-342900">
                        <a:buFont typeface="+mj-lt"/>
                        <a:buAutoNum type="arabicPeriod"/>
                        <a:tabLst>
                          <a:tab pos="228600" algn="l"/>
                        </a:tabLst>
                      </a:pPr>
                      <a:r>
                        <a:rPr lang="en-US" sz="1050" dirty="0">
                          <a:effectLst/>
                          <a:latin typeface="Times New Roman" panose="02020603050405020304" pitchFamily="18" charset="0"/>
                          <a:cs typeface="Times New Roman" panose="02020603050405020304" pitchFamily="18" charset="0"/>
                        </a:rPr>
                        <a:t>Sections and subsections.</a:t>
                      </a:r>
                      <a:endParaRPr lang="en-MX" sz="1050" dirty="0">
                        <a:effectLst/>
                        <a:latin typeface="Times New Roman" panose="02020603050405020304" pitchFamily="18" charset="0"/>
                        <a:cs typeface="Times New Roman" panose="02020603050405020304" pitchFamily="18" charset="0"/>
                      </a:endParaRPr>
                    </a:p>
                    <a:p>
                      <a:pPr marL="342900" lvl="0" indent="-342900">
                        <a:buFont typeface="+mj-lt"/>
                        <a:buAutoNum type="arabicPeriod"/>
                        <a:tabLst>
                          <a:tab pos="228600" algn="l"/>
                        </a:tabLst>
                      </a:pPr>
                      <a:r>
                        <a:rPr lang="en-US" sz="1050" dirty="0">
                          <a:effectLst/>
                          <a:latin typeface="Times New Roman" panose="02020603050405020304" pitchFamily="18" charset="0"/>
                          <a:cs typeface="Times New Roman" panose="02020603050405020304" pitchFamily="18" charset="0"/>
                        </a:rPr>
                        <a:t>Figure and Tables MUST have Figure/Table number and a subtitle.</a:t>
                      </a:r>
                      <a:endParaRPr lang="en-MX" sz="1050" dirty="0">
                        <a:effectLst/>
                        <a:latin typeface="Times New Roman" panose="02020603050405020304" pitchFamily="18" charset="0"/>
                        <a:cs typeface="Times New Roman" panose="02020603050405020304" pitchFamily="18" charset="0"/>
                      </a:endParaRPr>
                    </a:p>
                    <a:p>
                      <a:pPr marL="342900" lvl="0" indent="-342900">
                        <a:buFont typeface="+mj-lt"/>
                        <a:buAutoNum type="arabicPeriod"/>
                        <a:tabLst>
                          <a:tab pos="228600" algn="l"/>
                        </a:tabLst>
                      </a:pPr>
                      <a:r>
                        <a:rPr lang="en-US" sz="1050" dirty="0">
                          <a:effectLst/>
                          <a:latin typeface="Times New Roman" panose="02020603050405020304" pitchFamily="18" charset="0"/>
                          <a:cs typeface="Times New Roman" panose="02020603050405020304" pitchFamily="18" charset="0"/>
                        </a:rPr>
                        <a:t>Figures and Tables MUST be referenced in the text.</a:t>
                      </a:r>
                      <a:endParaRPr lang="en-MX" sz="1050" dirty="0">
                        <a:effectLst/>
                        <a:latin typeface="Times New Roman" panose="02020603050405020304" pitchFamily="18" charset="0"/>
                        <a:cs typeface="Times New Roman" panose="02020603050405020304" pitchFamily="18" charset="0"/>
                      </a:endParaRPr>
                    </a:p>
                    <a:p>
                      <a:pPr marL="342900" lvl="0" indent="-342900">
                        <a:buFont typeface="+mj-lt"/>
                        <a:buAutoNum type="arabicPeriod"/>
                        <a:tabLst>
                          <a:tab pos="228600" algn="l"/>
                        </a:tabLst>
                      </a:pPr>
                      <a:r>
                        <a:rPr lang="en-US" sz="1050" dirty="0">
                          <a:effectLst/>
                          <a:latin typeface="Times New Roman" panose="02020603050405020304" pitchFamily="18" charset="0"/>
                          <a:cs typeface="Times New Roman" panose="02020603050405020304" pitchFamily="18" charset="0"/>
                        </a:rPr>
                        <a:t>Correct distribution of text, figures, and tables. </a:t>
                      </a:r>
                      <a:endParaRPr lang="en-MX" sz="1050" dirty="0">
                        <a:effectLst/>
                        <a:latin typeface="Times New Roman" panose="02020603050405020304" pitchFamily="18" charset="0"/>
                        <a:cs typeface="Times New Roman" panose="02020603050405020304" pitchFamily="18" charset="0"/>
                      </a:endParaRPr>
                    </a:p>
                    <a:p>
                      <a:pPr marL="342900" lvl="0" indent="-342900">
                        <a:buFont typeface="+mj-lt"/>
                        <a:buAutoNum type="arabicPeriod"/>
                        <a:tabLst>
                          <a:tab pos="228600" algn="l"/>
                        </a:tabLst>
                      </a:pPr>
                      <a:r>
                        <a:rPr lang="en-US" sz="1050" dirty="0">
                          <a:effectLst/>
                          <a:latin typeface="Times New Roman" panose="02020603050405020304" pitchFamily="18" charset="0"/>
                          <a:cs typeface="Times New Roman" panose="02020603050405020304" pitchFamily="18" charset="0"/>
                        </a:rPr>
                        <a:t>All references must be included in bibliography, using Chicago Manual Style. </a:t>
                      </a:r>
                      <a:endParaRPr lang="en-MX" sz="1050" dirty="0">
                        <a:effectLst/>
                        <a:latin typeface="Times New Roman" panose="02020603050405020304" pitchFamily="18" charset="0"/>
                        <a:cs typeface="Times New Roman" panose="02020603050405020304" pitchFamily="18" charset="0"/>
                      </a:endParaRPr>
                    </a:p>
                    <a:p>
                      <a:pPr marL="342900" lvl="0" indent="-342900">
                        <a:buFont typeface="+mj-lt"/>
                        <a:buAutoNum type="arabicPeriod"/>
                        <a:tabLst>
                          <a:tab pos="228600" algn="l"/>
                        </a:tabLst>
                      </a:pPr>
                      <a:r>
                        <a:rPr lang="en-US" sz="1050" dirty="0">
                          <a:effectLst/>
                          <a:latin typeface="Times New Roman" panose="02020603050405020304" pitchFamily="18" charset="0"/>
                          <a:cs typeface="Times New Roman" panose="02020603050405020304" pitchFamily="18" charset="0"/>
                        </a:rPr>
                        <a:t>Professionalism and Quality of Document’s Presentation; i.e., delivered in spiral binding or in professional folder.</a:t>
                      </a:r>
                      <a:endParaRPr lang="en-MX"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dirty="0">
                          <a:effectLst/>
                          <a:latin typeface="Times New Roman" panose="02020603050405020304" pitchFamily="18" charset="0"/>
                          <a:cs typeface="Times New Roman" panose="02020603050405020304" pitchFamily="18" charset="0"/>
                        </a:rPr>
                        <a:t>Does not apply</a:t>
                      </a:r>
                      <a:endParaRPr lang="en-MX" sz="105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28600"/>
                      <a:r>
                        <a:rPr lang="en-US" sz="1050" dirty="0">
                          <a:effectLst/>
                          <a:latin typeface="Times New Roman" panose="02020603050405020304" pitchFamily="18" charset="0"/>
                          <a:cs typeface="Times New Roman" panose="02020603050405020304" pitchFamily="18" charset="0"/>
                        </a:rPr>
                        <a:t> </a:t>
                      </a:r>
                      <a:endParaRPr lang="en-MX"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dirty="0">
                          <a:effectLst/>
                          <a:latin typeface="Times New Roman" panose="02020603050405020304" pitchFamily="18" charset="0"/>
                          <a:cs typeface="Times New Roman" panose="02020603050405020304" pitchFamily="18" charset="0"/>
                        </a:rPr>
                        <a:t>Does not apply</a:t>
                      </a:r>
                      <a:endParaRPr lang="en-MX" sz="1050" dirty="0">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US" sz="1050" dirty="0">
                          <a:effectLst/>
                          <a:latin typeface="Times New Roman" panose="02020603050405020304" pitchFamily="18" charset="0"/>
                          <a:cs typeface="Times New Roman" panose="02020603050405020304" pitchFamily="18" charset="0"/>
                        </a:rPr>
                        <a:t> </a:t>
                      </a:r>
                      <a:endParaRPr lang="en-MX" sz="1050" dirty="0">
                        <a:effectLst/>
                        <a:latin typeface="Times New Roman" panose="02020603050405020304" pitchFamily="18" charset="0"/>
                        <a:cs typeface="Times New Roman" panose="02020603050405020304" pitchFamily="18" charset="0"/>
                      </a:endParaRPr>
                    </a:p>
                    <a:p>
                      <a:r>
                        <a:rPr lang="en-US" sz="1050" dirty="0">
                          <a:effectLst/>
                          <a:latin typeface="Times New Roman" panose="02020603050405020304" pitchFamily="18" charset="0"/>
                          <a:cs typeface="Times New Roman" panose="02020603050405020304" pitchFamily="18" charset="0"/>
                        </a:rPr>
                        <a:t> </a:t>
                      </a:r>
                      <a:endParaRPr lang="en-MX"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dirty="0">
                          <a:effectLst/>
                          <a:latin typeface="Times New Roman" panose="02020603050405020304" pitchFamily="18" charset="0"/>
                          <a:cs typeface="Times New Roman" panose="02020603050405020304" pitchFamily="18" charset="0"/>
                        </a:rPr>
                        <a:t>Does not comply with any aspects </a:t>
                      </a:r>
                      <a:endParaRPr lang="en-MX"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dirty="0">
                          <a:effectLst/>
                          <a:latin typeface="Times New Roman" panose="02020603050405020304" pitchFamily="18" charset="0"/>
                          <a:cs typeface="Times New Roman" panose="02020603050405020304" pitchFamily="18" charset="0"/>
                        </a:rPr>
                        <a:t>Does not apply</a:t>
                      </a:r>
                      <a:endParaRPr lang="en-MX" sz="1050">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US" sz="1050">
                          <a:effectLst/>
                          <a:latin typeface="Times New Roman" panose="02020603050405020304" pitchFamily="18" charset="0"/>
                          <a:cs typeface="Times New Roman" panose="02020603050405020304" pitchFamily="18" charset="0"/>
                        </a:rPr>
                        <a:t> </a:t>
                      </a:r>
                      <a:endParaRPr lang="en-MX"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effectLst/>
                          <a:latin typeface="Times New Roman" panose="02020603050405020304" pitchFamily="18" charset="0"/>
                          <a:cs typeface="Times New Roman" panose="02020603050405020304" pitchFamily="18" charset="0"/>
                        </a:rPr>
                        <a:t>Incomplete Document</a:t>
                      </a:r>
                      <a:endParaRPr lang="en-MX" sz="1050">
                        <a:effectLst/>
                        <a:latin typeface="Times New Roman" panose="02020603050405020304" pitchFamily="18" charset="0"/>
                        <a:cs typeface="Times New Roman" panose="02020603050405020304" pitchFamily="18" charset="0"/>
                      </a:endParaRPr>
                    </a:p>
                    <a:p>
                      <a:r>
                        <a:rPr lang="en-US" sz="1050">
                          <a:effectLst/>
                          <a:latin typeface="Times New Roman" panose="02020603050405020304" pitchFamily="18" charset="0"/>
                          <a:cs typeface="Times New Roman" panose="02020603050405020304" pitchFamily="18" charset="0"/>
                        </a:rPr>
                        <a:t> </a:t>
                      </a:r>
                      <a:endParaRPr lang="en-MX"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tabLst>
                          <a:tab pos="2743200" algn="ctr"/>
                          <a:tab pos="5486400" algn="r"/>
                          <a:tab pos="457200" algn="l"/>
                        </a:tabLst>
                      </a:pPr>
                      <a:r>
                        <a:rPr lang="en-US" sz="1050">
                          <a:effectLst/>
                          <a:latin typeface="Times New Roman" panose="02020603050405020304" pitchFamily="18" charset="0"/>
                          <a:cs typeface="Times New Roman" panose="02020603050405020304" pitchFamily="18" charset="0"/>
                        </a:rPr>
                        <a:t>3</a:t>
                      </a:r>
                      <a:endParaRPr lang="en-MX"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48452480"/>
                  </a:ext>
                </a:extLst>
              </a:tr>
              <a:tr h="255961">
                <a:tc>
                  <a:txBody>
                    <a:bodyPr/>
                    <a:lstStyle/>
                    <a:p>
                      <a:r>
                        <a:rPr lang="en-US" sz="1050" dirty="0">
                          <a:effectLst/>
                          <a:latin typeface="Times New Roman" panose="02020603050405020304" pitchFamily="18" charset="0"/>
                          <a:cs typeface="Times New Roman" panose="02020603050405020304" pitchFamily="18" charset="0"/>
                        </a:rPr>
                        <a:t>Orthography and Typography </a:t>
                      </a:r>
                      <a:endParaRPr lang="en-MX"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sz="1050">
                          <a:effectLst/>
                          <a:latin typeface="Times New Roman" panose="02020603050405020304" pitchFamily="18" charset="0"/>
                          <a:cs typeface="Times New Roman" panose="02020603050405020304" pitchFamily="18" charset="0"/>
                        </a:rPr>
                        <a:t>0 errors</a:t>
                      </a:r>
                      <a:endParaRPr lang="en-MX"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effectLst/>
                          <a:latin typeface="Times New Roman" panose="02020603050405020304" pitchFamily="18" charset="0"/>
                          <a:cs typeface="Times New Roman" panose="02020603050405020304" pitchFamily="18" charset="0"/>
                        </a:rPr>
                        <a:t>Does not apply</a:t>
                      </a:r>
                      <a:endParaRPr lang="en-MX"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effectLst/>
                          <a:latin typeface="Times New Roman" panose="02020603050405020304" pitchFamily="18" charset="0"/>
                          <a:cs typeface="Times New Roman" panose="02020603050405020304" pitchFamily="18" charset="0"/>
                        </a:rPr>
                        <a:t>Does not apply</a:t>
                      </a:r>
                      <a:endParaRPr lang="en-MX"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dirty="0">
                          <a:effectLst/>
                          <a:latin typeface="Times New Roman" panose="02020603050405020304" pitchFamily="18" charset="0"/>
                          <a:cs typeface="Times New Roman" panose="02020603050405020304" pitchFamily="18" charset="0"/>
                        </a:rPr>
                        <a:t>Does not apply</a:t>
                      </a:r>
                      <a:endParaRPr lang="en-MX"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dirty="0">
                          <a:effectLst/>
                          <a:latin typeface="Times New Roman" panose="02020603050405020304" pitchFamily="18" charset="0"/>
                          <a:cs typeface="Times New Roman" panose="02020603050405020304" pitchFamily="18" charset="0"/>
                        </a:rPr>
                        <a:t>Does not apply</a:t>
                      </a:r>
                      <a:endParaRPr lang="en-MX"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effectLst/>
                          <a:latin typeface="Times New Roman" panose="02020603050405020304" pitchFamily="18" charset="0"/>
                          <a:cs typeface="Times New Roman" panose="02020603050405020304" pitchFamily="18" charset="0"/>
                        </a:rPr>
                        <a:t>Any Error</a:t>
                      </a:r>
                      <a:endParaRPr lang="en-MX"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50">
                          <a:effectLst/>
                          <a:latin typeface="Times New Roman" panose="02020603050405020304" pitchFamily="18" charset="0"/>
                          <a:cs typeface="Times New Roman" panose="02020603050405020304" pitchFamily="18" charset="0"/>
                        </a:rPr>
                        <a:t>10</a:t>
                      </a:r>
                      <a:endParaRPr lang="en-MX"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034405"/>
                  </a:ext>
                </a:extLst>
              </a:tr>
              <a:tr h="639903">
                <a:tc>
                  <a:txBody>
                    <a:bodyPr/>
                    <a:lstStyle/>
                    <a:p>
                      <a:r>
                        <a:rPr lang="en-US" sz="1050" dirty="0">
                          <a:effectLst/>
                          <a:latin typeface="Times New Roman" panose="02020603050405020304" pitchFamily="18" charset="0"/>
                          <a:cs typeface="Times New Roman" panose="02020603050405020304" pitchFamily="18" charset="0"/>
                        </a:rPr>
                        <a:t>Introduction</a:t>
                      </a:r>
                      <a:endParaRPr lang="en-MX"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sz="1050">
                          <a:effectLst/>
                          <a:latin typeface="Times New Roman" panose="02020603050405020304" pitchFamily="18" charset="0"/>
                          <a:cs typeface="Times New Roman" panose="02020603050405020304" pitchFamily="18" charset="0"/>
                        </a:rPr>
                        <a:t>The section is extremely well developed; it is congruent and relevant, including summary and notation. </a:t>
                      </a:r>
                      <a:endParaRPr lang="en-MX"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effectLst/>
                          <a:latin typeface="Times New Roman" panose="02020603050405020304" pitchFamily="18" charset="0"/>
                          <a:cs typeface="Times New Roman" panose="02020603050405020304" pitchFamily="18" charset="0"/>
                        </a:rPr>
                        <a:t>The section is congruent and relevant, including summary and notation. </a:t>
                      </a:r>
                      <a:endParaRPr lang="en-MX"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effectLst/>
                          <a:latin typeface="Times New Roman" panose="02020603050405020304" pitchFamily="18" charset="0"/>
                          <a:cs typeface="Times New Roman" panose="02020603050405020304" pitchFamily="18" charset="0"/>
                        </a:rPr>
                        <a:t>The section is poorly developed but it is complete. </a:t>
                      </a:r>
                      <a:endParaRPr lang="en-MX"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effectLst/>
                          <a:latin typeface="Times New Roman" panose="02020603050405020304" pitchFamily="18" charset="0"/>
                          <a:cs typeface="Times New Roman" panose="02020603050405020304" pitchFamily="18" charset="0"/>
                        </a:rPr>
                        <a:t>The section is poorly developed and incomplete.</a:t>
                      </a:r>
                      <a:endParaRPr lang="en-MX"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dirty="0">
                          <a:effectLst/>
                          <a:latin typeface="Times New Roman" panose="02020603050405020304" pitchFamily="18" charset="0"/>
                          <a:cs typeface="Times New Roman" panose="02020603050405020304" pitchFamily="18" charset="0"/>
                        </a:rPr>
                        <a:t>The section is ambiguous, incoherent, and poorly related to the work. </a:t>
                      </a:r>
                      <a:endParaRPr lang="en-MX"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dirty="0">
                          <a:effectLst/>
                          <a:latin typeface="Times New Roman" panose="02020603050405020304" pitchFamily="18" charset="0"/>
                          <a:cs typeface="Times New Roman" panose="02020603050405020304" pitchFamily="18" charset="0"/>
                        </a:rPr>
                        <a:t>The section does not exist.</a:t>
                      </a:r>
                      <a:endParaRPr lang="en-MX" sz="1050" dirty="0">
                        <a:latin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50" dirty="0">
                          <a:effectLst/>
                          <a:latin typeface="Times New Roman" panose="02020603050405020304" pitchFamily="18" charset="0"/>
                          <a:cs typeface="Times New Roman" panose="02020603050405020304" pitchFamily="18" charset="0"/>
                        </a:rPr>
                        <a:t>2</a:t>
                      </a:r>
                      <a:endParaRPr lang="en-MX"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3844197"/>
                  </a:ext>
                </a:extLst>
              </a:tr>
            </a:tbl>
          </a:graphicData>
        </a:graphic>
      </p:graphicFrame>
    </p:spTree>
    <p:extLst>
      <p:ext uri="{BB962C8B-B14F-4D97-AF65-F5344CB8AC3E}">
        <p14:creationId xmlns:p14="http://schemas.microsoft.com/office/powerpoint/2010/main" val="31457515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E44A6E0-1CE7-D318-57EA-813BEBE882E5}"/>
              </a:ext>
            </a:extLst>
          </p:cNvPr>
          <p:cNvSpPr>
            <a:spLocks noGrp="1"/>
          </p:cNvSpPr>
          <p:nvPr>
            <p:ph type="sldNum" sz="quarter" idx="12"/>
          </p:nvPr>
        </p:nvSpPr>
        <p:spPr/>
        <p:txBody>
          <a:bodyPr/>
          <a:lstStyle/>
          <a:p>
            <a:fld id="{87BA9580-FE5B-E14E-B782-A387CF7F7228}" type="slidenum">
              <a:rPr lang="en-MX" smtClean="0"/>
              <a:t>14</a:t>
            </a:fld>
            <a:endParaRPr lang="en-MX"/>
          </a:p>
        </p:txBody>
      </p:sp>
      <p:graphicFrame>
        <p:nvGraphicFramePr>
          <p:cNvPr id="5" name="Table 4">
            <a:extLst>
              <a:ext uri="{FF2B5EF4-FFF2-40B4-BE49-F238E27FC236}">
                <a16:creationId xmlns:a16="http://schemas.microsoft.com/office/drawing/2014/main" id="{99EA8BBC-E08B-1551-7FE3-D3B28F8DECA5}"/>
              </a:ext>
            </a:extLst>
          </p:cNvPr>
          <p:cNvGraphicFramePr>
            <a:graphicFrameLocks noGrp="1"/>
          </p:cNvGraphicFramePr>
          <p:nvPr>
            <p:extLst>
              <p:ext uri="{D42A27DB-BD31-4B8C-83A1-F6EECF244321}">
                <p14:modId xmlns:p14="http://schemas.microsoft.com/office/powerpoint/2010/main" val="433358932"/>
              </p:ext>
            </p:extLst>
          </p:nvPr>
        </p:nvGraphicFramePr>
        <p:xfrm>
          <a:off x="121158" y="136524"/>
          <a:ext cx="8922258" cy="5646420"/>
        </p:xfrm>
        <a:graphic>
          <a:graphicData uri="http://schemas.openxmlformats.org/drawingml/2006/table">
            <a:tbl>
              <a:tblPr>
                <a:tableStyleId>{5C22544A-7EE6-4342-B048-85BDC9FD1C3A}</a:tableStyleId>
              </a:tblPr>
              <a:tblGrid>
                <a:gridCol w="630936">
                  <a:extLst>
                    <a:ext uri="{9D8B030D-6E8A-4147-A177-3AD203B41FA5}">
                      <a16:colId xmlns:a16="http://schemas.microsoft.com/office/drawing/2014/main" val="1321587757"/>
                    </a:ext>
                  </a:extLst>
                </a:gridCol>
                <a:gridCol w="2740914">
                  <a:extLst>
                    <a:ext uri="{9D8B030D-6E8A-4147-A177-3AD203B41FA5}">
                      <a16:colId xmlns:a16="http://schemas.microsoft.com/office/drawing/2014/main" val="4164004354"/>
                    </a:ext>
                  </a:extLst>
                </a:gridCol>
                <a:gridCol w="1792224">
                  <a:extLst>
                    <a:ext uri="{9D8B030D-6E8A-4147-A177-3AD203B41FA5}">
                      <a16:colId xmlns:a16="http://schemas.microsoft.com/office/drawing/2014/main" val="4107904402"/>
                    </a:ext>
                  </a:extLst>
                </a:gridCol>
                <a:gridCol w="1399032">
                  <a:extLst>
                    <a:ext uri="{9D8B030D-6E8A-4147-A177-3AD203B41FA5}">
                      <a16:colId xmlns:a16="http://schemas.microsoft.com/office/drawing/2014/main" val="386123719"/>
                    </a:ext>
                  </a:extLst>
                </a:gridCol>
                <a:gridCol w="329184">
                  <a:extLst>
                    <a:ext uri="{9D8B030D-6E8A-4147-A177-3AD203B41FA5}">
                      <a16:colId xmlns:a16="http://schemas.microsoft.com/office/drawing/2014/main" val="3835019426"/>
                    </a:ext>
                  </a:extLst>
                </a:gridCol>
                <a:gridCol w="320040">
                  <a:extLst>
                    <a:ext uri="{9D8B030D-6E8A-4147-A177-3AD203B41FA5}">
                      <a16:colId xmlns:a16="http://schemas.microsoft.com/office/drawing/2014/main" val="2855474816"/>
                    </a:ext>
                  </a:extLst>
                </a:gridCol>
                <a:gridCol w="1216152">
                  <a:extLst>
                    <a:ext uri="{9D8B030D-6E8A-4147-A177-3AD203B41FA5}">
                      <a16:colId xmlns:a16="http://schemas.microsoft.com/office/drawing/2014/main" val="3121538917"/>
                    </a:ext>
                  </a:extLst>
                </a:gridCol>
                <a:gridCol w="493776">
                  <a:extLst>
                    <a:ext uri="{9D8B030D-6E8A-4147-A177-3AD203B41FA5}">
                      <a16:colId xmlns:a16="http://schemas.microsoft.com/office/drawing/2014/main" val="2622090188"/>
                    </a:ext>
                  </a:extLst>
                </a:gridCol>
              </a:tblGrid>
              <a:tr h="127981">
                <a:tc>
                  <a:txBody>
                    <a:bodyPr/>
                    <a:lstStyle/>
                    <a:p>
                      <a:pPr algn="ctr"/>
                      <a:r>
                        <a:rPr lang="en-US" sz="1050" dirty="0">
                          <a:solidFill>
                            <a:schemeClr val="bg1"/>
                          </a:solidFill>
                          <a:effectLst/>
                        </a:rPr>
                        <a:t>Aspect</a:t>
                      </a:r>
                      <a:endParaRPr lang="en-MX" sz="1050" dirty="0">
                        <a:solidFill>
                          <a:schemeClr val="bg1"/>
                        </a:solidFill>
                        <a:effectLst/>
                        <a:latin typeface="Times New Roman" panose="02020603050405020304" pitchFamily="18" charset="0"/>
                        <a:ea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1050" dirty="0">
                          <a:solidFill>
                            <a:schemeClr val="bg1"/>
                          </a:solidFill>
                          <a:effectLst/>
                        </a:rPr>
                        <a:t>100</a:t>
                      </a:r>
                      <a:endParaRPr lang="en-MX" sz="1050" dirty="0">
                        <a:solidFill>
                          <a:schemeClr val="bg1"/>
                        </a:solidFill>
                        <a:effectLst/>
                        <a:latin typeface="Times New Roman" panose="02020603050405020304" pitchFamily="18" charset="0"/>
                        <a:ea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1050" dirty="0">
                          <a:solidFill>
                            <a:schemeClr val="bg1"/>
                          </a:solidFill>
                          <a:effectLst/>
                        </a:rPr>
                        <a:t>80</a:t>
                      </a:r>
                      <a:endParaRPr lang="en-MX" sz="1050" dirty="0">
                        <a:solidFill>
                          <a:schemeClr val="bg1"/>
                        </a:solidFill>
                        <a:effectLst/>
                        <a:latin typeface="Times New Roman" panose="02020603050405020304" pitchFamily="18" charset="0"/>
                        <a:ea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1050" dirty="0">
                          <a:solidFill>
                            <a:schemeClr val="bg1"/>
                          </a:solidFill>
                          <a:effectLst/>
                        </a:rPr>
                        <a:t>60</a:t>
                      </a:r>
                      <a:endParaRPr lang="en-MX" sz="1050" dirty="0">
                        <a:solidFill>
                          <a:schemeClr val="bg1"/>
                        </a:solidFill>
                        <a:effectLst/>
                        <a:latin typeface="Times New Roman" panose="02020603050405020304" pitchFamily="18" charset="0"/>
                        <a:ea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1050" dirty="0">
                          <a:solidFill>
                            <a:schemeClr val="bg1"/>
                          </a:solidFill>
                          <a:effectLst/>
                        </a:rPr>
                        <a:t>40</a:t>
                      </a:r>
                      <a:endParaRPr lang="en-MX" sz="1050" dirty="0">
                        <a:solidFill>
                          <a:schemeClr val="bg1"/>
                        </a:solidFill>
                        <a:effectLst/>
                        <a:latin typeface="Times New Roman" panose="02020603050405020304" pitchFamily="18" charset="0"/>
                        <a:ea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1050" dirty="0">
                          <a:solidFill>
                            <a:schemeClr val="bg1"/>
                          </a:solidFill>
                          <a:effectLst/>
                        </a:rPr>
                        <a:t>20</a:t>
                      </a:r>
                      <a:endParaRPr lang="en-MX" sz="1050" dirty="0">
                        <a:solidFill>
                          <a:schemeClr val="bg1"/>
                        </a:solidFill>
                        <a:effectLst/>
                        <a:latin typeface="Times New Roman" panose="02020603050405020304" pitchFamily="18" charset="0"/>
                        <a:ea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1050" dirty="0">
                          <a:solidFill>
                            <a:schemeClr val="bg1"/>
                          </a:solidFill>
                          <a:effectLst/>
                        </a:rPr>
                        <a:t>0</a:t>
                      </a:r>
                      <a:endParaRPr lang="en-MX" sz="1050" dirty="0">
                        <a:solidFill>
                          <a:schemeClr val="bg1"/>
                        </a:solidFill>
                        <a:effectLst/>
                        <a:latin typeface="Times New Roman" panose="02020603050405020304" pitchFamily="18" charset="0"/>
                        <a:ea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1050" dirty="0">
                          <a:solidFill>
                            <a:schemeClr val="bg1"/>
                          </a:solidFill>
                          <a:effectLst/>
                        </a:rPr>
                        <a:t>Weight</a:t>
                      </a:r>
                      <a:endParaRPr lang="en-MX" sz="1050" dirty="0">
                        <a:solidFill>
                          <a:schemeClr val="bg1"/>
                        </a:solidFill>
                        <a:effectLst/>
                        <a:latin typeface="Times New Roman" panose="02020603050405020304" pitchFamily="18" charset="0"/>
                        <a:ea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325107590"/>
                  </a:ext>
                </a:extLst>
              </a:tr>
              <a:tr h="0">
                <a:tc>
                  <a:txBody>
                    <a:bodyPr/>
                    <a:lstStyle/>
                    <a:p>
                      <a:r>
                        <a:rPr lang="en-US" sz="1050" dirty="0">
                          <a:effectLst/>
                        </a:rPr>
                        <a:t>Analysis</a:t>
                      </a:r>
                      <a:endParaRPr lang="en-MX" sz="1050" dirty="0">
                        <a:effectLst/>
                        <a:latin typeface="Times New Roman" panose="02020603050405020304" pitchFamily="18" charset="0"/>
                        <a:ea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228600" lvl="0" indent="-228600">
                        <a:buFont typeface="+mj-lt"/>
                        <a:buAutoNum type="arabicPeriod"/>
                      </a:pPr>
                      <a:r>
                        <a:rPr lang="en-US" sz="1000" dirty="0">
                          <a:effectLst/>
                        </a:rPr>
                        <a:t>Complete informal specification of the functional requirements for the scanner, i.e., Informal description of the lexical components.</a:t>
                      </a:r>
                    </a:p>
                    <a:p>
                      <a:pPr marL="228600" lvl="0" indent="-228600">
                        <a:buFont typeface="+mj-lt"/>
                        <a:buAutoNum type="arabicPeriod"/>
                      </a:pPr>
                      <a:r>
                        <a:rPr lang="en-US" sz="1000" dirty="0">
                          <a:effectLst/>
                        </a:rPr>
                        <a:t>Formal Specification using Regular Expression for the lexical components.</a:t>
                      </a:r>
                    </a:p>
                    <a:p>
                      <a:pPr marL="228600" lvl="0" indent="-228600">
                        <a:buFont typeface="+mj-lt"/>
                        <a:buAutoNum type="arabicPeriod"/>
                      </a:pPr>
                      <a:r>
                        <a:rPr lang="en-US" sz="1000" dirty="0">
                          <a:effectLst/>
                        </a:rPr>
                        <a:t>Description and justification of tokens and their identification.</a:t>
                      </a:r>
                      <a:endParaRPr lang="en-MX" sz="1000" dirty="0">
                        <a:effectLst/>
                      </a:endParaRPr>
                    </a:p>
                    <a:p>
                      <a:pPr marL="228600" lvl="0" indent="-228600">
                        <a:buFont typeface="+mj-lt"/>
                        <a:buAutoNum type="arabicPeriod"/>
                      </a:pPr>
                      <a:r>
                        <a:rPr lang="en-US" sz="1000" dirty="0">
                          <a:effectLst/>
                        </a:rPr>
                        <a:t>Complete description and justification for every error type messages generated by scanner.</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000" dirty="0">
                          <a:effectLst/>
                        </a:rPr>
                        <a:t>This section contains a comprehensive, coherent and unambiguous narrative that relates all its contents. </a:t>
                      </a: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62900" lvl="0" indent="-162900">
                        <a:buFont typeface="+mj-lt"/>
                        <a:buAutoNum type="arabicPeriod"/>
                      </a:pPr>
                      <a:r>
                        <a:rPr lang="en-US" sz="1000" dirty="0">
                          <a:effectLst/>
                        </a:rPr>
                        <a:t>There are minor discrepancies with the specification of the requirements. However, the information provided is sound and it is traceable for the complete development process.</a:t>
                      </a:r>
                      <a:endParaRPr lang="en-MX" sz="1000" dirty="0">
                        <a:effectLst/>
                      </a:endParaRPr>
                    </a:p>
                    <a:p>
                      <a:pPr marL="162900" lvl="0" indent="-162900">
                        <a:buFont typeface="+mj-lt"/>
                        <a:buAutoNum type="arabicPeriod"/>
                      </a:pPr>
                      <a:r>
                        <a:rPr lang="en-US" sz="1000" dirty="0">
                          <a:effectLst/>
                        </a:rPr>
                        <a:t>The phase has a poor narrative.</a:t>
                      </a:r>
                      <a:endParaRPr lang="en-MX" sz="1000" dirty="0">
                        <a:effectLst/>
                        <a:latin typeface="Times" panose="02020603050405020304"/>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62900" lvl="0" indent="-162900">
                        <a:buFont typeface="+mj-lt"/>
                        <a:buAutoNum type="arabicPeriod"/>
                      </a:pPr>
                      <a:r>
                        <a:rPr lang="en-US" sz="1000" dirty="0">
                          <a:effectLst/>
                        </a:rPr>
                        <a:t>There are mayor discrepancies with the specification of the requirements. </a:t>
                      </a:r>
                      <a:endParaRPr lang="en-MX" sz="1000" dirty="0">
                        <a:effectLst/>
                      </a:endParaRPr>
                    </a:p>
                    <a:p>
                      <a:pPr marL="162900" lvl="0" indent="-162900">
                        <a:buFont typeface="+mj-lt"/>
                        <a:buAutoNum type="arabicPeriod"/>
                      </a:pPr>
                      <a:r>
                        <a:rPr lang="en-US" sz="1000" dirty="0">
                          <a:effectLst/>
                        </a:rPr>
                        <a:t>It is very difficult to trace this specification for the complete development process.</a:t>
                      </a:r>
                    </a:p>
                    <a:p>
                      <a:pPr marL="162900" marR="0" lvl="0" indent="-162900" algn="l" defTabSz="914400" rtl="0" eaLnBrk="1" fontAlgn="auto" latinLnBrk="0" hangingPunct="1">
                        <a:lnSpc>
                          <a:spcPct val="100000"/>
                        </a:lnSpc>
                        <a:spcBef>
                          <a:spcPts val="0"/>
                        </a:spcBef>
                        <a:spcAft>
                          <a:spcPts val="0"/>
                        </a:spcAft>
                        <a:buClrTx/>
                        <a:buSzTx/>
                        <a:buFont typeface="+mj-lt"/>
                        <a:buAutoNum type="arabicPeriod"/>
                        <a:tabLst/>
                        <a:defRPr/>
                      </a:pPr>
                      <a:r>
                        <a:rPr lang="en-US" sz="1000" dirty="0">
                          <a:effectLst/>
                        </a:rPr>
                        <a:t>However the scanner works.</a:t>
                      </a:r>
                      <a:endParaRPr lang="en-MX" sz="1000" dirty="0">
                        <a:effectLst/>
                        <a:latin typeface="Times New Roman" panose="02020603050405020304" pitchFamily="18" charset="0"/>
                        <a:ea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a:effectLst/>
                        </a:rPr>
                        <a:t>NA</a:t>
                      </a:r>
                      <a:endParaRPr lang="en-MX" sz="1000">
                        <a:effectLst/>
                        <a:latin typeface="Times New Roman" panose="02020603050405020304" pitchFamily="18" charset="0"/>
                        <a:ea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dirty="0">
                          <a:effectLst/>
                        </a:rPr>
                        <a:t>NA</a:t>
                      </a:r>
                      <a:endParaRPr lang="en-MX" sz="1000" dirty="0">
                        <a:effectLst/>
                        <a:latin typeface="Times New Roman" panose="02020603050405020304" pitchFamily="18" charset="0"/>
                        <a:ea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effectLst/>
                        </a:rPr>
                        <a:t>Specification is ambiguous, or inconsistent, or incomplete, or incorrect, or</a:t>
                      </a:r>
                      <a:endParaRPr lang="en-MX" sz="1000" dirty="0">
                        <a:effectLst/>
                      </a:endParaRPr>
                    </a:p>
                    <a:p>
                      <a:r>
                        <a:rPr lang="en-US" sz="1000" dirty="0">
                          <a:effectLst/>
                        </a:rPr>
                        <a:t>Software analysis </a:t>
                      </a:r>
                      <a:r>
                        <a:rPr lang="en-US" sz="1000">
                          <a:effectLst/>
                        </a:rPr>
                        <a:t>was developed with API for RE, or the implementation does not use lex.</a:t>
                      </a:r>
                      <a:endParaRPr lang="en-MX" sz="1000" dirty="0">
                        <a:effectLst/>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dirty="0">
                          <a:effectLst/>
                        </a:rPr>
                        <a:t>20</a:t>
                      </a:r>
                      <a:endParaRPr lang="en-MX" sz="1000" dirty="0">
                        <a:effectLst/>
                        <a:latin typeface="Times New Roman" panose="02020603050405020304" pitchFamily="18" charset="0"/>
                        <a:ea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9668779"/>
                  </a:ext>
                </a:extLst>
              </a:tr>
              <a:tr h="1279805">
                <a:tc>
                  <a:txBody>
                    <a:bodyPr/>
                    <a:lstStyle/>
                    <a:p>
                      <a:r>
                        <a:rPr lang="en-US" sz="1050" dirty="0">
                          <a:effectLst/>
                        </a:rPr>
                        <a:t>Design</a:t>
                      </a:r>
                      <a:endParaRPr lang="en-MX" sz="1050" dirty="0">
                        <a:effectLst/>
                        <a:latin typeface="Times New Roman" panose="02020603050405020304" pitchFamily="18" charset="0"/>
                        <a:ea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230400" lvl="0" indent="-230400">
                        <a:buFont typeface="+mj-lt"/>
                        <a:buAutoNum type="arabicPeriod"/>
                        <a:tabLst>
                          <a:tab pos="228600" algn="l"/>
                        </a:tabLst>
                      </a:pPr>
                      <a:r>
                        <a:rPr lang="en-US" sz="1000" dirty="0">
                          <a:effectLst/>
                        </a:rPr>
                        <a:t>Informal description.</a:t>
                      </a:r>
                    </a:p>
                    <a:p>
                      <a:pPr marL="230400" lvl="0" indent="-230400">
                        <a:buFont typeface="+mj-lt"/>
                        <a:buAutoNum type="arabicPeriod"/>
                        <a:tabLst>
                          <a:tab pos="228600" algn="l"/>
                        </a:tabLst>
                      </a:pPr>
                      <a:r>
                        <a:rPr lang="en-US" sz="1000" dirty="0">
                          <a:effectLst/>
                        </a:rPr>
                        <a:t>The automata of the language.</a:t>
                      </a:r>
                      <a:endParaRPr lang="en-MX" sz="1000" dirty="0">
                        <a:effectLst/>
                      </a:endParaRPr>
                    </a:p>
                    <a:p>
                      <a:pPr marL="230400" lvl="0" indent="-230400">
                        <a:buFont typeface="+mj-lt"/>
                        <a:buAutoNum type="arabicPeriod"/>
                        <a:tabLst>
                          <a:tab pos="228600" algn="l"/>
                        </a:tabLst>
                      </a:pPr>
                      <a:r>
                        <a:rPr lang="en-US" sz="1000" dirty="0">
                          <a:effectLst/>
                        </a:rPr>
                        <a:t>The most efficient Transition Table.</a:t>
                      </a:r>
                    </a:p>
                    <a:p>
                      <a:pPr marL="230400" lvl="0" indent="-230400">
                        <a:buFont typeface="+mj-lt"/>
                        <a:buAutoNum type="arabicPeriod"/>
                        <a:tabLst>
                          <a:tab pos="228600" algn="l"/>
                        </a:tabLst>
                      </a:pPr>
                      <a:r>
                        <a:rPr lang="en-US" sz="1000" dirty="0">
                          <a:effectLst/>
                        </a:rPr>
                        <a:t>List of Token IDs</a:t>
                      </a:r>
                      <a:endParaRPr lang="en-MX" sz="1000" dirty="0">
                        <a:effectLst/>
                      </a:endParaRPr>
                    </a:p>
                    <a:p>
                      <a:pPr marL="230400" lvl="0" indent="-230400">
                        <a:buFont typeface="+mj-lt"/>
                        <a:buAutoNum type="arabicPeriod"/>
                        <a:tabLst>
                          <a:tab pos="228600" algn="l"/>
                        </a:tabLst>
                      </a:pPr>
                      <a:r>
                        <a:rPr lang="en-US" sz="1000" dirty="0">
                          <a:effectLst/>
                        </a:rPr>
                        <a:t>Symbol Table management</a:t>
                      </a:r>
                      <a:r>
                        <a:rPr lang="en-MX" sz="1000" dirty="0">
                          <a:effectLst/>
                        </a:rPr>
                        <a:t>, its</a:t>
                      </a:r>
                      <a:r>
                        <a:rPr lang="en-US" sz="1000" dirty="0">
                          <a:effectLst/>
                        </a:rPr>
                        <a:t> algorithm and data structures.</a:t>
                      </a:r>
                      <a:endParaRPr lang="en-MX" sz="1000" dirty="0">
                        <a:effectLst/>
                      </a:endParaRPr>
                    </a:p>
                    <a:p>
                      <a:pPr marL="230400" lvl="0" indent="-230400">
                        <a:buFont typeface="+mj-lt"/>
                        <a:buAutoNum type="arabicPeriod"/>
                        <a:tabLst>
                          <a:tab pos="228600" algn="l"/>
                        </a:tabLst>
                      </a:pPr>
                      <a:r>
                        <a:rPr lang="en-US" sz="1000" dirty="0">
                          <a:effectLst/>
                        </a:rPr>
                        <a:t>Traceable to the analysis model.</a:t>
                      </a:r>
                    </a:p>
                    <a:p>
                      <a:pPr marL="230400" marR="0" lvl="0" indent="-230400" algn="l" defTabSz="914400" rtl="0" eaLnBrk="1" fontAlgn="auto" latinLnBrk="0" hangingPunct="1">
                        <a:lnSpc>
                          <a:spcPct val="100000"/>
                        </a:lnSpc>
                        <a:spcBef>
                          <a:spcPts val="0"/>
                        </a:spcBef>
                        <a:spcAft>
                          <a:spcPts val="0"/>
                        </a:spcAft>
                        <a:buClrTx/>
                        <a:buSzTx/>
                        <a:buFont typeface="+mj-lt"/>
                        <a:buAutoNum type="arabicPeriod"/>
                        <a:tabLst>
                          <a:tab pos="228600" algn="l"/>
                        </a:tabLst>
                        <a:defRPr/>
                      </a:pPr>
                      <a:r>
                        <a:rPr lang="en-US" sz="1000" dirty="0">
                          <a:effectLst/>
                        </a:rPr>
                        <a:t>This section contains a comprehensive, coherent and unambiguous narrative that relates all its contents. </a:t>
                      </a: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62900" lvl="0" indent="-162900">
                        <a:buFont typeface="+mj-lt"/>
                        <a:buAutoNum type="arabicPeriod"/>
                      </a:pPr>
                      <a:r>
                        <a:rPr lang="en-US" sz="1000" dirty="0">
                          <a:effectLst/>
                        </a:rPr>
                        <a:t>There are minor discrepancies with the specification of the requirements. However, the information provided is sound and it is traceable for the complete development process.</a:t>
                      </a:r>
                      <a:endParaRPr lang="en-MX" sz="1000" dirty="0">
                        <a:effectLst/>
                      </a:endParaRPr>
                    </a:p>
                    <a:p>
                      <a:pPr marL="162900" lvl="0" indent="-162900">
                        <a:buFont typeface="+mj-lt"/>
                        <a:buAutoNum type="arabicPeriod"/>
                      </a:pPr>
                      <a:r>
                        <a:rPr lang="en-US" sz="1000" dirty="0">
                          <a:effectLst/>
                        </a:rPr>
                        <a:t>The phase has a poor narrative.</a:t>
                      </a:r>
                      <a:endParaRPr lang="en-MX" sz="1000" dirty="0">
                        <a:effectLst/>
                        <a:latin typeface="Times" panose="02020603050405020304"/>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effectLst/>
                        </a:rPr>
                        <a:t>Traceability to the analysis model is not clear. However the scanner works.</a:t>
                      </a:r>
                      <a:endParaRPr lang="en-MX" sz="1000" dirty="0">
                        <a:effectLst/>
                        <a:latin typeface="Times New Roman" panose="02020603050405020304" pitchFamily="18" charset="0"/>
                        <a:ea typeface="Times New Roman" panose="02020603050405020304" pitchFamily="18" charset="0"/>
                      </a:endParaRPr>
                    </a:p>
                    <a:p>
                      <a:endParaRPr lang="en-MX" sz="1000" dirty="0">
                        <a:effectLst/>
                        <a:latin typeface="Times New Roman" panose="02020603050405020304" pitchFamily="18" charset="0"/>
                        <a:ea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a:effectLst/>
                        </a:rPr>
                        <a:t>NA</a:t>
                      </a:r>
                      <a:endParaRPr lang="en-MX" sz="1000">
                        <a:effectLst/>
                        <a:latin typeface="Times New Roman" panose="02020603050405020304" pitchFamily="18" charset="0"/>
                        <a:ea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a:effectLst/>
                        </a:rPr>
                        <a:t>NA</a:t>
                      </a:r>
                      <a:endParaRPr lang="en-MX" sz="1000">
                        <a:effectLst/>
                        <a:latin typeface="Times New Roman" panose="02020603050405020304" pitchFamily="18" charset="0"/>
                        <a:ea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a:effectLst/>
                        </a:rPr>
                        <a:t>Design is ambiguous, or inconsistent, or incomplete, or incorrect, or</a:t>
                      </a:r>
                      <a:endParaRPr lang="en-MX" sz="1000">
                        <a:effectLst/>
                      </a:endParaRPr>
                    </a:p>
                    <a:p>
                      <a:r>
                        <a:rPr lang="en-US" sz="1000">
                          <a:effectLst/>
                        </a:rPr>
                        <a:t>Software design was developed with API for RE, or the implementation does not use lex.</a:t>
                      </a:r>
                      <a:endParaRPr lang="en-MX" sz="1000">
                        <a:effectLst/>
                        <a:latin typeface="Times New Roman" panose="02020603050405020304" pitchFamily="18" charset="0"/>
                        <a:ea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a:effectLst/>
                        </a:rPr>
                        <a:t>20</a:t>
                      </a:r>
                      <a:endParaRPr lang="en-MX" sz="1000">
                        <a:effectLst/>
                        <a:latin typeface="Times New Roman" panose="02020603050405020304" pitchFamily="18" charset="0"/>
                        <a:ea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1121057"/>
                  </a:ext>
                </a:extLst>
              </a:tr>
              <a:tr h="1199669">
                <a:tc>
                  <a:txBody>
                    <a:bodyPr/>
                    <a:lstStyle/>
                    <a:p>
                      <a:r>
                        <a:rPr lang="en-MX" sz="1050" dirty="0">
                          <a:effectLst/>
                          <a:latin typeface="Times New Roman" panose="02020603050405020304" pitchFamily="18" charset="0"/>
                          <a:ea typeface="Times New Roman" panose="02020603050405020304" pitchFamily="18" charset="0"/>
                        </a:rPr>
                        <a:t>Implementation with lex.</a:t>
                      </a: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230400" lvl="0" indent="-230400">
                        <a:buFont typeface="+mj-lt"/>
                        <a:buAutoNum type="arabicPeriod"/>
                        <a:tabLst>
                          <a:tab pos="228600" algn="l"/>
                        </a:tabLst>
                      </a:pPr>
                      <a:r>
                        <a:rPr lang="en-US" sz="1000" dirty="0">
                          <a:effectLst/>
                        </a:rPr>
                        <a:t>Lex code is completely and correctly traceable to the analysis &amp; design provided.</a:t>
                      </a:r>
                    </a:p>
                    <a:p>
                      <a:pPr marL="230400" lvl="0" indent="-230400">
                        <a:buFont typeface="+mj-lt"/>
                        <a:buAutoNum type="arabicPeriod"/>
                        <a:tabLst>
                          <a:tab pos="228600" algn="l"/>
                        </a:tabLst>
                      </a:pPr>
                      <a:r>
                        <a:rPr lang="en-US" sz="1000" dirty="0">
                          <a:effectLst/>
                        </a:rPr>
                        <a:t>Every lex section is completely and correctly explained.</a:t>
                      </a:r>
                    </a:p>
                    <a:p>
                      <a:pPr marL="230400" lvl="0" indent="-230400">
                        <a:buFont typeface="+mj-lt"/>
                        <a:buAutoNum type="arabicPeriod"/>
                        <a:tabLst>
                          <a:tab pos="228600" algn="l"/>
                        </a:tabLst>
                      </a:pPr>
                      <a:r>
                        <a:rPr lang="en-US" sz="1000" dirty="0">
                          <a:effectLst/>
                        </a:rPr>
                        <a:t>This section contains a comprehensive, coherent and unambiguous narrative that relates all its contents. </a:t>
                      </a: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62900" lvl="0" indent="-162900">
                        <a:buFont typeface="+mj-lt"/>
                        <a:buAutoNum type="arabicPeriod"/>
                      </a:pPr>
                      <a:r>
                        <a:rPr lang="en-US" sz="1000" dirty="0">
                          <a:effectLst/>
                        </a:rPr>
                        <a:t>There are minor discrepancies with the specification of the requirements. However, the information provided is sound and it is traceable for the complete development process.</a:t>
                      </a:r>
                      <a:endParaRPr lang="en-MX" sz="1000" dirty="0">
                        <a:effectLst/>
                      </a:endParaRPr>
                    </a:p>
                    <a:p>
                      <a:pPr marL="162900" lvl="0" indent="-162900">
                        <a:buFont typeface="+mj-lt"/>
                        <a:buAutoNum type="arabicPeriod"/>
                      </a:pPr>
                      <a:r>
                        <a:rPr lang="en-US" sz="1000" dirty="0">
                          <a:effectLst/>
                        </a:rPr>
                        <a:t>The phase has a poor narrative.</a:t>
                      </a:r>
                      <a:endParaRPr lang="en-MX" sz="1000" dirty="0">
                        <a:effectLst/>
                        <a:latin typeface="Times" panose="02020603050405020304"/>
                        <a:ea typeface="Times New Roman" panose="02020603050405020304" pitchFamily="18" charset="0"/>
                        <a:cs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effectLst/>
                        </a:rPr>
                        <a:t>Traceability to the analysis model is not clear. However the scanner works.</a:t>
                      </a:r>
                      <a:endParaRPr lang="en-MX" sz="1000" dirty="0">
                        <a:effectLst/>
                        <a:latin typeface="Times New Roman" panose="02020603050405020304" pitchFamily="18" charset="0"/>
                        <a:ea typeface="Times New Roman" panose="02020603050405020304" pitchFamily="18" charset="0"/>
                      </a:endParaRPr>
                    </a:p>
                    <a:p>
                      <a:endParaRPr lang="en-MX" sz="1000" dirty="0">
                        <a:effectLst/>
                        <a:latin typeface="Times New Roman" panose="02020603050405020304" pitchFamily="18" charset="0"/>
                        <a:ea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MX" sz="1000">
                          <a:effectLst/>
                          <a:latin typeface="Times New Roman" panose="02020603050405020304" pitchFamily="18" charset="0"/>
                          <a:ea typeface="Times New Roman" panose="02020603050405020304" pitchFamily="18" charset="0"/>
                        </a:rPr>
                        <a:t>NA</a:t>
                      </a: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MX" sz="1000">
                          <a:effectLst/>
                          <a:latin typeface="Times New Roman" panose="02020603050405020304" pitchFamily="18" charset="0"/>
                          <a:ea typeface="Times New Roman" panose="02020603050405020304" pitchFamily="18" charset="0"/>
                        </a:rPr>
                        <a:t>NA</a:t>
                      </a: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effectLst/>
                        </a:rPr>
                        <a:t>Scanner does not work and the lex sections are not well developed and or explained; </a:t>
                      </a:r>
                      <a:r>
                        <a:rPr lang="en-US" sz="1000">
                          <a:effectLst/>
                        </a:rPr>
                        <a:t>or the implementation does not use lex</a:t>
                      </a:r>
                      <a:endParaRPr lang="en-MX" sz="1000" dirty="0">
                        <a:effectLst/>
                        <a:latin typeface="Times New Roman" panose="02020603050405020304" pitchFamily="18" charset="0"/>
                        <a:ea typeface="Times New Roman" panose="02020603050405020304" pitchFamily="18" charset="0"/>
                      </a:endParaRPr>
                    </a:p>
                    <a:p>
                      <a:endParaRPr lang="en-MX" sz="1000">
                        <a:effectLst/>
                        <a:latin typeface="Times New Roman" panose="02020603050405020304" pitchFamily="18" charset="0"/>
                        <a:ea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MX" sz="1000">
                          <a:effectLst/>
                          <a:latin typeface="Times New Roman" panose="02020603050405020304" pitchFamily="18" charset="0"/>
                          <a:ea typeface="Times New Roman" panose="02020603050405020304" pitchFamily="18" charset="0"/>
                        </a:rPr>
                        <a:t>40</a:t>
                      </a: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0680968"/>
                  </a:ext>
                </a:extLst>
              </a:tr>
              <a:tr h="419259">
                <a:tc>
                  <a:txBody>
                    <a:bodyPr/>
                    <a:lstStyle/>
                    <a:p>
                      <a:r>
                        <a:rPr lang="en-US" sz="1050" dirty="0">
                          <a:effectLst/>
                        </a:rPr>
                        <a:t>Testing</a:t>
                      </a:r>
                      <a:endParaRPr lang="en-MX" sz="1050" dirty="0">
                        <a:effectLst/>
                        <a:latin typeface="Times New Roman" panose="02020603050405020304" pitchFamily="18" charset="0"/>
                        <a:ea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230400" lvl="0" indent="-230400">
                        <a:buFont typeface="+mj-lt"/>
                        <a:buAutoNum type="arabicPeriod"/>
                        <a:tabLst>
                          <a:tab pos="228600" algn="l"/>
                        </a:tabLst>
                      </a:pPr>
                      <a:r>
                        <a:rPr lang="en-US" sz="1000">
                          <a:effectLst/>
                        </a:rPr>
                        <a:t>Informal description.</a:t>
                      </a:r>
                      <a:endParaRPr lang="en-MX" sz="1000">
                        <a:effectLst/>
                      </a:endParaRPr>
                    </a:p>
                    <a:p>
                      <a:pPr marL="230400" lvl="0" indent="-230400">
                        <a:buFont typeface="+mj-lt"/>
                        <a:buAutoNum type="arabicPeriod"/>
                        <a:tabLst>
                          <a:tab pos="228600" algn="l"/>
                        </a:tabLst>
                      </a:pPr>
                      <a:r>
                        <a:rPr lang="en-US" sz="1000">
                          <a:effectLst/>
                        </a:rPr>
                        <a:t>Software Test Cases design.</a:t>
                      </a:r>
                      <a:endParaRPr lang="en-MX" sz="1000">
                        <a:effectLst/>
                      </a:endParaRPr>
                    </a:p>
                    <a:p>
                      <a:pPr marL="230400" lvl="0" indent="-230400">
                        <a:buFont typeface="+mj-lt"/>
                        <a:buAutoNum type="arabicPeriod"/>
                        <a:tabLst>
                          <a:tab pos="228600" algn="l"/>
                        </a:tabLst>
                      </a:pPr>
                      <a:r>
                        <a:rPr lang="en-US" sz="1000">
                          <a:effectLst/>
                        </a:rPr>
                        <a:t>Justification.</a:t>
                      </a:r>
                      <a:endParaRPr lang="en-MX" sz="1000">
                        <a:effectLst/>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dirty="0">
                          <a:effectLst/>
                        </a:rPr>
                        <a:t>NA</a:t>
                      </a:r>
                      <a:endParaRPr lang="en-MX" sz="1000" dirty="0">
                        <a:effectLst/>
                        <a:latin typeface="Times New Roman" panose="02020603050405020304" pitchFamily="18" charset="0"/>
                        <a:ea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a:effectLst/>
                        </a:rPr>
                        <a:t>NA.</a:t>
                      </a:r>
                      <a:endParaRPr lang="en-MX" sz="1000">
                        <a:effectLst/>
                        <a:latin typeface="Times New Roman" panose="02020603050405020304" pitchFamily="18" charset="0"/>
                        <a:ea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a:effectLst/>
                        </a:rPr>
                        <a:t>NA</a:t>
                      </a:r>
                      <a:endParaRPr lang="en-MX" sz="1000">
                        <a:effectLst/>
                        <a:latin typeface="Times New Roman" panose="02020603050405020304" pitchFamily="18" charset="0"/>
                        <a:ea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a:effectLst/>
                        </a:rPr>
                        <a:t>NA</a:t>
                      </a:r>
                      <a:endParaRPr lang="en-MX" sz="1000">
                        <a:effectLst/>
                        <a:latin typeface="Times New Roman" panose="02020603050405020304" pitchFamily="18" charset="0"/>
                        <a:ea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a:effectLst/>
                        </a:rPr>
                        <a:t>The section does not exist.</a:t>
                      </a:r>
                      <a:endParaRPr lang="en-MX" sz="1000">
                        <a:effectLst/>
                        <a:latin typeface="Times New Roman" panose="02020603050405020304" pitchFamily="18" charset="0"/>
                        <a:ea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dirty="0">
                          <a:effectLst/>
                        </a:rPr>
                        <a:t>3</a:t>
                      </a:r>
                      <a:endParaRPr lang="en-MX" sz="1000" dirty="0">
                        <a:effectLst/>
                        <a:latin typeface="Times New Roman" panose="02020603050405020304" pitchFamily="18" charset="0"/>
                        <a:ea typeface="Times New Roman" panose="02020603050405020304" pitchFamily="18" charset="0"/>
                      </a:endParaRPr>
                    </a:p>
                  </a:txBody>
                  <a:tcPr marL="37328" marR="3732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89439931"/>
                  </a:ext>
                </a:extLst>
              </a:tr>
            </a:tbl>
          </a:graphicData>
        </a:graphic>
      </p:graphicFrame>
      <p:sp>
        <p:nvSpPr>
          <p:cNvPr id="6" name="Content Placeholder 2">
            <a:extLst>
              <a:ext uri="{FF2B5EF4-FFF2-40B4-BE49-F238E27FC236}">
                <a16:creationId xmlns:a16="http://schemas.microsoft.com/office/drawing/2014/main" id="{EB430D3B-CCAB-8FC7-AC6A-D24FD5123F26}"/>
              </a:ext>
            </a:extLst>
          </p:cNvPr>
          <p:cNvSpPr txBox="1">
            <a:spLocks/>
          </p:cNvSpPr>
          <p:nvPr/>
        </p:nvSpPr>
        <p:spPr>
          <a:xfrm>
            <a:off x="221415" y="6083643"/>
            <a:ext cx="6978455" cy="741830"/>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b="1" u="sng" dirty="0">
                <a:solidFill>
                  <a:srgbClr val="0000FF"/>
                </a:solidFill>
                <a:effectLst/>
                <a:latin typeface="Times New Roman" panose="02020603050405020304" pitchFamily="18" charset="0"/>
                <a:ea typeface="Times New Roman" panose="02020603050405020304" pitchFamily="18" charset="0"/>
              </a:rPr>
              <a:t>Important Remarks</a:t>
            </a:r>
            <a:endParaRPr lang="en-MX" sz="1200" dirty="0">
              <a:effectLst/>
              <a:latin typeface="Times New Roman" panose="02020603050405020304" pitchFamily="18" charset="0"/>
              <a:ea typeface="Times New Roman" panose="02020603050405020304" pitchFamily="18" charset="0"/>
            </a:endParaRPr>
          </a:p>
          <a:p>
            <a:pPr marL="234900" indent="-234900">
              <a:spcBef>
                <a:spcPts val="0"/>
              </a:spcBef>
              <a:buFont typeface="Symbol" pitchFamily="2" charset="2"/>
              <a:buChar char=""/>
              <a:tabLst>
                <a:tab pos="457200" algn="l"/>
              </a:tabLst>
            </a:pPr>
            <a:r>
              <a:rPr lang="en-US" sz="1200" b="1" dirty="0">
                <a:effectLst/>
                <a:latin typeface="Times New Roman" panose="02020603050405020304" pitchFamily="18" charset="0"/>
                <a:ea typeface="Times New Roman" panose="02020603050405020304" pitchFamily="18" charset="0"/>
              </a:rPr>
              <a:t>Everything MUST be completely justified.</a:t>
            </a:r>
          </a:p>
          <a:p>
            <a:pPr marL="234900" lvl="0" indent="-234900">
              <a:spcBef>
                <a:spcPts val="0"/>
              </a:spcBef>
              <a:buFont typeface="Symbol" pitchFamily="2" charset="2"/>
              <a:buChar char=""/>
              <a:tabLst>
                <a:tab pos="457200" algn="l"/>
              </a:tabLst>
            </a:pPr>
            <a:r>
              <a:rPr lang="en-US" sz="1200" b="1" dirty="0">
                <a:effectLst/>
                <a:latin typeface="Times New Roman" panose="02020603050405020304" pitchFamily="18" charset="0"/>
                <a:ea typeface="Times New Roman" panose="02020603050405020304" pitchFamily="18" charset="0"/>
              </a:rPr>
              <a:t>The above points are maximum margins. The 100 will obtained if and only if all the items are satisfied in an excellent manner accordingly to the professor criteria.</a:t>
            </a:r>
          </a:p>
        </p:txBody>
      </p:sp>
    </p:spTree>
    <p:extLst>
      <p:ext uri="{BB962C8B-B14F-4D97-AF65-F5344CB8AC3E}">
        <p14:creationId xmlns:p14="http://schemas.microsoft.com/office/powerpoint/2010/main" val="270123477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12893</TotalTime>
  <Words>4410</Words>
  <Application>Microsoft Macintosh PowerPoint</Application>
  <PresentationFormat>Letter Paper (8.5x11 in)</PresentationFormat>
  <Paragraphs>380</Paragraphs>
  <Slides>14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Arial</vt:lpstr>
      <vt:lpstr>Calibri</vt:lpstr>
      <vt:lpstr>Calibri Light</vt:lpstr>
      <vt:lpstr>Courier New</vt:lpstr>
      <vt:lpstr>Symbol</vt:lpstr>
      <vt:lpstr>System Font Regular</vt:lpstr>
      <vt:lpstr>Times</vt:lpstr>
      <vt:lpstr>Times New Roman</vt:lpstr>
      <vt:lpstr>Office Theme</vt:lpstr>
      <vt:lpstr>PowerPoint Presentation</vt:lpstr>
      <vt:lpstr>Compiler’s Project - Lexical Analysis Phase</vt:lpstr>
      <vt:lpstr>CHALLENGE’S ACADEMIC INTEGRITY (CHEATING)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Rodolfo Julio Castello Zetina</dc:creator>
  <cp:lastModifiedBy>Rodolfo Julio Castello Zetina</cp:lastModifiedBy>
  <cp:revision>41</cp:revision>
  <cp:lastPrinted>2026-04-12T23:29:41Z</cp:lastPrinted>
  <dcterms:created xsi:type="dcterms:W3CDTF">2023-03-06T21:52:36Z</dcterms:created>
  <dcterms:modified xsi:type="dcterms:W3CDTF">2026-04-13T19:07:49Z</dcterms:modified>
</cp:coreProperties>
</file>